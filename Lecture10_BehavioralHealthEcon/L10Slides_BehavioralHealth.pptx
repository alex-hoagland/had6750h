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notesMasterIdLst>
    <p:notesMasterId r:id="rId52"/>
  </p:notesMasterIdLst>
  <p:sldIdLst>
    <p:sldId id="256" r:id="rId2"/>
    <p:sldId id="357" r:id="rId3"/>
    <p:sldId id="493" r:id="rId4"/>
    <p:sldId id="476" r:id="rId5"/>
    <p:sldId id="487" r:id="rId6"/>
    <p:sldId id="494" r:id="rId7"/>
    <p:sldId id="491" r:id="rId8"/>
    <p:sldId id="261" r:id="rId9"/>
    <p:sldId id="495" r:id="rId10"/>
    <p:sldId id="496" r:id="rId11"/>
    <p:sldId id="259" r:id="rId12"/>
    <p:sldId id="490" r:id="rId13"/>
    <p:sldId id="488" r:id="rId14"/>
    <p:sldId id="498" r:id="rId15"/>
    <p:sldId id="497" r:id="rId16"/>
    <p:sldId id="486" r:id="rId17"/>
    <p:sldId id="499" r:id="rId18"/>
    <p:sldId id="500" r:id="rId19"/>
    <p:sldId id="501" r:id="rId20"/>
    <p:sldId id="502" r:id="rId21"/>
    <p:sldId id="503" r:id="rId22"/>
    <p:sldId id="518" r:id="rId23"/>
    <p:sldId id="517" r:id="rId24"/>
    <p:sldId id="505" r:id="rId25"/>
    <p:sldId id="504" r:id="rId26"/>
    <p:sldId id="506" r:id="rId27"/>
    <p:sldId id="519" r:id="rId28"/>
    <p:sldId id="508" r:id="rId29"/>
    <p:sldId id="509" r:id="rId30"/>
    <p:sldId id="520" r:id="rId31"/>
    <p:sldId id="341" r:id="rId32"/>
    <p:sldId id="510" r:id="rId33"/>
    <p:sldId id="511" r:id="rId34"/>
    <p:sldId id="512" r:id="rId35"/>
    <p:sldId id="513" r:id="rId36"/>
    <p:sldId id="514" r:id="rId37"/>
    <p:sldId id="515" r:id="rId38"/>
    <p:sldId id="516" r:id="rId39"/>
    <p:sldId id="414" r:id="rId40"/>
    <p:sldId id="522" r:id="rId41"/>
    <p:sldId id="523" r:id="rId42"/>
    <p:sldId id="524" r:id="rId43"/>
    <p:sldId id="525" r:id="rId44"/>
    <p:sldId id="526" r:id="rId45"/>
    <p:sldId id="527" r:id="rId46"/>
    <p:sldId id="528" r:id="rId47"/>
    <p:sldId id="529" r:id="rId48"/>
    <p:sldId id="530" r:id="rId49"/>
    <p:sldId id="531" r:id="rId50"/>
    <p:sldId id="521" r:id="rId51"/>
  </p:sldIdLst>
  <p:sldSz cx="12192000" cy="6858000"/>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81766" autoAdjust="0"/>
  </p:normalViewPr>
  <p:slideViewPr>
    <p:cSldViewPr>
      <p:cViewPr varScale="1">
        <p:scale>
          <a:sx n="90" d="100"/>
          <a:sy n="90" d="100"/>
        </p:scale>
        <p:origin x="1356" y="90"/>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338" y="0"/>
            <a:ext cx="3038475" cy="466725"/>
          </a:xfrm>
          <a:prstGeom prst="rect">
            <a:avLst/>
          </a:prstGeom>
        </p:spPr>
        <p:txBody>
          <a:bodyPr vert="horz" lIns="91440" tIns="45720" rIns="91440" bIns="45720" rtlCol="0"/>
          <a:lstStyle>
            <a:lvl1pPr algn="r">
              <a:defRPr sz="1200"/>
            </a:lvl1pPr>
          </a:lstStyle>
          <a:p>
            <a:fld id="{EF911157-0FC2-4F06-8D61-FD647FE4E19D}" type="datetimeFigureOut">
              <a:rPr lang="en-US" smtClean="0"/>
              <a:t>3/9/2026</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675" y="4473575"/>
            <a:ext cx="5607050" cy="36607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67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338" y="8829675"/>
            <a:ext cx="3038475" cy="466725"/>
          </a:xfrm>
          <a:prstGeom prst="rect">
            <a:avLst/>
          </a:prstGeom>
        </p:spPr>
        <p:txBody>
          <a:bodyPr vert="horz" lIns="91440" tIns="45720" rIns="91440" bIns="45720" rtlCol="0" anchor="b"/>
          <a:lstStyle>
            <a:lvl1pPr algn="r">
              <a:defRPr sz="1200"/>
            </a:lvl1pPr>
          </a:lstStyle>
          <a:p>
            <a:fld id="{4AF79E1B-2C51-4B9B-8EA4-26DE9E345AFF}" type="slidenum">
              <a:rPr lang="en-US" smtClean="0"/>
              <a:t>‹#›</a:t>
            </a:fld>
            <a:endParaRPr lang="en-US"/>
          </a:p>
        </p:txBody>
      </p:sp>
    </p:spTree>
    <p:extLst>
      <p:ext uri="{BB962C8B-B14F-4D97-AF65-F5344CB8AC3E}">
        <p14:creationId xmlns:p14="http://schemas.microsoft.com/office/powerpoint/2010/main" val="8367260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7550" y="1162050"/>
            <a:ext cx="5575300" cy="3136900"/>
          </a:xfrm>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dirty="0"/>
              <a:t>Today, two papers: one on healthcare and one on health behaviors. </a:t>
            </a:r>
          </a:p>
        </p:txBody>
      </p:sp>
      <p:sp>
        <p:nvSpPr>
          <p:cNvPr id="4" name="Slide Number Placeholder 3"/>
          <p:cNvSpPr>
            <a:spLocks noGrp="1"/>
          </p:cNvSpPr>
          <p:nvPr>
            <p:ph type="sldNum" sz="quarter" idx="5"/>
          </p:nvPr>
        </p:nvSpPr>
        <p:spPr/>
        <p:txBody>
          <a:bodyPr/>
          <a:lstStyle/>
          <a:p>
            <a:fld id="{4AF79E1B-2C51-4B9B-8EA4-26DE9E345AFF}" type="slidenum">
              <a:rPr lang="en-US" smtClean="0"/>
              <a:t>1</a:t>
            </a:fld>
            <a:endParaRPr lang="en-US"/>
          </a:p>
        </p:txBody>
      </p:sp>
    </p:spTree>
    <p:extLst>
      <p:ext uri="{BB962C8B-B14F-4D97-AF65-F5344CB8AC3E}">
        <p14:creationId xmlns:p14="http://schemas.microsoft.com/office/powerpoint/2010/main" val="36117099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2</a:t>
            </a:fld>
            <a:endParaRPr lang="en-US"/>
          </a:p>
        </p:txBody>
      </p:sp>
    </p:spTree>
    <p:extLst>
      <p:ext uri="{BB962C8B-B14F-4D97-AF65-F5344CB8AC3E}">
        <p14:creationId xmlns:p14="http://schemas.microsoft.com/office/powerpoint/2010/main" val="24991404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AER 2020: </a:t>
            </a:r>
          </a:p>
          <a:p>
            <a:pPr marL="171450" indent="-171450">
              <a:buFont typeface="Arial" panose="020B0604020202020204" pitchFamily="34" charset="0"/>
              <a:buChar char="•"/>
            </a:pPr>
            <a:r>
              <a:rPr lang="en-US" dirty="0"/>
              <a:t>How should we think about modeling of screening behaviors? </a:t>
            </a:r>
          </a:p>
          <a:p>
            <a:pPr marL="171450" indent="-171450">
              <a:buFont typeface="Arial" panose="020B0604020202020204" pitchFamily="34" charset="0"/>
              <a:buChar char="•"/>
            </a:pPr>
            <a:r>
              <a:rPr lang="en-US" dirty="0"/>
              <a:t>What kind of weird behaviors exist?</a:t>
            </a:r>
          </a:p>
          <a:p>
            <a:pPr marL="171450" indent="-171450">
              <a:buFont typeface="Arial" panose="020B0604020202020204" pitchFamily="34" charset="0"/>
              <a:buChar char="•"/>
            </a:pPr>
            <a:r>
              <a:rPr lang="en-US" dirty="0"/>
              <a:t>This paper: selection -- responders to the age 40 recommendation have less cancer than do women who self-select into screening at earlier ages. </a:t>
            </a:r>
          </a:p>
          <a:p>
            <a:pPr marL="171450" indent="-171450">
              <a:buFont typeface="Arial" panose="020B0604020202020204" pitchFamily="34" charset="0"/>
              <a:buChar char="•"/>
            </a:pPr>
            <a:r>
              <a:rPr lang="en-US" dirty="0"/>
              <a:t>Combining these patterns with a </a:t>
            </a:r>
            <a:r>
              <a:rPr lang="en-US" b="1" u="sng" dirty="0"/>
              <a:t>clinical oncology model </a:t>
            </a:r>
            <a:r>
              <a:rPr lang="en-US" dirty="0"/>
              <a:t>allows us to infer that responders to the age 40 recommendation also have less cancer than women who never screen,</a:t>
            </a:r>
          </a:p>
          <a:p>
            <a:pPr marL="171450" indent="-171450">
              <a:buFont typeface="Arial" panose="020B0604020202020204" pitchFamily="34" charset="0"/>
              <a:buChar char="•"/>
            </a:pPr>
            <a:r>
              <a:rPr lang="en-US" dirty="0"/>
              <a:t>What does this mean for policy? Shifting the recommendation from age 40 to age 45 results in over three times as many deaths if responders were randomly drawn from the population than under the estimated patterns of selection. </a:t>
            </a:r>
          </a:p>
        </p:txBody>
      </p:sp>
      <p:sp>
        <p:nvSpPr>
          <p:cNvPr id="4" name="Slide Number Placeholder 3"/>
          <p:cNvSpPr>
            <a:spLocks noGrp="1"/>
          </p:cNvSpPr>
          <p:nvPr>
            <p:ph type="sldNum" sz="quarter" idx="5"/>
          </p:nvPr>
        </p:nvSpPr>
        <p:spPr/>
        <p:txBody>
          <a:bodyPr/>
          <a:lstStyle/>
          <a:p>
            <a:fld id="{4AF79E1B-2C51-4B9B-8EA4-26DE9E345AFF}" type="slidenum">
              <a:rPr lang="en-US" smtClean="0"/>
              <a:t>3</a:t>
            </a:fld>
            <a:endParaRPr lang="en-US"/>
          </a:p>
        </p:txBody>
      </p:sp>
    </p:spTree>
    <p:extLst>
      <p:ext uri="{BB962C8B-B14F-4D97-AF65-F5344CB8AC3E}">
        <p14:creationId xmlns:p14="http://schemas.microsoft.com/office/powerpoint/2010/main" val="9656590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one is new and another area for low-hanging fruit – not sure we will spend much time on it today.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Classic behavioral example: https://www.instagram.com/reel/Cx_YvsWsBBO/?igshid=YzE4YTliZjNlMA==</a:t>
            </a:r>
          </a:p>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4</a:t>
            </a:fld>
            <a:endParaRPr lang="en-US"/>
          </a:p>
        </p:txBody>
      </p:sp>
    </p:spTree>
    <p:extLst>
      <p:ext uri="{BB962C8B-B14F-4D97-AF65-F5344CB8AC3E}">
        <p14:creationId xmlns:p14="http://schemas.microsoft.com/office/powerpoint/2010/main" val="886798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introduction</a:t>
            </a:r>
          </a:p>
        </p:txBody>
      </p:sp>
      <p:sp>
        <p:nvSpPr>
          <p:cNvPr id="4" name="Slide Number Placeholder 3"/>
          <p:cNvSpPr>
            <a:spLocks noGrp="1"/>
          </p:cNvSpPr>
          <p:nvPr>
            <p:ph type="sldNum" sz="quarter" idx="5"/>
          </p:nvPr>
        </p:nvSpPr>
        <p:spPr/>
        <p:txBody>
          <a:bodyPr/>
          <a:lstStyle/>
          <a:p>
            <a:fld id="{4AF79E1B-2C51-4B9B-8EA4-26DE9E345AFF}" type="slidenum">
              <a:rPr lang="en-US" smtClean="0"/>
              <a:t>5</a:t>
            </a:fld>
            <a:endParaRPr lang="en-US"/>
          </a:p>
        </p:txBody>
      </p:sp>
    </p:spTree>
    <p:extLst>
      <p:ext uri="{BB962C8B-B14F-4D97-AF65-F5344CB8AC3E}">
        <p14:creationId xmlns:p14="http://schemas.microsoft.com/office/powerpoint/2010/main" val="11049421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introduction</a:t>
            </a:r>
          </a:p>
        </p:txBody>
      </p:sp>
      <p:sp>
        <p:nvSpPr>
          <p:cNvPr id="4" name="Slide Number Placeholder 3"/>
          <p:cNvSpPr>
            <a:spLocks noGrp="1"/>
          </p:cNvSpPr>
          <p:nvPr>
            <p:ph type="sldNum" sz="quarter" idx="5"/>
          </p:nvPr>
        </p:nvSpPr>
        <p:spPr/>
        <p:txBody>
          <a:bodyPr/>
          <a:lstStyle/>
          <a:p>
            <a:fld id="{4AF79E1B-2C51-4B9B-8EA4-26DE9E345AFF}" type="slidenum">
              <a:rPr lang="en-US" smtClean="0"/>
              <a:t>6</a:t>
            </a:fld>
            <a:endParaRPr lang="en-US"/>
          </a:p>
        </p:txBody>
      </p:sp>
    </p:spTree>
    <p:extLst>
      <p:ext uri="{BB962C8B-B14F-4D97-AF65-F5344CB8AC3E}">
        <p14:creationId xmlns:p14="http://schemas.microsoft.com/office/powerpoint/2010/main" val="7679982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introduction</a:t>
            </a:r>
          </a:p>
        </p:txBody>
      </p:sp>
      <p:sp>
        <p:nvSpPr>
          <p:cNvPr id="4" name="Slide Number Placeholder 3"/>
          <p:cNvSpPr>
            <a:spLocks noGrp="1"/>
          </p:cNvSpPr>
          <p:nvPr>
            <p:ph type="sldNum" sz="quarter" idx="5"/>
          </p:nvPr>
        </p:nvSpPr>
        <p:spPr/>
        <p:txBody>
          <a:bodyPr/>
          <a:lstStyle/>
          <a:p>
            <a:fld id="{4AF79E1B-2C51-4B9B-8EA4-26DE9E345AFF}" type="slidenum">
              <a:rPr lang="en-US" smtClean="0"/>
              <a:t>7</a:t>
            </a:fld>
            <a:endParaRPr lang="en-US"/>
          </a:p>
        </p:txBody>
      </p:sp>
    </p:spTree>
    <p:extLst>
      <p:ext uri="{BB962C8B-B14F-4D97-AF65-F5344CB8AC3E}">
        <p14:creationId xmlns:p14="http://schemas.microsoft.com/office/powerpoint/2010/main" val="3393985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lots of examples: here’s one.</a:t>
            </a:r>
          </a:p>
        </p:txBody>
      </p:sp>
      <p:sp>
        <p:nvSpPr>
          <p:cNvPr id="4" name="Slide Number Placeholder 3"/>
          <p:cNvSpPr>
            <a:spLocks noGrp="1"/>
          </p:cNvSpPr>
          <p:nvPr>
            <p:ph type="sldNum" sz="quarter" idx="5"/>
          </p:nvPr>
        </p:nvSpPr>
        <p:spPr/>
        <p:txBody>
          <a:bodyPr/>
          <a:lstStyle/>
          <a:p>
            <a:fld id="{4AF79E1B-2C51-4B9B-8EA4-26DE9E345AFF}" type="slidenum">
              <a:rPr lang="en-US" smtClean="0"/>
              <a:t>8</a:t>
            </a:fld>
            <a:endParaRPr lang="en-US"/>
          </a:p>
        </p:txBody>
      </p:sp>
    </p:spTree>
    <p:extLst>
      <p:ext uri="{BB962C8B-B14F-4D97-AF65-F5344CB8AC3E}">
        <p14:creationId xmlns:p14="http://schemas.microsoft.com/office/powerpoint/2010/main" val="19991452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lots of examples: here’s one.</a:t>
            </a:r>
          </a:p>
        </p:txBody>
      </p:sp>
      <p:sp>
        <p:nvSpPr>
          <p:cNvPr id="4" name="Slide Number Placeholder 3"/>
          <p:cNvSpPr>
            <a:spLocks noGrp="1"/>
          </p:cNvSpPr>
          <p:nvPr>
            <p:ph type="sldNum" sz="quarter" idx="5"/>
          </p:nvPr>
        </p:nvSpPr>
        <p:spPr/>
        <p:txBody>
          <a:bodyPr/>
          <a:lstStyle/>
          <a:p>
            <a:fld id="{4AF79E1B-2C51-4B9B-8EA4-26DE9E345AFF}" type="slidenum">
              <a:rPr lang="en-US" smtClean="0"/>
              <a:t>9</a:t>
            </a:fld>
            <a:endParaRPr lang="en-US"/>
          </a:p>
        </p:txBody>
      </p:sp>
    </p:spTree>
    <p:extLst>
      <p:ext uri="{BB962C8B-B14F-4D97-AF65-F5344CB8AC3E}">
        <p14:creationId xmlns:p14="http://schemas.microsoft.com/office/powerpoint/2010/main" val="32212235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models don’t currently have a way to deal with framing. How can we do this? </a:t>
            </a:r>
          </a:p>
        </p:txBody>
      </p:sp>
      <p:sp>
        <p:nvSpPr>
          <p:cNvPr id="4" name="Slide Number Placeholder 3"/>
          <p:cNvSpPr>
            <a:spLocks noGrp="1"/>
          </p:cNvSpPr>
          <p:nvPr>
            <p:ph type="sldNum" sz="quarter" idx="5"/>
          </p:nvPr>
        </p:nvSpPr>
        <p:spPr/>
        <p:txBody>
          <a:bodyPr/>
          <a:lstStyle/>
          <a:p>
            <a:fld id="{4AF79E1B-2C51-4B9B-8EA4-26DE9E345AFF}" type="slidenum">
              <a:rPr lang="en-US" smtClean="0"/>
              <a:t>10</a:t>
            </a:fld>
            <a:endParaRPr lang="en-US"/>
          </a:p>
        </p:txBody>
      </p:sp>
    </p:spTree>
    <p:extLst>
      <p:ext uri="{BB962C8B-B14F-4D97-AF65-F5344CB8AC3E}">
        <p14:creationId xmlns:p14="http://schemas.microsoft.com/office/powerpoint/2010/main" val="12139650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introduction</a:t>
            </a:r>
          </a:p>
        </p:txBody>
      </p:sp>
      <p:sp>
        <p:nvSpPr>
          <p:cNvPr id="4" name="Slide Number Placeholder 3"/>
          <p:cNvSpPr>
            <a:spLocks noGrp="1"/>
          </p:cNvSpPr>
          <p:nvPr>
            <p:ph type="sldNum" sz="quarter" idx="5"/>
          </p:nvPr>
        </p:nvSpPr>
        <p:spPr/>
        <p:txBody>
          <a:bodyPr/>
          <a:lstStyle/>
          <a:p>
            <a:fld id="{4AF79E1B-2C51-4B9B-8EA4-26DE9E345AFF}" type="slidenum">
              <a:rPr lang="en-US" smtClean="0"/>
              <a:t>12</a:t>
            </a:fld>
            <a:endParaRPr lang="en-US"/>
          </a:p>
        </p:txBody>
      </p:sp>
    </p:spTree>
    <p:extLst>
      <p:ext uri="{BB962C8B-B14F-4D97-AF65-F5344CB8AC3E}">
        <p14:creationId xmlns:p14="http://schemas.microsoft.com/office/powerpoint/2010/main" val="36009154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introduction</a:t>
            </a:r>
          </a:p>
        </p:txBody>
      </p:sp>
      <p:sp>
        <p:nvSpPr>
          <p:cNvPr id="4" name="Slide Number Placeholder 3"/>
          <p:cNvSpPr>
            <a:spLocks noGrp="1"/>
          </p:cNvSpPr>
          <p:nvPr>
            <p:ph type="sldNum" sz="quarter" idx="5"/>
          </p:nvPr>
        </p:nvSpPr>
        <p:spPr/>
        <p:txBody>
          <a:bodyPr/>
          <a:lstStyle/>
          <a:p>
            <a:fld id="{4AF79E1B-2C51-4B9B-8EA4-26DE9E345AFF}" type="slidenum">
              <a:rPr lang="en-US" smtClean="0"/>
              <a:t>13</a:t>
            </a:fld>
            <a:endParaRPr lang="en-US"/>
          </a:p>
        </p:txBody>
      </p:sp>
    </p:spTree>
    <p:extLst>
      <p:ext uri="{BB962C8B-B14F-4D97-AF65-F5344CB8AC3E}">
        <p14:creationId xmlns:p14="http://schemas.microsoft.com/office/powerpoint/2010/main" val="2997623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introduction</a:t>
            </a:r>
          </a:p>
        </p:txBody>
      </p:sp>
      <p:sp>
        <p:nvSpPr>
          <p:cNvPr id="4" name="Slide Number Placeholder 3"/>
          <p:cNvSpPr>
            <a:spLocks noGrp="1"/>
          </p:cNvSpPr>
          <p:nvPr>
            <p:ph type="sldNum" sz="quarter" idx="5"/>
          </p:nvPr>
        </p:nvSpPr>
        <p:spPr/>
        <p:txBody>
          <a:bodyPr/>
          <a:lstStyle/>
          <a:p>
            <a:fld id="{4AF79E1B-2C51-4B9B-8EA4-26DE9E345AFF}" type="slidenum">
              <a:rPr lang="en-US" smtClean="0"/>
              <a:t>14</a:t>
            </a:fld>
            <a:endParaRPr lang="en-US"/>
          </a:p>
        </p:txBody>
      </p:sp>
    </p:spTree>
    <p:extLst>
      <p:ext uri="{BB962C8B-B14F-4D97-AF65-F5344CB8AC3E}">
        <p14:creationId xmlns:p14="http://schemas.microsoft.com/office/powerpoint/2010/main" val="20153894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15</a:t>
            </a:fld>
            <a:endParaRPr lang="en-US"/>
          </a:p>
        </p:txBody>
      </p:sp>
    </p:spTree>
    <p:extLst>
      <p:ext uri="{BB962C8B-B14F-4D97-AF65-F5344CB8AC3E}">
        <p14:creationId xmlns:p14="http://schemas.microsoft.com/office/powerpoint/2010/main" val="28463225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Goal – how to minimally enrich a model to incorporate behavioral biases (something to mention – does a behavioral bias explain why a mistake is a mistake, or why it is </a:t>
            </a:r>
            <a:r>
              <a:rPr lang="en-CA" i="1" dirty="0"/>
              <a:t>not </a:t>
            </a:r>
            <a:r>
              <a:rPr lang="en-CA" i="0" dirty="0"/>
              <a:t>a mistake? Do we want to be robots?). Setting: insurance choice (again)</a:t>
            </a:r>
            <a:endParaRPr lang="en-CA" dirty="0"/>
          </a:p>
        </p:txBody>
      </p:sp>
      <p:sp>
        <p:nvSpPr>
          <p:cNvPr id="4" name="Slide Number Placeholder 3"/>
          <p:cNvSpPr>
            <a:spLocks noGrp="1"/>
          </p:cNvSpPr>
          <p:nvPr>
            <p:ph type="sldNum" sz="quarter" idx="5"/>
          </p:nvPr>
        </p:nvSpPr>
        <p:spPr/>
        <p:txBody>
          <a:bodyPr/>
          <a:lstStyle/>
          <a:p>
            <a:fld id="{4AF79E1B-2C51-4B9B-8EA4-26DE9E345AFF}" type="slidenum">
              <a:rPr lang="en-US" smtClean="0"/>
              <a:t>16</a:t>
            </a:fld>
            <a:endParaRPr lang="en-US"/>
          </a:p>
        </p:txBody>
      </p:sp>
    </p:spTree>
    <p:extLst>
      <p:ext uri="{BB962C8B-B14F-4D97-AF65-F5344CB8AC3E}">
        <p14:creationId xmlns:p14="http://schemas.microsoft.com/office/powerpoint/2010/main" val="2203240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17</a:t>
            </a:fld>
            <a:endParaRPr lang="en-US"/>
          </a:p>
        </p:txBody>
      </p:sp>
    </p:spTree>
    <p:extLst>
      <p:ext uri="{BB962C8B-B14F-4D97-AF65-F5344CB8AC3E}">
        <p14:creationId xmlns:p14="http://schemas.microsoft.com/office/powerpoint/2010/main" val="22569074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18</a:t>
            </a:fld>
            <a:endParaRPr lang="en-US"/>
          </a:p>
        </p:txBody>
      </p:sp>
    </p:spTree>
    <p:extLst>
      <p:ext uri="{BB962C8B-B14F-4D97-AF65-F5344CB8AC3E}">
        <p14:creationId xmlns:p14="http://schemas.microsoft.com/office/powerpoint/2010/main" val="37726266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Handel and Kolstad (2015). You should enrich a model for two reasons: </a:t>
            </a:r>
          </a:p>
          <a:p>
            <a:pPr marL="171450" indent="-171450">
              <a:buFontTx/>
              <a:buChar char="-"/>
            </a:pPr>
            <a:r>
              <a:rPr lang="en-US" dirty="0"/>
              <a:t>To capture a *primary* mechanism or narrative</a:t>
            </a:r>
          </a:p>
          <a:p>
            <a:pPr marL="171450" indent="-171450">
              <a:buFontTx/>
              <a:buChar char="-"/>
            </a:pPr>
            <a:r>
              <a:rPr lang="en-US" dirty="0"/>
              <a:t>To enable estimation</a:t>
            </a:r>
          </a:p>
          <a:p>
            <a:pPr marL="171450" indent="-171450">
              <a:buFontTx/>
              <a:buChar char="-"/>
            </a:pPr>
            <a:r>
              <a:rPr lang="en-US" dirty="0"/>
              <a:t>Remember, no model is fully realistic! And this is a bit of an art, so read other papers.</a:t>
            </a:r>
          </a:p>
        </p:txBody>
      </p:sp>
      <p:sp>
        <p:nvSpPr>
          <p:cNvPr id="4" name="Slide Number Placeholder 3"/>
          <p:cNvSpPr>
            <a:spLocks noGrp="1"/>
          </p:cNvSpPr>
          <p:nvPr>
            <p:ph type="sldNum" sz="quarter" idx="5"/>
          </p:nvPr>
        </p:nvSpPr>
        <p:spPr/>
        <p:txBody>
          <a:bodyPr/>
          <a:lstStyle/>
          <a:p>
            <a:fld id="{4AF79E1B-2C51-4B9B-8EA4-26DE9E345AFF}" type="slidenum">
              <a:rPr lang="en-US" smtClean="0"/>
              <a:t>19</a:t>
            </a:fld>
            <a:endParaRPr lang="en-US"/>
          </a:p>
        </p:txBody>
      </p:sp>
    </p:spTree>
    <p:extLst>
      <p:ext uri="{BB962C8B-B14F-4D97-AF65-F5344CB8AC3E}">
        <p14:creationId xmlns:p14="http://schemas.microsoft.com/office/powerpoint/2010/main" val="7653728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the plan in choice set that maximizes U</a:t>
            </a:r>
          </a:p>
        </p:txBody>
      </p:sp>
      <p:sp>
        <p:nvSpPr>
          <p:cNvPr id="4" name="Slide Number Placeholder 3"/>
          <p:cNvSpPr>
            <a:spLocks noGrp="1"/>
          </p:cNvSpPr>
          <p:nvPr>
            <p:ph type="sldNum" sz="quarter" idx="5"/>
          </p:nvPr>
        </p:nvSpPr>
        <p:spPr/>
        <p:txBody>
          <a:bodyPr/>
          <a:lstStyle/>
          <a:p>
            <a:fld id="{4AF79E1B-2C51-4B9B-8EA4-26DE9E345AFF}" type="slidenum">
              <a:rPr lang="en-US" smtClean="0"/>
              <a:t>20</a:t>
            </a:fld>
            <a:endParaRPr lang="en-US"/>
          </a:p>
        </p:txBody>
      </p:sp>
    </p:spTree>
    <p:extLst>
      <p:ext uri="{BB962C8B-B14F-4D97-AF65-F5344CB8AC3E}">
        <p14:creationId xmlns:p14="http://schemas.microsoft.com/office/powerpoint/2010/main" val="40844114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we don’t change f – why not? Is this a good idea? – this is not easily estimable, and may be second order?</a:t>
            </a:r>
          </a:p>
          <a:p>
            <a:r>
              <a:rPr lang="en-US" dirty="0"/>
              <a:t>What other stories might you think of besides information processing? </a:t>
            </a:r>
          </a:p>
        </p:txBody>
      </p:sp>
      <p:sp>
        <p:nvSpPr>
          <p:cNvPr id="4" name="Slide Number Placeholder 3"/>
          <p:cNvSpPr>
            <a:spLocks noGrp="1"/>
          </p:cNvSpPr>
          <p:nvPr>
            <p:ph type="sldNum" sz="quarter" idx="5"/>
          </p:nvPr>
        </p:nvSpPr>
        <p:spPr/>
        <p:txBody>
          <a:bodyPr/>
          <a:lstStyle/>
          <a:p>
            <a:fld id="{4AF79E1B-2C51-4B9B-8EA4-26DE9E345AFF}" type="slidenum">
              <a:rPr lang="en-US" smtClean="0"/>
              <a:t>21</a:t>
            </a:fld>
            <a:endParaRPr lang="en-US"/>
          </a:p>
        </p:txBody>
      </p:sp>
    </p:spTree>
    <p:extLst>
      <p:ext uri="{BB962C8B-B14F-4D97-AF65-F5344CB8AC3E}">
        <p14:creationId xmlns:p14="http://schemas.microsoft.com/office/powerpoint/2010/main" val="11538288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Setting: </a:t>
            </a:r>
          </a:p>
          <a:p>
            <a:pPr marL="171450" indent="-171450">
              <a:buFont typeface="Arial" panose="020B0604020202020204" pitchFamily="34" charset="0"/>
              <a:buChar char="•"/>
            </a:pPr>
            <a:r>
              <a:rPr lang="en-US" dirty="0"/>
              <a:t>employees at the firm choose between two primary health insurance options a PPO option with generous first dollar coverage and a high-deductible health plan (HDHP) with a linked health savings account (HSA).</a:t>
            </a:r>
          </a:p>
          <a:p>
            <a:pPr marL="171450" indent="-171450">
              <a:buFont typeface="Arial" panose="020B0604020202020204" pitchFamily="34" charset="0"/>
              <a:buChar char="•"/>
            </a:pPr>
            <a:r>
              <a:rPr lang="en-US" dirty="0"/>
              <a:t>2009-2012 (HDHP introduced in 2009, PPO existed long before that)</a:t>
            </a:r>
          </a:p>
          <a:p>
            <a:pPr marL="171450" indent="-171450">
              <a:buFont typeface="Arial" panose="020B0604020202020204" pitchFamily="34" charset="0"/>
              <a:buChar char="•"/>
            </a:pPr>
            <a:r>
              <a:rPr lang="en-US" dirty="0"/>
              <a:t>The PPO plan charges no up front premium while the HDHP provides an up-front subsidy equal to $1500 for an individual, $3000 for a couple and $3750 for a family. This subsidy should be interpreted as the primary premium for the PPO relative to the HDHP. The HDHP subsidy is deposited into the health savings account (HSA) linked to that plan and, thus, can be used for medical expenditures on a pre-tax basis in both the short-run and the long-run.</a:t>
            </a:r>
          </a:p>
          <a:p>
            <a:r>
              <a:rPr lang="en-US" dirty="0"/>
              <a:t>Figure 1 depicts the financial returns to selecting the HDHP option relative to the PPO option for an employee in the family tier. Initial slope is 1 with the deductible, then the coinsurance rate, then 0. What should rational consumers choose?</a:t>
            </a:r>
          </a:p>
          <a:p>
            <a:pPr marL="171450" indent="-171450">
              <a:buFont typeface="Arial" panose="020B0604020202020204" pitchFamily="34" charset="0"/>
              <a:buChar char="•"/>
            </a:pPr>
            <a:r>
              <a:rPr lang="en-US" dirty="0"/>
              <a:t>Authors estimate between 35-60 % of employees should choose HDHP</a:t>
            </a:r>
          </a:p>
          <a:p>
            <a:pPr marL="171450" indent="-171450">
              <a:buFont typeface="Arial" panose="020B0604020202020204" pitchFamily="34" charset="0"/>
              <a:buChar char="•"/>
            </a:pPr>
            <a:r>
              <a:rPr lang="en-US" dirty="0"/>
              <a:t>Observed 11%</a:t>
            </a:r>
          </a:p>
        </p:txBody>
      </p:sp>
      <p:sp>
        <p:nvSpPr>
          <p:cNvPr id="4" name="Slide Number Placeholder 3"/>
          <p:cNvSpPr>
            <a:spLocks noGrp="1"/>
          </p:cNvSpPr>
          <p:nvPr>
            <p:ph type="sldNum" sz="quarter" idx="5"/>
          </p:nvPr>
        </p:nvSpPr>
        <p:spPr/>
        <p:txBody>
          <a:bodyPr/>
          <a:lstStyle/>
          <a:p>
            <a:fld id="{4AF79E1B-2C51-4B9B-8EA4-26DE9E345AFF}" type="slidenum">
              <a:rPr lang="en-US" smtClean="0"/>
              <a:t>22</a:t>
            </a:fld>
            <a:endParaRPr lang="en-US"/>
          </a:p>
        </p:txBody>
      </p:sp>
    </p:spTree>
    <p:extLst>
      <p:ext uri="{BB962C8B-B14F-4D97-AF65-F5344CB8AC3E}">
        <p14:creationId xmlns:p14="http://schemas.microsoft.com/office/powerpoint/2010/main" val="41840855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Nice survey section – good descriptive evidence. </a:t>
            </a:r>
          </a:p>
        </p:txBody>
      </p:sp>
      <p:sp>
        <p:nvSpPr>
          <p:cNvPr id="4" name="Slide Number Placeholder 3"/>
          <p:cNvSpPr>
            <a:spLocks noGrp="1"/>
          </p:cNvSpPr>
          <p:nvPr>
            <p:ph type="sldNum" sz="quarter" idx="5"/>
          </p:nvPr>
        </p:nvSpPr>
        <p:spPr/>
        <p:txBody>
          <a:bodyPr/>
          <a:lstStyle/>
          <a:p>
            <a:fld id="{4AF79E1B-2C51-4B9B-8EA4-26DE9E345AFF}" type="slidenum">
              <a:rPr lang="en-US" smtClean="0"/>
              <a:t>23</a:t>
            </a:fld>
            <a:endParaRPr lang="en-US"/>
          </a:p>
        </p:txBody>
      </p:sp>
    </p:spTree>
    <p:extLst>
      <p:ext uri="{BB962C8B-B14F-4D97-AF65-F5344CB8AC3E}">
        <p14:creationId xmlns:p14="http://schemas.microsoft.com/office/powerpoint/2010/main" val="37923148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how we minimally enrich</a:t>
            </a:r>
          </a:p>
        </p:txBody>
      </p:sp>
      <p:sp>
        <p:nvSpPr>
          <p:cNvPr id="4" name="Slide Number Placeholder 3"/>
          <p:cNvSpPr>
            <a:spLocks noGrp="1"/>
          </p:cNvSpPr>
          <p:nvPr>
            <p:ph type="sldNum" sz="quarter" idx="5"/>
          </p:nvPr>
        </p:nvSpPr>
        <p:spPr/>
        <p:txBody>
          <a:bodyPr/>
          <a:lstStyle/>
          <a:p>
            <a:fld id="{4AF79E1B-2C51-4B9B-8EA4-26DE9E345AFF}" type="slidenum">
              <a:rPr lang="en-US" smtClean="0"/>
              <a:t>24</a:t>
            </a:fld>
            <a:endParaRPr lang="en-US"/>
          </a:p>
        </p:txBody>
      </p:sp>
    </p:spTree>
    <p:extLst>
      <p:ext uri="{BB962C8B-B14F-4D97-AF65-F5344CB8AC3E}">
        <p14:creationId xmlns:p14="http://schemas.microsoft.com/office/powerpoint/2010/main" val="37375314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this happens after running a survey – Handel (2013) is the switching cost, Handel &amp; Kolstad (2015) is the HDHP dummy. </a:t>
            </a:r>
          </a:p>
          <a:p>
            <a:pPr marL="171450" indent="-171450">
              <a:buFont typeface="Arial" panose="020B0604020202020204" pitchFamily="34" charset="0"/>
              <a:buChar char="•"/>
            </a:pPr>
            <a:r>
              <a:rPr lang="en-US" dirty="0"/>
              <a:t>We include these variables as observable measures of consumer information and perceived hassle costs that imply shifts in value for the HDHP relative to the PPO. </a:t>
            </a:r>
          </a:p>
          <a:p>
            <a:pPr marL="171450" indent="-171450">
              <a:buFont typeface="Arial" panose="020B0604020202020204" pitchFamily="34" charset="0"/>
              <a:buChar char="•"/>
            </a:pPr>
            <a:r>
              <a:rPr lang="en-US" dirty="0"/>
              <a:t>For each friction, one category (corresponding to ‘no friction’, e.g., ‘informed’) is excluded so that the value shift for the HDHP plan is relative to a frictionless consumer for the measure in question. </a:t>
            </a:r>
          </a:p>
          <a:p>
            <a:pPr marL="171450" indent="-171450">
              <a:buFont typeface="Arial" panose="020B0604020202020204" pitchFamily="34" charset="0"/>
              <a:buChar char="•"/>
            </a:pPr>
            <a:r>
              <a:rPr lang="en-US" dirty="0"/>
              <a:t>Specifically, each included friction variable, denoted </a:t>
            </a:r>
            <a:r>
              <a:rPr lang="en-US" dirty="0" err="1"/>
              <a:t>Zf</a:t>
            </a:r>
            <a:r>
              <a:rPr lang="en-US" dirty="0"/>
              <a:t> from vector Z, shifts the money at stake for each plan, </a:t>
            </a:r>
            <a:r>
              <a:rPr lang="en-US" dirty="0" err="1"/>
              <a:t>xj</a:t>
            </a:r>
            <a:r>
              <a:rPr lang="en-US" dirty="0"/>
              <a:t> , by an amount β</a:t>
            </a:r>
            <a:r>
              <a:rPr lang="en-US" dirty="0" err="1"/>
              <a:t>fZf</a:t>
            </a:r>
            <a:r>
              <a:rPr lang="en-US" dirty="0"/>
              <a:t> that is assumed constant across all potential health state realizations s from Fj (·):</a:t>
            </a:r>
          </a:p>
        </p:txBody>
      </p:sp>
      <p:sp>
        <p:nvSpPr>
          <p:cNvPr id="4" name="Slide Number Placeholder 3"/>
          <p:cNvSpPr>
            <a:spLocks noGrp="1"/>
          </p:cNvSpPr>
          <p:nvPr>
            <p:ph type="sldNum" sz="quarter" idx="5"/>
          </p:nvPr>
        </p:nvSpPr>
        <p:spPr/>
        <p:txBody>
          <a:bodyPr/>
          <a:lstStyle/>
          <a:p>
            <a:fld id="{4AF79E1B-2C51-4B9B-8EA4-26DE9E345AFF}" type="slidenum">
              <a:rPr lang="en-US" smtClean="0"/>
              <a:t>25</a:t>
            </a:fld>
            <a:endParaRPr lang="en-US"/>
          </a:p>
        </p:txBody>
      </p:sp>
    </p:spTree>
    <p:extLst>
      <p:ext uri="{BB962C8B-B14F-4D97-AF65-F5344CB8AC3E}">
        <p14:creationId xmlns:p14="http://schemas.microsoft.com/office/powerpoint/2010/main" val="15091186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this happens after running a survey – Handel (2013) is the switching cost, Handel &amp; Kolstad (2015) is the HDHP dummy</a:t>
            </a:r>
          </a:p>
        </p:txBody>
      </p:sp>
      <p:sp>
        <p:nvSpPr>
          <p:cNvPr id="4" name="Slide Number Placeholder 3"/>
          <p:cNvSpPr>
            <a:spLocks noGrp="1"/>
          </p:cNvSpPr>
          <p:nvPr>
            <p:ph type="sldNum" sz="quarter" idx="5"/>
          </p:nvPr>
        </p:nvSpPr>
        <p:spPr/>
        <p:txBody>
          <a:bodyPr/>
          <a:lstStyle/>
          <a:p>
            <a:fld id="{4AF79E1B-2C51-4B9B-8EA4-26DE9E345AFF}" type="slidenum">
              <a:rPr lang="en-US" smtClean="0"/>
              <a:t>26</a:t>
            </a:fld>
            <a:endParaRPr lang="en-US"/>
          </a:p>
        </p:txBody>
      </p:sp>
    </p:spTree>
    <p:extLst>
      <p:ext uri="{BB962C8B-B14F-4D97-AF65-F5344CB8AC3E}">
        <p14:creationId xmlns:p14="http://schemas.microsoft.com/office/powerpoint/2010/main" val="22290229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Violations and impact: </a:t>
                </a:r>
              </a:p>
              <a:p>
                <a:pPr marL="228600" indent="-228600">
                  <a:buAutoNum type="arabicPeriod"/>
                </a:pPr>
                <a:r>
                  <a:rPr lang="en-US" dirty="0"/>
                  <a:t>If consumers that are more risk averse give more effort to acquire information, γ will be positively correlated with better information (If this assumption is violated, the risk aversion parameters for fully informed consumers will be appropriately identified, but they will be biased for consumers with frictions and that bias will be captured in the parameters β)</a:t>
                </a:r>
              </a:p>
              <a:p>
                <a:pPr marL="228600" indent="-228600">
                  <a:buAutoNum type="arabicPeriod"/>
                </a:pPr>
                <a:r>
                  <a:rPr lang="en-US" sz="1200" dirty="0"/>
                  <a:t>someone who believes the PPO plan grants access to more providers believes that lack of access in the HDHP will decrease utility specifically in states where he has a bad health shock (so should be captured in </a:t>
                </a:r>
                <a14:m>
                  <m:oMath xmlns:m="http://schemas.openxmlformats.org/officeDocument/2006/math">
                    <m:r>
                      <a:rPr lang="en-CA" sz="1200" b="0" i="1" smtClean="0">
                        <a:latin typeface="Cambria Math" panose="02040503050406030204" pitchFamily="18" charset="0"/>
                      </a:rPr>
                      <m:t>𝛽</m:t>
                    </m:r>
                    <m:r>
                      <a:rPr lang="en-CA" sz="1200" b="0" i="1" smtClean="0">
                        <a:latin typeface="Cambria Math" panose="02040503050406030204" pitchFamily="18" charset="0"/>
                      </a:rPr>
                      <m:t>)</m:t>
                    </m:r>
                  </m:oMath>
                </a14:m>
                <a:endParaRPr lang="en-US" dirty="0"/>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Why are they ignoring this one? Seems important. (</a:t>
                </a:r>
                <a:r>
                  <a:rPr lang="en-US" sz="1200" dirty="0"/>
                  <a:t>While prior work (e.g., Cohen and </a:t>
                </a:r>
                <a:r>
                  <a:rPr lang="en-US" sz="1200" dirty="0" err="1"/>
                  <a:t>Einav</a:t>
                </a:r>
                <a:r>
                  <a:rPr lang="en-US" sz="1200" dirty="0"/>
                  <a:t> (2007) and </a:t>
                </a:r>
                <a:r>
                  <a:rPr lang="en-US" sz="1200" dirty="0" err="1"/>
                  <a:t>Einav</a:t>
                </a:r>
                <a:r>
                  <a:rPr lang="en-US" sz="1200" dirty="0"/>
                  <a:t> et al. (2013)) has illustrated this can be important, especially when thinking about questions related to adverse selection, our primary objective is to estimate shifts in the level of risk preferences when additional frictions are incorporated)</a:t>
                </a:r>
                <a:endParaRPr lang="en-US" sz="1200" dirty="0">
                  <a:cs typeface="Times New Roman" panose="02020603050405020304" pitchFamily="18" charset="0"/>
                </a:endParaRPr>
              </a:p>
            </p:txBody>
          </p:sp>
        </mc:Choice>
        <mc:Fallback xmlns="">
          <p:sp>
            <p:nvSpPr>
              <p:cNvPr id="3" name="Notes Placeholder 2"/>
              <p:cNvSpPr>
                <a:spLocks noGrp="1"/>
              </p:cNvSpPr>
              <p:nvPr>
                <p:ph type="body" idx="1"/>
              </p:nvPr>
            </p:nvSpPr>
            <p:spPr/>
            <p:txBody>
              <a:bodyPr/>
              <a:lstStyle/>
              <a:p>
                <a:r>
                  <a:rPr lang="en-US" dirty="0"/>
                  <a:t>Violations and impact: </a:t>
                </a:r>
              </a:p>
              <a:p>
                <a:pPr marL="228600" indent="-228600">
                  <a:buAutoNum type="arabicPeriod"/>
                </a:pPr>
                <a:r>
                  <a:rPr lang="en-US" dirty="0"/>
                  <a:t>If consumers that are more risk averse give more effort to acquire information, γ will be positively correlated with better information (If this assumption is violated, the risk aversion parameters for fully informed consumers will be appropriately identified, but they will be biased for consumers with frictions and that bias will be captured in the parameters β)</a:t>
                </a:r>
              </a:p>
              <a:p>
                <a:pPr marL="228600" indent="-228600">
                  <a:buAutoNum type="arabicPeriod"/>
                </a:pPr>
                <a:r>
                  <a:rPr lang="en-US" sz="1200" dirty="0"/>
                  <a:t>someone who believes the PPO plan grants access to more providers believes that lack of access in the HDHP will decrease utility specifically in states where he has a bad health shock (so should be captured in </a:t>
                </a:r>
                <a:r>
                  <a:rPr lang="en-CA" sz="1200" b="0" i="0">
                    <a:latin typeface="Cambria Math" panose="02040503050406030204" pitchFamily="18" charset="0"/>
                  </a:rPr>
                  <a:t>𝛽)</a:t>
                </a:r>
                <a:endParaRPr lang="en-US" dirty="0"/>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Why are they ignoring this one? Seems important. (</a:t>
                </a:r>
                <a:r>
                  <a:rPr lang="en-US" sz="1200" dirty="0"/>
                  <a:t>While prior work (e.g., Cohen and </a:t>
                </a:r>
                <a:r>
                  <a:rPr lang="en-US" sz="1200" dirty="0" err="1"/>
                  <a:t>Einav</a:t>
                </a:r>
                <a:r>
                  <a:rPr lang="en-US" sz="1200" dirty="0"/>
                  <a:t> (2007) and </a:t>
                </a:r>
                <a:r>
                  <a:rPr lang="en-US" sz="1200" dirty="0" err="1"/>
                  <a:t>Einav</a:t>
                </a:r>
                <a:r>
                  <a:rPr lang="en-US" sz="1200" dirty="0"/>
                  <a:t> et al. (2013)) has illustrated this can be important, especially when thinking about questions related to adverse selection, our primary objective is to estimate shifts in the level of risk preferences when additional frictions are incorporated)</a:t>
                </a:r>
                <a:endParaRPr lang="en-US" sz="1200" dirty="0">
                  <a:cs typeface="Times New Roman" panose="02020603050405020304" pitchFamily="18" charset="0"/>
                </a:endParaRPr>
              </a:p>
            </p:txBody>
          </p:sp>
        </mc:Fallback>
      </mc:AlternateContent>
      <p:sp>
        <p:nvSpPr>
          <p:cNvPr id="4" name="Slide Number Placeholder 3"/>
          <p:cNvSpPr>
            <a:spLocks noGrp="1"/>
          </p:cNvSpPr>
          <p:nvPr>
            <p:ph type="sldNum" sz="quarter" idx="5"/>
          </p:nvPr>
        </p:nvSpPr>
        <p:spPr/>
        <p:txBody>
          <a:bodyPr/>
          <a:lstStyle/>
          <a:p>
            <a:fld id="{4AF79E1B-2C51-4B9B-8EA4-26DE9E345AFF}" type="slidenum">
              <a:rPr lang="en-US" smtClean="0"/>
              <a:t>27</a:t>
            </a:fld>
            <a:endParaRPr lang="en-US"/>
          </a:p>
        </p:txBody>
      </p:sp>
    </p:spTree>
    <p:extLst>
      <p:ext uri="{BB962C8B-B14F-4D97-AF65-F5344CB8AC3E}">
        <p14:creationId xmlns:p14="http://schemas.microsoft.com/office/powerpoint/2010/main" val="297658433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we feel about this ethically? Does the framing matter? </a:t>
            </a:r>
          </a:p>
        </p:txBody>
      </p:sp>
      <p:sp>
        <p:nvSpPr>
          <p:cNvPr id="4" name="Slide Number Placeholder 3"/>
          <p:cNvSpPr>
            <a:spLocks noGrp="1"/>
          </p:cNvSpPr>
          <p:nvPr>
            <p:ph type="sldNum" sz="quarter" idx="5"/>
          </p:nvPr>
        </p:nvSpPr>
        <p:spPr/>
        <p:txBody>
          <a:bodyPr/>
          <a:lstStyle/>
          <a:p>
            <a:fld id="{4AF79E1B-2C51-4B9B-8EA4-26DE9E345AFF}" type="slidenum">
              <a:rPr lang="en-US" smtClean="0"/>
              <a:t>28</a:t>
            </a:fld>
            <a:endParaRPr lang="en-US"/>
          </a:p>
        </p:txBody>
      </p:sp>
    </p:spTree>
    <p:extLst>
      <p:ext uri="{BB962C8B-B14F-4D97-AF65-F5344CB8AC3E}">
        <p14:creationId xmlns:p14="http://schemas.microsoft.com/office/powerpoint/2010/main" val="364316012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 you take away from this figure? How did it change your reading of the paper? (Is it the right counterfactual?)</a:t>
            </a:r>
          </a:p>
        </p:txBody>
      </p:sp>
      <p:sp>
        <p:nvSpPr>
          <p:cNvPr id="4" name="Slide Number Placeholder 3"/>
          <p:cNvSpPr>
            <a:spLocks noGrp="1"/>
          </p:cNvSpPr>
          <p:nvPr>
            <p:ph type="sldNum" sz="quarter" idx="5"/>
          </p:nvPr>
        </p:nvSpPr>
        <p:spPr/>
        <p:txBody>
          <a:bodyPr/>
          <a:lstStyle/>
          <a:p>
            <a:fld id="{4AF79E1B-2C51-4B9B-8EA4-26DE9E345AFF}" type="slidenum">
              <a:rPr lang="en-US" smtClean="0"/>
              <a:t>29</a:t>
            </a:fld>
            <a:endParaRPr lang="en-US"/>
          </a:p>
        </p:txBody>
      </p:sp>
    </p:spTree>
    <p:extLst>
      <p:ext uri="{BB962C8B-B14F-4D97-AF65-F5344CB8AC3E}">
        <p14:creationId xmlns:p14="http://schemas.microsoft.com/office/powerpoint/2010/main" val="194669504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 you take away from this figure? How did it change your reading of the paper? (Is it the right counterfactual?)</a:t>
            </a:r>
          </a:p>
        </p:txBody>
      </p:sp>
      <p:sp>
        <p:nvSpPr>
          <p:cNvPr id="4" name="Slide Number Placeholder 3"/>
          <p:cNvSpPr>
            <a:spLocks noGrp="1"/>
          </p:cNvSpPr>
          <p:nvPr>
            <p:ph type="sldNum" sz="quarter" idx="5"/>
          </p:nvPr>
        </p:nvSpPr>
        <p:spPr/>
        <p:txBody>
          <a:bodyPr/>
          <a:lstStyle/>
          <a:p>
            <a:fld id="{4AF79E1B-2C51-4B9B-8EA4-26DE9E345AFF}" type="slidenum">
              <a:rPr lang="en-US" smtClean="0"/>
              <a:t>30</a:t>
            </a:fld>
            <a:endParaRPr lang="en-US"/>
          </a:p>
        </p:txBody>
      </p:sp>
    </p:spTree>
    <p:extLst>
      <p:ext uri="{BB962C8B-B14F-4D97-AF65-F5344CB8AC3E}">
        <p14:creationId xmlns:p14="http://schemas.microsoft.com/office/powerpoint/2010/main" val="341017315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Now we’ll switch to thinking about patient choices!</a:t>
            </a:r>
          </a:p>
        </p:txBody>
      </p:sp>
      <p:sp>
        <p:nvSpPr>
          <p:cNvPr id="4" name="Slide Number Placeholder 3"/>
          <p:cNvSpPr>
            <a:spLocks noGrp="1"/>
          </p:cNvSpPr>
          <p:nvPr>
            <p:ph type="sldNum" sz="quarter" idx="5"/>
          </p:nvPr>
        </p:nvSpPr>
        <p:spPr/>
        <p:txBody>
          <a:bodyPr/>
          <a:lstStyle/>
          <a:p>
            <a:fld id="{4AF79E1B-2C51-4B9B-8EA4-26DE9E345AFF}" type="slidenum">
              <a:rPr lang="en-US" smtClean="0"/>
              <a:t>31</a:t>
            </a:fld>
            <a:endParaRPr lang="en-US"/>
          </a:p>
        </p:txBody>
      </p:sp>
    </p:spTree>
    <p:extLst>
      <p:ext uri="{BB962C8B-B14F-4D97-AF65-F5344CB8AC3E}">
        <p14:creationId xmlns:p14="http://schemas.microsoft.com/office/powerpoint/2010/main" val="152794651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32</a:t>
            </a:fld>
            <a:endParaRPr lang="en-US"/>
          </a:p>
        </p:txBody>
      </p:sp>
    </p:spTree>
    <p:extLst>
      <p:ext uri="{BB962C8B-B14F-4D97-AF65-F5344CB8AC3E}">
        <p14:creationId xmlns:p14="http://schemas.microsoft.com/office/powerpoint/2010/main" val="168336796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33</a:t>
            </a:fld>
            <a:endParaRPr lang="en-US"/>
          </a:p>
        </p:txBody>
      </p:sp>
    </p:spTree>
    <p:extLst>
      <p:ext uri="{BB962C8B-B14F-4D97-AF65-F5344CB8AC3E}">
        <p14:creationId xmlns:p14="http://schemas.microsoft.com/office/powerpoint/2010/main" val="337894944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about negative as non-adherence and positive as low-value care consumption </a:t>
            </a:r>
          </a:p>
        </p:txBody>
      </p:sp>
      <p:sp>
        <p:nvSpPr>
          <p:cNvPr id="4" name="Slide Number Placeholder 3"/>
          <p:cNvSpPr>
            <a:spLocks noGrp="1"/>
          </p:cNvSpPr>
          <p:nvPr>
            <p:ph type="sldNum" sz="quarter" idx="5"/>
          </p:nvPr>
        </p:nvSpPr>
        <p:spPr/>
        <p:txBody>
          <a:bodyPr/>
          <a:lstStyle/>
          <a:p>
            <a:fld id="{4AF79E1B-2C51-4B9B-8EA4-26DE9E345AFF}" type="slidenum">
              <a:rPr lang="en-US" smtClean="0"/>
              <a:t>34</a:t>
            </a:fld>
            <a:endParaRPr lang="en-US"/>
          </a:p>
        </p:txBody>
      </p:sp>
    </p:spTree>
    <p:extLst>
      <p:ext uri="{BB962C8B-B14F-4D97-AF65-F5344CB8AC3E}">
        <p14:creationId xmlns:p14="http://schemas.microsoft.com/office/powerpoint/2010/main" val="63925955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about negative as non-adherence (between 60% and 80% for Type II diabetics, not filling supplies, etc.)</a:t>
            </a:r>
          </a:p>
        </p:txBody>
      </p:sp>
      <p:sp>
        <p:nvSpPr>
          <p:cNvPr id="4" name="Slide Number Placeholder 3"/>
          <p:cNvSpPr>
            <a:spLocks noGrp="1"/>
          </p:cNvSpPr>
          <p:nvPr>
            <p:ph type="sldNum" sz="quarter" idx="5"/>
          </p:nvPr>
        </p:nvSpPr>
        <p:spPr/>
        <p:txBody>
          <a:bodyPr/>
          <a:lstStyle/>
          <a:p>
            <a:fld id="{4AF79E1B-2C51-4B9B-8EA4-26DE9E345AFF}" type="slidenum">
              <a:rPr lang="en-US" smtClean="0"/>
              <a:t>35</a:t>
            </a:fld>
            <a:endParaRPr lang="en-US"/>
          </a:p>
        </p:txBody>
      </p:sp>
    </p:spTree>
    <p:extLst>
      <p:ext uri="{BB962C8B-B14F-4D97-AF65-F5344CB8AC3E}">
        <p14:creationId xmlns:p14="http://schemas.microsoft.com/office/powerpoint/2010/main" val="167918666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about positive as low-value care consumption (over-treatment of back pain, etc.)</a:t>
            </a:r>
          </a:p>
        </p:txBody>
      </p:sp>
      <p:sp>
        <p:nvSpPr>
          <p:cNvPr id="4" name="Slide Number Placeholder 3"/>
          <p:cNvSpPr>
            <a:spLocks noGrp="1"/>
          </p:cNvSpPr>
          <p:nvPr>
            <p:ph type="sldNum" sz="quarter" idx="5"/>
          </p:nvPr>
        </p:nvSpPr>
        <p:spPr/>
        <p:txBody>
          <a:bodyPr/>
          <a:lstStyle/>
          <a:p>
            <a:fld id="{4AF79E1B-2C51-4B9B-8EA4-26DE9E345AFF}" type="slidenum">
              <a:rPr lang="en-US" smtClean="0"/>
              <a:t>36</a:t>
            </a:fld>
            <a:endParaRPr lang="en-US"/>
          </a:p>
        </p:txBody>
      </p:sp>
    </p:spTree>
    <p:extLst>
      <p:ext uri="{BB962C8B-B14F-4D97-AF65-F5344CB8AC3E}">
        <p14:creationId xmlns:p14="http://schemas.microsoft.com/office/powerpoint/2010/main" val="57303351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one after going through the model </a:t>
            </a:r>
          </a:p>
        </p:txBody>
      </p:sp>
      <p:sp>
        <p:nvSpPr>
          <p:cNvPr id="4" name="Slide Number Placeholder 3"/>
          <p:cNvSpPr>
            <a:spLocks noGrp="1"/>
          </p:cNvSpPr>
          <p:nvPr>
            <p:ph type="sldNum" sz="quarter" idx="5"/>
          </p:nvPr>
        </p:nvSpPr>
        <p:spPr/>
        <p:txBody>
          <a:bodyPr/>
          <a:lstStyle/>
          <a:p>
            <a:fld id="{4AF79E1B-2C51-4B9B-8EA4-26DE9E345AFF}" type="slidenum">
              <a:rPr lang="en-US" smtClean="0"/>
              <a:t>37</a:t>
            </a:fld>
            <a:endParaRPr lang="en-US"/>
          </a:p>
        </p:txBody>
      </p:sp>
    </p:spTree>
    <p:extLst>
      <p:ext uri="{BB962C8B-B14F-4D97-AF65-F5344CB8AC3E}">
        <p14:creationId xmlns:p14="http://schemas.microsoft.com/office/powerpoint/2010/main" val="380015763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Consider differences between demand and MPB that lead to under-utilization (adherence). Vertical differences here are epsilon. Reducing copay to 0 might in a typical model lead to welfare loss from over-utilization, but here the behavioral hazard effects swamp that (and in this stylized example, would get welfare gain). 1. There’s a treatment wedge. 2. is the graph. 3. is like a LATE from an IV – who is the responder to a policy? Maybe that’s who is affected by behavioral hazard. </a:t>
            </a:r>
          </a:p>
        </p:txBody>
      </p:sp>
      <p:sp>
        <p:nvSpPr>
          <p:cNvPr id="4" name="Slide Number Placeholder 3"/>
          <p:cNvSpPr>
            <a:spLocks noGrp="1"/>
          </p:cNvSpPr>
          <p:nvPr>
            <p:ph type="sldNum" sz="quarter" idx="5"/>
          </p:nvPr>
        </p:nvSpPr>
        <p:spPr/>
        <p:txBody>
          <a:bodyPr/>
          <a:lstStyle/>
          <a:p>
            <a:fld id="{4AF79E1B-2C51-4B9B-8EA4-26DE9E345AFF}" type="slidenum">
              <a:rPr lang="en-US" smtClean="0"/>
              <a:t>38</a:t>
            </a:fld>
            <a:endParaRPr lang="en-US"/>
          </a:p>
        </p:txBody>
      </p:sp>
    </p:spTree>
    <p:extLst>
      <p:ext uri="{BB962C8B-B14F-4D97-AF65-F5344CB8AC3E}">
        <p14:creationId xmlns:p14="http://schemas.microsoft.com/office/powerpoint/2010/main" val="354003021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March 2026 working paper</a:t>
            </a:r>
            <a:endParaRPr lang="en-CA" dirty="0"/>
          </a:p>
        </p:txBody>
      </p:sp>
      <p:sp>
        <p:nvSpPr>
          <p:cNvPr id="4" name="Slide Number Placeholder 3"/>
          <p:cNvSpPr>
            <a:spLocks noGrp="1"/>
          </p:cNvSpPr>
          <p:nvPr>
            <p:ph type="sldNum" sz="quarter" idx="5"/>
          </p:nvPr>
        </p:nvSpPr>
        <p:spPr/>
        <p:txBody>
          <a:bodyPr/>
          <a:lstStyle/>
          <a:p>
            <a:fld id="{4AF79E1B-2C51-4B9B-8EA4-26DE9E345AFF}" type="slidenum">
              <a:rPr lang="en-US" smtClean="0"/>
              <a:t>39</a:t>
            </a:fld>
            <a:endParaRPr lang="en-US"/>
          </a:p>
        </p:txBody>
      </p:sp>
    </p:spTree>
    <p:extLst>
      <p:ext uri="{BB962C8B-B14F-4D97-AF65-F5344CB8AC3E}">
        <p14:creationId xmlns:p14="http://schemas.microsoft.com/office/powerpoint/2010/main" val="59161940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AF6E7-E4CD-E385-6418-398A81D69B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5181C5-AA39-6683-CC16-CDAC72E74F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20EBE5-750A-5BE9-0FE0-E647EE443989}"/>
              </a:ext>
            </a:extLst>
          </p:cNvPr>
          <p:cNvSpPr>
            <a:spLocks noGrp="1"/>
          </p:cNvSpPr>
          <p:nvPr>
            <p:ph type="body" idx="1"/>
          </p:nvPr>
        </p:nvSpPr>
        <p:spPr/>
        <p:txBody>
          <a:bodyPr/>
          <a:lstStyle/>
          <a:p>
            <a:r>
              <a:rPr lang="en-US" dirty="0"/>
              <a:t>Inattention to medication adherence and imperfect memory of eligibility </a:t>
            </a:r>
          </a:p>
        </p:txBody>
      </p:sp>
      <p:sp>
        <p:nvSpPr>
          <p:cNvPr id="4" name="Slide Number Placeholder 3">
            <a:extLst>
              <a:ext uri="{FF2B5EF4-FFF2-40B4-BE49-F238E27FC236}">
                <a16:creationId xmlns:a16="http://schemas.microsoft.com/office/drawing/2014/main" id="{1842D800-E0FB-19C9-67D4-199AD2D12AF7}"/>
              </a:ext>
            </a:extLst>
          </p:cNvPr>
          <p:cNvSpPr>
            <a:spLocks noGrp="1"/>
          </p:cNvSpPr>
          <p:nvPr>
            <p:ph type="sldNum" sz="quarter" idx="5"/>
          </p:nvPr>
        </p:nvSpPr>
        <p:spPr/>
        <p:txBody>
          <a:bodyPr/>
          <a:lstStyle/>
          <a:p>
            <a:fld id="{4AF79E1B-2C51-4B9B-8EA4-26DE9E345AFF}" type="slidenum">
              <a:rPr lang="en-US" smtClean="0"/>
              <a:t>40</a:t>
            </a:fld>
            <a:endParaRPr lang="en-US"/>
          </a:p>
        </p:txBody>
      </p:sp>
    </p:spTree>
    <p:extLst>
      <p:ext uri="{BB962C8B-B14F-4D97-AF65-F5344CB8AC3E}">
        <p14:creationId xmlns:p14="http://schemas.microsoft.com/office/powerpoint/2010/main" val="51310549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08E549-305A-01FE-51F5-156EC250D7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FA4E7A-040B-3C21-C8A5-649171C7F3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DAD158-3021-C5FB-1AD0-9E4848EFD37A}"/>
              </a:ext>
            </a:extLst>
          </p:cNvPr>
          <p:cNvSpPr>
            <a:spLocks noGrp="1"/>
          </p:cNvSpPr>
          <p:nvPr>
            <p:ph type="body" idx="1"/>
          </p:nvPr>
        </p:nvSpPr>
        <p:spPr/>
        <p:txBody>
          <a:bodyPr/>
          <a:lstStyle/>
          <a:p>
            <a:r>
              <a:rPr lang="en-US" dirty="0"/>
              <a:t>Importantly: it gets you </a:t>
            </a:r>
            <a:r>
              <a:rPr lang="en-US" b="1" dirty="0"/>
              <a:t>inputs</a:t>
            </a:r>
            <a:r>
              <a:rPr lang="en-US" b="0" dirty="0"/>
              <a:t> into a model (rather than models being the output) [they also had stigma, not focusing as much on that]</a:t>
            </a:r>
            <a:endParaRPr lang="en-US" dirty="0"/>
          </a:p>
        </p:txBody>
      </p:sp>
      <p:sp>
        <p:nvSpPr>
          <p:cNvPr id="4" name="Slide Number Placeholder 3">
            <a:extLst>
              <a:ext uri="{FF2B5EF4-FFF2-40B4-BE49-F238E27FC236}">
                <a16:creationId xmlns:a16="http://schemas.microsoft.com/office/drawing/2014/main" id="{D0CE86DF-159D-720A-54A8-0B24890D7C46}"/>
              </a:ext>
            </a:extLst>
          </p:cNvPr>
          <p:cNvSpPr>
            <a:spLocks noGrp="1"/>
          </p:cNvSpPr>
          <p:nvPr>
            <p:ph type="sldNum" sz="quarter" idx="5"/>
          </p:nvPr>
        </p:nvSpPr>
        <p:spPr/>
        <p:txBody>
          <a:bodyPr/>
          <a:lstStyle/>
          <a:p>
            <a:fld id="{4AF79E1B-2C51-4B9B-8EA4-26DE9E345AFF}" type="slidenum">
              <a:rPr lang="en-US" smtClean="0"/>
              <a:t>41</a:t>
            </a:fld>
            <a:endParaRPr lang="en-US"/>
          </a:p>
        </p:txBody>
      </p:sp>
    </p:spTree>
    <p:extLst>
      <p:ext uri="{BB962C8B-B14F-4D97-AF65-F5344CB8AC3E}">
        <p14:creationId xmlns:p14="http://schemas.microsoft.com/office/powerpoint/2010/main" val="140419323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BA2307-55E8-2020-45C4-B5F712E52A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132F72-E07F-B9C5-6CFD-40F16F43D9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F177B4-C107-4EA2-41D3-280F7567C683}"/>
              </a:ext>
            </a:extLst>
          </p:cNvPr>
          <p:cNvSpPr>
            <a:spLocks noGrp="1"/>
          </p:cNvSpPr>
          <p:nvPr>
            <p:ph type="body" idx="1"/>
          </p:nvPr>
        </p:nvSpPr>
        <p:spPr/>
        <p:txBody>
          <a:bodyPr/>
          <a:lstStyle/>
          <a:p>
            <a:r>
              <a:rPr lang="en-US" dirty="0"/>
              <a:t>Let’s go one at a time. Does this help with why Mozambique?</a:t>
            </a:r>
          </a:p>
          <a:p>
            <a:endParaRPr lang="en-US" dirty="0"/>
          </a:p>
        </p:txBody>
      </p:sp>
      <p:sp>
        <p:nvSpPr>
          <p:cNvPr id="4" name="Slide Number Placeholder 3">
            <a:extLst>
              <a:ext uri="{FF2B5EF4-FFF2-40B4-BE49-F238E27FC236}">
                <a16:creationId xmlns:a16="http://schemas.microsoft.com/office/drawing/2014/main" id="{5ABD6869-CAF3-3885-5178-BE4374E934FB}"/>
              </a:ext>
            </a:extLst>
          </p:cNvPr>
          <p:cNvSpPr>
            <a:spLocks noGrp="1"/>
          </p:cNvSpPr>
          <p:nvPr>
            <p:ph type="sldNum" sz="quarter" idx="5"/>
          </p:nvPr>
        </p:nvSpPr>
        <p:spPr/>
        <p:txBody>
          <a:bodyPr/>
          <a:lstStyle/>
          <a:p>
            <a:fld id="{4AF79E1B-2C51-4B9B-8EA4-26DE9E345AFF}" type="slidenum">
              <a:rPr lang="en-US" smtClean="0"/>
              <a:t>42</a:t>
            </a:fld>
            <a:endParaRPr lang="en-US"/>
          </a:p>
        </p:txBody>
      </p:sp>
    </p:spTree>
    <p:extLst>
      <p:ext uri="{BB962C8B-B14F-4D97-AF65-F5344CB8AC3E}">
        <p14:creationId xmlns:p14="http://schemas.microsoft.com/office/powerpoint/2010/main" val="188428587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7A038-9FA4-7757-2AB2-D9084E396C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C20A5C-424A-EF98-A23F-5564C7F936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4D5B27-1FE0-91F1-87A5-5C0F1C3A3A23}"/>
              </a:ext>
            </a:extLst>
          </p:cNvPr>
          <p:cNvSpPr>
            <a:spLocks noGrp="1"/>
          </p:cNvSpPr>
          <p:nvPr>
            <p:ph type="body" idx="1"/>
          </p:nvPr>
        </p:nvSpPr>
        <p:spPr/>
        <p:txBody>
          <a:bodyPr/>
          <a:lstStyle/>
          <a:p>
            <a:r>
              <a:rPr lang="en-US" dirty="0"/>
              <a:t>Where do we get the model inputs from this graph? </a:t>
            </a:r>
          </a:p>
        </p:txBody>
      </p:sp>
      <p:sp>
        <p:nvSpPr>
          <p:cNvPr id="4" name="Slide Number Placeholder 3">
            <a:extLst>
              <a:ext uri="{FF2B5EF4-FFF2-40B4-BE49-F238E27FC236}">
                <a16:creationId xmlns:a16="http://schemas.microsoft.com/office/drawing/2014/main" id="{76DECBCF-4344-4CB4-3DC2-7FC6C01AA12A}"/>
              </a:ext>
            </a:extLst>
          </p:cNvPr>
          <p:cNvSpPr>
            <a:spLocks noGrp="1"/>
          </p:cNvSpPr>
          <p:nvPr>
            <p:ph type="sldNum" sz="quarter" idx="5"/>
          </p:nvPr>
        </p:nvSpPr>
        <p:spPr/>
        <p:txBody>
          <a:bodyPr/>
          <a:lstStyle/>
          <a:p>
            <a:fld id="{4AF79E1B-2C51-4B9B-8EA4-26DE9E345AFF}" type="slidenum">
              <a:rPr lang="en-US" smtClean="0"/>
              <a:t>43</a:t>
            </a:fld>
            <a:endParaRPr lang="en-US"/>
          </a:p>
        </p:txBody>
      </p:sp>
    </p:spTree>
    <p:extLst>
      <p:ext uri="{BB962C8B-B14F-4D97-AF65-F5344CB8AC3E}">
        <p14:creationId xmlns:p14="http://schemas.microsoft.com/office/powerpoint/2010/main" val="330737097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EA751D-3B97-F7CF-7516-83221DF61F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A31428-932B-85BE-E587-91BD8AC6F0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FDADA2-9982-9318-6A7C-4219EF8A5495}"/>
              </a:ext>
            </a:extLst>
          </p:cNvPr>
          <p:cNvSpPr>
            <a:spLocks noGrp="1"/>
          </p:cNvSpPr>
          <p:nvPr>
            <p:ph type="body" idx="1"/>
          </p:nvPr>
        </p:nvSpPr>
        <p:spPr/>
        <p:txBody>
          <a:bodyPr/>
          <a:lstStyle/>
          <a:p>
            <a:r>
              <a:rPr lang="en-US" dirty="0"/>
              <a:t>How do we interpret this? What’s the takeaway of the interaction term? </a:t>
            </a:r>
          </a:p>
        </p:txBody>
      </p:sp>
      <p:sp>
        <p:nvSpPr>
          <p:cNvPr id="4" name="Slide Number Placeholder 3">
            <a:extLst>
              <a:ext uri="{FF2B5EF4-FFF2-40B4-BE49-F238E27FC236}">
                <a16:creationId xmlns:a16="http://schemas.microsoft.com/office/drawing/2014/main" id="{565C69AF-2C4E-E484-721F-670D1478B6D5}"/>
              </a:ext>
            </a:extLst>
          </p:cNvPr>
          <p:cNvSpPr>
            <a:spLocks noGrp="1"/>
          </p:cNvSpPr>
          <p:nvPr>
            <p:ph type="sldNum" sz="quarter" idx="5"/>
          </p:nvPr>
        </p:nvSpPr>
        <p:spPr/>
        <p:txBody>
          <a:bodyPr/>
          <a:lstStyle/>
          <a:p>
            <a:fld id="{4AF79E1B-2C51-4B9B-8EA4-26DE9E345AFF}" type="slidenum">
              <a:rPr lang="en-US" smtClean="0"/>
              <a:t>44</a:t>
            </a:fld>
            <a:endParaRPr lang="en-US"/>
          </a:p>
        </p:txBody>
      </p:sp>
    </p:spTree>
    <p:extLst>
      <p:ext uri="{BB962C8B-B14F-4D97-AF65-F5344CB8AC3E}">
        <p14:creationId xmlns:p14="http://schemas.microsoft.com/office/powerpoint/2010/main" val="33737570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DB3A9F-FBEE-855C-9AC1-D1021B6E6A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5F24B8-E543-ED7D-B8FA-2576FD9FC3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B2109F-4B50-395D-437F-940FDA19AC9C}"/>
              </a:ext>
            </a:extLst>
          </p:cNvPr>
          <p:cNvSpPr>
            <a:spLocks noGrp="1"/>
          </p:cNvSpPr>
          <p:nvPr>
            <p:ph type="body" idx="1"/>
          </p:nvPr>
        </p:nvSpPr>
        <p:spPr/>
        <p:txBody>
          <a:bodyPr/>
          <a:lstStyle/>
          <a:p>
            <a:r>
              <a:rPr lang="en-US" dirty="0"/>
              <a:t>Note: why two periods of pills? Presumably because of what they found in Table 3 (where the combination was only significant in period 2). </a:t>
            </a:r>
          </a:p>
          <a:p>
            <a:r>
              <a:rPr lang="en-US" dirty="0"/>
              <a:t>In this model, why would paying people help? </a:t>
            </a:r>
          </a:p>
          <a:p>
            <a:pPr marL="171450" indent="-171450">
              <a:buFontTx/>
              <a:buChar char="-"/>
            </a:pPr>
            <a:r>
              <a:rPr lang="en-US" dirty="0"/>
              <a:t>Mitigates the cost shocks</a:t>
            </a:r>
          </a:p>
          <a:p>
            <a:pPr marL="171450" indent="-171450">
              <a:buFontTx/>
              <a:buChar char="-"/>
            </a:pPr>
            <a:r>
              <a:rPr lang="en-US" dirty="0"/>
              <a:t>Would therefore help more specifically in the first two periods when health effects are 0 [see this in the table in a couple of slides]</a:t>
            </a:r>
          </a:p>
          <a:p>
            <a:pPr marL="171450" indent="-171450">
              <a:buFontTx/>
              <a:buChar char="-"/>
            </a:pPr>
            <a:endParaRPr lang="en-US" dirty="0"/>
          </a:p>
        </p:txBody>
      </p:sp>
      <p:sp>
        <p:nvSpPr>
          <p:cNvPr id="4" name="Slide Number Placeholder 3">
            <a:extLst>
              <a:ext uri="{FF2B5EF4-FFF2-40B4-BE49-F238E27FC236}">
                <a16:creationId xmlns:a16="http://schemas.microsoft.com/office/drawing/2014/main" id="{262DA2C0-11AE-2670-4359-FFA30A2274B2}"/>
              </a:ext>
            </a:extLst>
          </p:cNvPr>
          <p:cNvSpPr>
            <a:spLocks noGrp="1"/>
          </p:cNvSpPr>
          <p:nvPr>
            <p:ph type="sldNum" sz="quarter" idx="5"/>
          </p:nvPr>
        </p:nvSpPr>
        <p:spPr/>
        <p:txBody>
          <a:bodyPr/>
          <a:lstStyle/>
          <a:p>
            <a:fld id="{4AF79E1B-2C51-4B9B-8EA4-26DE9E345AFF}" type="slidenum">
              <a:rPr lang="en-US" smtClean="0"/>
              <a:t>45</a:t>
            </a:fld>
            <a:endParaRPr lang="en-US"/>
          </a:p>
        </p:txBody>
      </p:sp>
    </p:spTree>
    <p:extLst>
      <p:ext uri="{BB962C8B-B14F-4D97-AF65-F5344CB8AC3E}">
        <p14:creationId xmlns:p14="http://schemas.microsoft.com/office/powerpoint/2010/main" val="232306798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659C7-1DEB-1BE4-7D9B-46005611DA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79A557-1AA6-06FA-7A06-BD70C84D4C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C07E2E-EC7C-491A-A0CA-239C63F62AA4}"/>
              </a:ext>
            </a:extLst>
          </p:cNvPr>
          <p:cNvSpPr>
            <a:spLocks noGrp="1"/>
          </p:cNvSpPr>
          <p:nvPr>
            <p:ph type="body" idx="1"/>
          </p:nvPr>
        </p:nvSpPr>
        <p:spPr/>
        <p:txBody>
          <a:bodyPr/>
          <a:lstStyle/>
          <a:p>
            <a:r>
              <a:rPr lang="en-US" dirty="0"/>
              <a:t>I think it’s a bit tricky to believe separability here, but this is why the interaction term is important: The first assumption implies that patients will run out of pills after our official due date. In the absence of assumption 2, this should have no impact on the effect of financial incentives. However, if patients do not perfectly remember their due date and forget to take pills, many patients who are in Period 3 may believe they are in Period 2. Thus, financial incentives can increase refills in Period 3.</a:t>
            </a:r>
          </a:p>
        </p:txBody>
      </p:sp>
      <p:sp>
        <p:nvSpPr>
          <p:cNvPr id="4" name="Slide Number Placeholder 3">
            <a:extLst>
              <a:ext uri="{FF2B5EF4-FFF2-40B4-BE49-F238E27FC236}">
                <a16:creationId xmlns:a16="http://schemas.microsoft.com/office/drawing/2014/main" id="{CCE80E08-7DA7-5ECC-8F11-B9076857F3B0}"/>
              </a:ext>
            </a:extLst>
          </p:cNvPr>
          <p:cNvSpPr>
            <a:spLocks noGrp="1"/>
          </p:cNvSpPr>
          <p:nvPr>
            <p:ph type="sldNum" sz="quarter" idx="5"/>
          </p:nvPr>
        </p:nvSpPr>
        <p:spPr/>
        <p:txBody>
          <a:bodyPr/>
          <a:lstStyle/>
          <a:p>
            <a:fld id="{4AF79E1B-2C51-4B9B-8EA4-26DE9E345AFF}" type="slidenum">
              <a:rPr lang="en-US" smtClean="0"/>
              <a:t>46</a:t>
            </a:fld>
            <a:endParaRPr lang="en-US"/>
          </a:p>
        </p:txBody>
      </p:sp>
    </p:spTree>
    <p:extLst>
      <p:ext uri="{BB962C8B-B14F-4D97-AF65-F5344CB8AC3E}">
        <p14:creationId xmlns:p14="http://schemas.microsoft.com/office/powerpoint/2010/main" val="368137141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444A1A-0024-8017-A61D-0BAF9CCC6E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E5803F-320E-C879-928B-A1725CE24D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354EF8-DE5B-F5E3-C2E3-4E21E0ED9561}"/>
              </a:ext>
            </a:extLst>
          </p:cNvPr>
          <p:cNvSpPr>
            <a:spLocks noGrp="1"/>
          </p:cNvSpPr>
          <p:nvPr>
            <p:ph type="body" idx="1"/>
          </p:nvPr>
        </p:nvSpPr>
        <p:spPr/>
        <p:txBody>
          <a:bodyPr/>
          <a:lstStyle/>
          <a:p>
            <a:r>
              <a:rPr lang="en-US" dirty="0"/>
              <a:t>Rather than work through the model in math, they give us some intuition. Let’s walk through this. </a:t>
            </a:r>
          </a:p>
        </p:txBody>
      </p:sp>
      <p:sp>
        <p:nvSpPr>
          <p:cNvPr id="4" name="Slide Number Placeholder 3">
            <a:extLst>
              <a:ext uri="{FF2B5EF4-FFF2-40B4-BE49-F238E27FC236}">
                <a16:creationId xmlns:a16="http://schemas.microsoft.com/office/drawing/2014/main" id="{8CC31600-8DBC-1F77-000E-5919965F9F55}"/>
              </a:ext>
            </a:extLst>
          </p:cNvPr>
          <p:cNvSpPr>
            <a:spLocks noGrp="1"/>
          </p:cNvSpPr>
          <p:nvPr>
            <p:ph type="sldNum" sz="quarter" idx="5"/>
          </p:nvPr>
        </p:nvSpPr>
        <p:spPr/>
        <p:txBody>
          <a:bodyPr/>
          <a:lstStyle/>
          <a:p>
            <a:fld id="{4AF79E1B-2C51-4B9B-8EA4-26DE9E345AFF}" type="slidenum">
              <a:rPr lang="en-US" smtClean="0"/>
              <a:t>47</a:t>
            </a:fld>
            <a:endParaRPr lang="en-US"/>
          </a:p>
        </p:txBody>
      </p:sp>
    </p:spTree>
    <p:extLst>
      <p:ext uri="{BB962C8B-B14F-4D97-AF65-F5344CB8AC3E}">
        <p14:creationId xmlns:p14="http://schemas.microsoft.com/office/powerpoint/2010/main" val="287110056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872F0-0C92-722D-ABC4-3E5091572F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CC2B98-EB79-6A6A-D169-E89D804C40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2BA136-601F-D565-5816-96C08171385F}"/>
              </a:ext>
            </a:extLst>
          </p:cNvPr>
          <p:cNvSpPr>
            <a:spLocks noGrp="1"/>
          </p:cNvSpPr>
          <p:nvPr>
            <p:ph type="body" idx="1"/>
          </p:nvPr>
        </p:nvSpPr>
        <p:spPr/>
        <p:txBody>
          <a:bodyPr/>
          <a:lstStyle/>
          <a:p>
            <a:r>
              <a:rPr lang="en-US" dirty="0"/>
              <a:t>Rather than work through the model in math, they give us some intuition. Let’s walk through this. </a:t>
            </a:r>
          </a:p>
        </p:txBody>
      </p:sp>
      <p:sp>
        <p:nvSpPr>
          <p:cNvPr id="4" name="Slide Number Placeholder 3">
            <a:extLst>
              <a:ext uri="{FF2B5EF4-FFF2-40B4-BE49-F238E27FC236}">
                <a16:creationId xmlns:a16="http://schemas.microsoft.com/office/drawing/2014/main" id="{9122B887-22EB-73C3-D46D-F9DD0A4A9E8C}"/>
              </a:ext>
            </a:extLst>
          </p:cNvPr>
          <p:cNvSpPr>
            <a:spLocks noGrp="1"/>
          </p:cNvSpPr>
          <p:nvPr>
            <p:ph type="sldNum" sz="quarter" idx="5"/>
          </p:nvPr>
        </p:nvSpPr>
        <p:spPr/>
        <p:txBody>
          <a:bodyPr/>
          <a:lstStyle/>
          <a:p>
            <a:fld id="{4AF79E1B-2C51-4B9B-8EA4-26DE9E345AFF}" type="slidenum">
              <a:rPr lang="en-US" smtClean="0"/>
              <a:t>48</a:t>
            </a:fld>
            <a:endParaRPr lang="en-US"/>
          </a:p>
        </p:txBody>
      </p:sp>
    </p:spTree>
    <p:extLst>
      <p:ext uri="{BB962C8B-B14F-4D97-AF65-F5344CB8AC3E}">
        <p14:creationId xmlns:p14="http://schemas.microsoft.com/office/powerpoint/2010/main" val="169242885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FFD5F-7E4A-B54B-B1CF-41A5B75548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B350CE-C40E-DA6F-A445-13DB268C3A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E8796A-1845-539D-2F3B-3198F8CF5B02}"/>
              </a:ext>
            </a:extLst>
          </p:cNvPr>
          <p:cNvSpPr>
            <a:spLocks noGrp="1"/>
          </p:cNvSpPr>
          <p:nvPr>
            <p:ph type="body" idx="1"/>
          </p:nvPr>
        </p:nvSpPr>
        <p:spPr/>
        <p:txBody>
          <a:bodyPr/>
          <a:lstStyle/>
          <a:p>
            <a:r>
              <a:rPr lang="en-US" dirty="0"/>
              <a:t>Rather than work through the model in math, they give us some intuition. Let’s walk through this. </a:t>
            </a:r>
          </a:p>
        </p:txBody>
      </p:sp>
      <p:sp>
        <p:nvSpPr>
          <p:cNvPr id="4" name="Slide Number Placeholder 3">
            <a:extLst>
              <a:ext uri="{FF2B5EF4-FFF2-40B4-BE49-F238E27FC236}">
                <a16:creationId xmlns:a16="http://schemas.microsoft.com/office/drawing/2014/main" id="{A830F2E6-9C3D-DF7C-FB17-25CE0C3C8726}"/>
              </a:ext>
            </a:extLst>
          </p:cNvPr>
          <p:cNvSpPr>
            <a:spLocks noGrp="1"/>
          </p:cNvSpPr>
          <p:nvPr>
            <p:ph type="sldNum" sz="quarter" idx="5"/>
          </p:nvPr>
        </p:nvSpPr>
        <p:spPr/>
        <p:txBody>
          <a:bodyPr/>
          <a:lstStyle/>
          <a:p>
            <a:fld id="{4AF79E1B-2C51-4B9B-8EA4-26DE9E345AFF}" type="slidenum">
              <a:rPr lang="en-US" smtClean="0"/>
              <a:t>49</a:t>
            </a:fld>
            <a:endParaRPr lang="en-US"/>
          </a:p>
        </p:txBody>
      </p:sp>
    </p:spTree>
    <p:extLst>
      <p:ext uri="{BB962C8B-B14F-4D97-AF65-F5344CB8AC3E}">
        <p14:creationId xmlns:p14="http://schemas.microsoft.com/office/powerpoint/2010/main" val="6899775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9834C1-ABFF-9EF9-1FC0-DAF660CAF9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BF7552-4A69-9402-C3DE-EDF3F84E3A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FB8FCA-1797-48EF-600F-41550BBA01DC}"/>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4FBEFD8B-A395-2E0F-1DCC-A7404B7629D6}"/>
              </a:ext>
            </a:extLst>
          </p:cNvPr>
          <p:cNvSpPr>
            <a:spLocks noGrp="1"/>
          </p:cNvSpPr>
          <p:nvPr>
            <p:ph type="sldNum" sz="quarter" idx="5"/>
          </p:nvPr>
        </p:nvSpPr>
        <p:spPr/>
        <p:txBody>
          <a:bodyPr/>
          <a:lstStyle/>
          <a:p>
            <a:fld id="{4AF79E1B-2C51-4B9B-8EA4-26DE9E345AFF}" type="slidenum">
              <a:rPr lang="en-US" smtClean="0"/>
              <a:t>50</a:t>
            </a:fld>
            <a:endParaRPr lang="en-US"/>
          </a:p>
        </p:txBody>
      </p:sp>
    </p:spTree>
    <p:extLst>
      <p:ext uri="{BB962C8B-B14F-4D97-AF65-F5344CB8AC3E}">
        <p14:creationId xmlns:p14="http://schemas.microsoft.com/office/powerpoint/2010/main" val="30911913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0972D05C-DCFB-4BB6-B49C-AC126BF3ED2C}" type="datetimeFigureOut">
              <a:rPr lang="en-US" smtClean="0"/>
              <a:pPr/>
              <a:t>3/9/2026</a:t>
            </a:fld>
            <a:endParaRPr lang="en-US"/>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D55C3209-28DC-43DB-92C2-2AB8D1DA00B1}" type="slidenum">
              <a:rPr lang="en-US" smtClean="0"/>
              <a:pPr/>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Tree>
    <p:extLst>
      <p:ext uri="{BB962C8B-B14F-4D97-AF65-F5344CB8AC3E}">
        <p14:creationId xmlns:p14="http://schemas.microsoft.com/office/powerpoint/2010/main" val="156941254"/>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72D05C-DCFB-4BB6-B49C-AC126BF3ED2C}" type="datetimeFigureOut">
              <a:rPr lang="en-US" smtClean="0"/>
              <a:pPr/>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2422212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72D05C-DCFB-4BB6-B49C-AC126BF3ED2C}" type="datetimeFigureOut">
              <a:rPr lang="en-US" smtClean="0"/>
              <a:pPr/>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06479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972D05C-DCFB-4BB6-B49C-AC126BF3ED2C}" type="datetimeFigureOut">
              <a:rPr lang="en-US" smtClean="0"/>
              <a:pPr/>
              <a:t>3/9/2026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0468441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Times New Roman" panose="02020603050405020304" pitchFamily="18"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dirty="0"/>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972D05C-DCFB-4BB6-B49C-AC126BF3ED2C}" type="datetimeFigureOut">
              <a:rPr lang="en-US" smtClean="0"/>
              <a:pPr/>
              <a:t>3/9/2026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1598161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972D05C-DCFB-4BB6-B49C-AC126BF3ED2C}" type="datetimeFigureOut">
              <a:rPr lang="en-US" smtClean="0"/>
              <a:pPr/>
              <a:t>3/9/2026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810167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72D05C-DCFB-4BB6-B49C-AC126BF3ED2C}" type="datetimeFigureOut">
              <a:rPr lang="en-US" smtClean="0"/>
              <a:pPr/>
              <a:t>3/9/2026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645120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72D05C-DCFB-4BB6-B49C-AC126BF3ED2C}" type="datetimeFigureOut">
              <a:rPr lang="en-US" smtClean="0"/>
              <a:pPr/>
              <a:t>3/9/2026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1628827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72D05C-DCFB-4BB6-B49C-AC126BF3ED2C}" type="datetimeFigureOut">
              <a:rPr lang="en-US" smtClean="0"/>
              <a:pPr/>
              <a:t>3/9/2026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9644337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72D05C-DCFB-4BB6-B49C-AC126BF3ED2C}" type="datetimeFigureOut">
              <a:rPr lang="en-US" smtClean="0"/>
              <a:pPr/>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3810766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72D05C-DCFB-4BB6-B49C-AC126BF3ED2C}" type="datetimeFigureOut">
              <a:rPr lang="en-US" smtClean="0"/>
              <a:pPr/>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3908046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latin typeface="Times New Roman" panose="02020603050405020304" pitchFamily="18" charset="0"/>
              </a:defRPr>
            </a:lvl1pPr>
          </a:lstStyle>
          <a:p>
            <a:fld id="{0972D05C-DCFB-4BB6-B49C-AC126BF3ED2C}" type="datetimeFigureOut">
              <a:rPr lang="en-US" smtClean="0"/>
              <a:pPr/>
              <a:t>3/9/2026</a:t>
            </a:fld>
            <a:endParaRPr lang="en-US" dirty="0"/>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latin typeface="Times New Roman" panose="02020603050405020304" pitchFamily="18" charset="0"/>
              </a:defRPr>
            </a:lvl1pPr>
          </a:lstStyle>
          <a:p>
            <a:endParaRPr lang="en-US" dirty="0"/>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latin typeface="Times New Roman" panose="02020603050405020304" pitchFamily="18" charset="0"/>
              </a:defRPr>
            </a:lvl1pPr>
          </a:lstStyle>
          <a:p>
            <a:fld id="{D55C3209-28DC-43DB-92C2-2AB8D1DA00B1}" type="slidenum">
              <a:rPr lang="en-US" smtClean="0"/>
              <a:pPr/>
              <a:t>‹#›</a:t>
            </a:fld>
            <a:endParaRPr lang="en-US" dirty="0"/>
          </a:p>
        </p:txBody>
      </p:sp>
    </p:spTree>
    <p:extLst>
      <p:ext uri="{BB962C8B-B14F-4D97-AF65-F5344CB8AC3E}">
        <p14:creationId xmlns:p14="http://schemas.microsoft.com/office/powerpoint/2010/main" val="3753244356"/>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2209800"/>
            <a:ext cx="11201400" cy="1894362"/>
          </a:xfrm>
        </p:spPr>
        <p:txBody>
          <a:bodyPr>
            <a:normAutofit/>
          </a:bodyPr>
          <a:lstStyle/>
          <a:p>
            <a:r>
              <a:rPr lang="en-US" dirty="0"/>
              <a:t>Advanced Health Economics</a:t>
            </a:r>
          </a:p>
        </p:txBody>
      </p:sp>
      <p:sp>
        <p:nvSpPr>
          <p:cNvPr id="3" name="Subtitle 2"/>
          <p:cNvSpPr>
            <a:spLocks noGrp="1"/>
          </p:cNvSpPr>
          <p:nvPr>
            <p:ph type="subTitle" idx="1"/>
          </p:nvPr>
        </p:nvSpPr>
        <p:spPr>
          <a:xfrm>
            <a:off x="760228" y="4191000"/>
            <a:ext cx="10593572" cy="1981200"/>
          </a:xfrm>
        </p:spPr>
        <p:txBody>
          <a:bodyPr>
            <a:noAutofit/>
          </a:bodyPr>
          <a:lstStyle/>
          <a:p>
            <a:r>
              <a:rPr lang="en-US" sz="2400" dirty="0"/>
              <a:t>Lecture 10: Behavioral Health Economics</a:t>
            </a:r>
          </a:p>
          <a:p>
            <a:r>
              <a:rPr lang="en-US" sz="2400" dirty="0"/>
              <a:t>March 16, 2026</a:t>
            </a:r>
          </a:p>
          <a:p>
            <a:endParaRPr lang="en-US" sz="2400" dirty="0"/>
          </a:p>
          <a:p>
            <a:r>
              <a:rPr lang="en-US" sz="2400" dirty="0"/>
              <a:t>HAD 6750 </a:t>
            </a:r>
            <a:r>
              <a:rPr lang="en-US" sz="2400" dirty="0">
                <a:sym typeface="Symbol" panose="05050102010706020507" pitchFamily="18" charset="2"/>
              </a:rPr>
              <a:t> </a:t>
            </a:r>
            <a:r>
              <a:rPr lang="en-US" sz="2400" dirty="0"/>
              <a:t>Alex Hoagland, Ph.D.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8"/>
            <a:ext cx="9220200" cy="624840"/>
          </a:xfrm>
        </p:spPr>
        <p:txBody>
          <a:bodyPr>
            <a:normAutofit fontScale="90000"/>
          </a:bodyPr>
          <a:lstStyle/>
          <a:p>
            <a:r>
              <a:rPr lang="en-US" dirty="0">
                <a:solidFill>
                  <a:schemeClr val="accent2">
                    <a:lumMod val="75000"/>
                  </a:schemeClr>
                </a:solidFill>
                <a:cs typeface="Times New Roman" panose="02020603050405020304" pitchFamily="18" charset="0"/>
              </a:rPr>
              <a:t>Last time: Individual Health Behaviors</a:t>
            </a:r>
            <a:endParaRPr lang="en-US"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D52D31A3-19BE-0C56-23AB-F009C1779EED}"/>
              </a:ext>
            </a:extLst>
          </p:cNvPr>
          <p:cNvSpPr txBox="1">
            <a:spLocks/>
          </p:cNvSpPr>
          <p:nvPr/>
        </p:nvSpPr>
        <p:spPr>
          <a:xfrm>
            <a:off x="876300" y="929575"/>
            <a:ext cx="10439400" cy="5141388"/>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r>
              <a:rPr lang="en-US" sz="2400" dirty="0">
                <a:cs typeface="Times New Roman" panose="02020603050405020304" pitchFamily="18" charset="0"/>
              </a:rPr>
              <a:t>Patients act weird! How should we think about this positively? Normatively?</a:t>
            </a:r>
          </a:p>
          <a:p>
            <a:r>
              <a:rPr lang="en-US" sz="2400" dirty="0">
                <a:cs typeface="Times New Roman" panose="02020603050405020304" pitchFamily="18" charset="0"/>
              </a:rPr>
              <a:t>How to write a “niche” model </a:t>
            </a:r>
          </a:p>
          <a:p>
            <a:r>
              <a:rPr lang="en-US" sz="2400" dirty="0">
                <a:cs typeface="Times New Roman" panose="02020603050405020304" pitchFamily="18" charset="0"/>
              </a:rPr>
              <a:t>3 Core Examples:</a:t>
            </a:r>
          </a:p>
          <a:p>
            <a:pPr lvl="1"/>
            <a:r>
              <a:rPr lang="en-US" sz="2200" dirty="0">
                <a:cs typeface="Times New Roman" panose="02020603050405020304" pitchFamily="18" charset="0"/>
              </a:rPr>
              <a:t>Addiction (Becker and Murphy)</a:t>
            </a:r>
          </a:p>
          <a:p>
            <a:pPr lvl="1"/>
            <a:r>
              <a:rPr lang="en-US" sz="2200" dirty="0">
                <a:cs typeface="Times New Roman" panose="02020603050405020304" pitchFamily="18" charset="0"/>
              </a:rPr>
              <a:t>Screening/Preventive care decisions (Oster et al.) </a:t>
            </a:r>
          </a:p>
          <a:p>
            <a:pPr lvl="1"/>
            <a:r>
              <a:rPr lang="en-US" sz="2200" dirty="0">
                <a:cs typeface="Times New Roman" panose="02020603050405020304" pitchFamily="18" charset="0"/>
              </a:rPr>
              <a:t>Plan choices (Abaluck and Gruber)</a:t>
            </a:r>
          </a:p>
        </p:txBody>
      </p:sp>
    </p:spTree>
    <p:extLst>
      <p:ext uri="{BB962C8B-B14F-4D97-AF65-F5344CB8AC3E}">
        <p14:creationId xmlns:p14="http://schemas.microsoft.com/office/powerpoint/2010/main" val="37466538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8"/>
            <a:ext cx="9220200" cy="624840"/>
          </a:xfrm>
        </p:spPr>
        <p:txBody>
          <a:bodyPr>
            <a:normAutofit fontScale="90000"/>
          </a:bodyPr>
          <a:lstStyle/>
          <a:p>
            <a:r>
              <a:rPr lang="en-US" dirty="0">
                <a:solidFill>
                  <a:schemeClr val="accent2">
                    <a:lumMod val="75000"/>
                  </a:schemeClr>
                </a:solidFill>
                <a:cs typeface="Times New Roman" panose="02020603050405020304" pitchFamily="18" charset="0"/>
              </a:rPr>
              <a:t>Last time: Individual Health Behaviors</a:t>
            </a:r>
            <a:endParaRPr lang="en-US"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D52D31A3-19BE-0C56-23AB-F009C1779EED}"/>
              </a:ext>
            </a:extLst>
          </p:cNvPr>
          <p:cNvSpPr txBox="1">
            <a:spLocks/>
          </p:cNvSpPr>
          <p:nvPr/>
        </p:nvSpPr>
        <p:spPr>
          <a:xfrm>
            <a:off x="876300" y="929575"/>
            <a:ext cx="10439400" cy="5141388"/>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r>
              <a:rPr lang="en-US" sz="2400" dirty="0">
                <a:cs typeface="Times New Roman" panose="02020603050405020304" pitchFamily="18" charset="0"/>
              </a:rPr>
              <a:t>Patients act weird! How should we think about this positively? Normatively?</a:t>
            </a:r>
          </a:p>
          <a:p>
            <a:r>
              <a:rPr lang="en-US" sz="2400" dirty="0">
                <a:cs typeface="Times New Roman" panose="02020603050405020304" pitchFamily="18" charset="0"/>
              </a:rPr>
              <a:t>How to write a “niche” model </a:t>
            </a:r>
          </a:p>
          <a:p>
            <a:r>
              <a:rPr lang="en-US" sz="2400" dirty="0">
                <a:cs typeface="Times New Roman" panose="02020603050405020304" pitchFamily="18" charset="0"/>
              </a:rPr>
              <a:t>3 Core Examples:</a:t>
            </a:r>
          </a:p>
          <a:p>
            <a:pPr lvl="1"/>
            <a:r>
              <a:rPr lang="en-US" sz="2200" dirty="0">
                <a:cs typeface="Times New Roman" panose="02020603050405020304" pitchFamily="18" charset="0"/>
              </a:rPr>
              <a:t>Addiction (Becker and Murphy)</a:t>
            </a:r>
          </a:p>
          <a:p>
            <a:pPr lvl="1"/>
            <a:r>
              <a:rPr lang="en-US" sz="2200" dirty="0">
                <a:cs typeface="Times New Roman" panose="02020603050405020304" pitchFamily="18" charset="0"/>
              </a:rPr>
              <a:t>Screening/Preventive care decisions (Oster et al.) </a:t>
            </a:r>
          </a:p>
          <a:p>
            <a:pPr lvl="1"/>
            <a:r>
              <a:rPr lang="en-US" sz="2200" dirty="0">
                <a:cs typeface="Times New Roman" panose="02020603050405020304" pitchFamily="18" charset="0"/>
              </a:rPr>
              <a:t>Plan choices (Abaluck and Gruber)</a:t>
            </a:r>
          </a:p>
        </p:txBody>
      </p:sp>
      <p:pic>
        <p:nvPicPr>
          <p:cNvPr id="9" name="Picture 8">
            <a:extLst>
              <a:ext uri="{FF2B5EF4-FFF2-40B4-BE49-F238E27FC236}">
                <a16:creationId xmlns:a16="http://schemas.microsoft.com/office/drawing/2014/main" id="{0723D9E2-E63B-4D97-CA90-C0A6FBB87030}"/>
              </a:ext>
            </a:extLst>
          </p:cNvPr>
          <p:cNvPicPr>
            <a:picLocks noChangeAspect="1"/>
          </p:cNvPicPr>
          <p:nvPr/>
        </p:nvPicPr>
        <p:blipFill>
          <a:blip r:embed="rId3"/>
          <a:stretch>
            <a:fillRect/>
          </a:stretch>
        </p:blipFill>
        <p:spPr>
          <a:xfrm>
            <a:off x="6477000" y="3402904"/>
            <a:ext cx="4368925" cy="3099419"/>
          </a:xfrm>
          <a:prstGeom prst="rect">
            <a:avLst/>
          </a:prstGeom>
        </p:spPr>
      </p:pic>
    </p:spTree>
    <p:extLst>
      <p:ext uri="{BB962C8B-B14F-4D97-AF65-F5344CB8AC3E}">
        <p14:creationId xmlns:p14="http://schemas.microsoft.com/office/powerpoint/2010/main" val="31250921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8"/>
            <a:ext cx="10058400" cy="624840"/>
          </a:xfrm>
        </p:spPr>
        <p:txBody>
          <a:bodyPr>
            <a:normAutofit fontScale="90000"/>
          </a:bodyPr>
          <a:lstStyle/>
          <a:p>
            <a:r>
              <a:rPr lang="en-US" dirty="0">
                <a:solidFill>
                  <a:schemeClr val="accent2">
                    <a:lumMod val="75000"/>
                  </a:schemeClr>
                </a:solidFill>
                <a:cs typeface="Times New Roman" panose="02020603050405020304" pitchFamily="18" charset="0"/>
              </a:rPr>
              <a:t>Last time: Individual Health Behaviors</a:t>
            </a:r>
            <a:endParaRPr lang="en-US"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D52D31A3-19BE-0C56-23AB-F009C1779EED}"/>
              </a:ext>
            </a:extLst>
          </p:cNvPr>
          <p:cNvSpPr txBox="1">
            <a:spLocks/>
          </p:cNvSpPr>
          <p:nvPr/>
        </p:nvSpPr>
        <p:spPr>
          <a:xfrm>
            <a:off x="876300" y="929575"/>
            <a:ext cx="10439400" cy="2154348"/>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r>
              <a:rPr lang="en-US" sz="2400" dirty="0">
                <a:cs typeface="Times New Roman" panose="02020603050405020304" pitchFamily="18" charset="0"/>
              </a:rPr>
              <a:t>Patients act weird! How should we think about this positively? Normatively?</a:t>
            </a:r>
          </a:p>
          <a:p>
            <a:r>
              <a:rPr lang="en-US" sz="2400" dirty="0">
                <a:cs typeface="Times New Roman" panose="02020603050405020304" pitchFamily="18" charset="0"/>
              </a:rPr>
              <a:t>How to write a “niche” model </a:t>
            </a:r>
          </a:p>
          <a:p>
            <a:r>
              <a:rPr lang="en-US" sz="2400" dirty="0">
                <a:cs typeface="Times New Roman" panose="02020603050405020304" pitchFamily="18" charset="0"/>
              </a:rPr>
              <a:t>3 Core Examples:</a:t>
            </a:r>
          </a:p>
          <a:p>
            <a:pPr lvl="1"/>
            <a:r>
              <a:rPr lang="en-US" sz="2200" dirty="0">
                <a:cs typeface="Times New Roman" panose="02020603050405020304" pitchFamily="18" charset="0"/>
              </a:rPr>
              <a:t>Addiction (Becker and Murphy)</a:t>
            </a:r>
          </a:p>
          <a:p>
            <a:pPr lvl="1"/>
            <a:r>
              <a:rPr lang="en-US" sz="2200" dirty="0">
                <a:cs typeface="Times New Roman" panose="02020603050405020304" pitchFamily="18" charset="0"/>
              </a:rPr>
              <a:t>Screening/Preventive care decisions (Oster et al.) </a:t>
            </a:r>
          </a:p>
          <a:p>
            <a:pPr lvl="1"/>
            <a:r>
              <a:rPr lang="en-US" sz="2200" dirty="0">
                <a:cs typeface="Times New Roman" panose="02020603050405020304" pitchFamily="18" charset="0"/>
              </a:rPr>
              <a:t>Plan choices (Abaluck and Gruber)</a:t>
            </a:r>
          </a:p>
          <a:p>
            <a:endParaRPr lang="en-US" sz="2400" dirty="0">
              <a:cs typeface="Times New Roman" panose="02020603050405020304" pitchFamily="18" charset="0"/>
            </a:endParaRPr>
          </a:p>
        </p:txBody>
      </p:sp>
      <p:sp>
        <p:nvSpPr>
          <p:cNvPr id="3" name="Title 1">
            <a:extLst>
              <a:ext uri="{FF2B5EF4-FFF2-40B4-BE49-F238E27FC236}">
                <a16:creationId xmlns:a16="http://schemas.microsoft.com/office/drawing/2014/main" id="{8B00CFD6-47D4-A5ED-8B83-09DCEAB85E25}"/>
              </a:ext>
            </a:extLst>
          </p:cNvPr>
          <p:cNvSpPr txBox="1">
            <a:spLocks/>
          </p:cNvSpPr>
          <p:nvPr/>
        </p:nvSpPr>
        <p:spPr>
          <a:xfrm>
            <a:off x="597074" y="3581400"/>
            <a:ext cx="8851726" cy="624840"/>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r>
              <a:rPr lang="en-US" dirty="0">
                <a:solidFill>
                  <a:schemeClr val="accent2">
                    <a:lumMod val="75000"/>
                  </a:schemeClr>
                </a:solidFill>
                <a:cs typeface="Times New Roman" panose="02020603050405020304" pitchFamily="18" charset="0"/>
              </a:rPr>
              <a:t>This time: Behavioral Health Economics</a:t>
            </a:r>
          </a:p>
        </p:txBody>
      </p:sp>
      <p:sp>
        <p:nvSpPr>
          <p:cNvPr id="4" name="Content Placeholder 2">
            <a:extLst>
              <a:ext uri="{FF2B5EF4-FFF2-40B4-BE49-F238E27FC236}">
                <a16:creationId xmlns:a16="http://schemas.microsoft.com/office/drawing/2014/main" id="{503F776D-A7DB-4AED-9B16-D81631B561AC}"/>
              </a:ext>
            </a:extLst>
          </p:cNvPr>
          <p:cNvSpPr txBox="1">
            <a:spLocks/>
          </p:cNvSpPr>
          <p:nvPr/>
        </p:nvSpPr>
        <p:spPr>
          <a:xfrm>
            <a:off x="609600" y="4114800"/>
            <a:ext cx="10439400" cy="1661225"/>
          </a:xfrm>
          <a:prstGeom prst="rect">
            <a:avLst/>
          </a:prstGeom>
        </p:spPr>
        <p:txBody>
          <a:bodyPr vert="horz" lIns="91440" tIns="45720" rIns="91440" bIns="45720" rtlCol="0">
            <a:no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r>
              <a:rPr lang="en-US" sz="2400" dirty="0">
                <a:cs typeface="Times New Roman" panose="02020603050405020304" pitchFamily="18" charset="0"/>
              </a:rPr>
              <a:t>Departures from “rational agent” models</a:t>
            </a:r>
          </a:p>
          <a:p>
            <a:r>
              <a:rPr lang="en-US" sz="2400" dirty="0">
                <a:cs typeface="Times New Roman" panose="02020603050405020304" pitchFamily="18" charset="0"/>
              </a:rPr>
              <a:t>Applications to: </a:t>
            </a:r>
          </a:p>
          <a:p>
            <a:pPr lvl="1"/>
            <a:r>
              <a:rPr lang="en-US" sz="2000" dirty="0">
                <a:cs typeface="Times New Roman" panose="02020603050405020304" pitchFamily="18" charset="0"/>
              </a:rPr>
              <a:t>Health behaviors (diet, exercise, addiction)</a:t>
            </a:r>
          </a:p>
          <a:p>
            <a:pPr lvl="1"/>
            <a:r>
              <a:rPr lang="en-US" sz="2000" dirty="0">
                <a:cs typeface="Times New Roman" panose="02020603050405020304" pitchFamily="18" charset="0"/>
              </a:rPr>
              <a:t>End-of-life care and other treatments (as well as </a:t>
            </a:r>
            <a:r>
              <a:rPr lang="en-US" sz="2000" b="1" dirty="0">
                <a:cs typeface="Times New Roman" panose="02020603050405020304" pitchFamily="18" charset="0"/>
              </a:rPr>
              <a:t>adherence</a:t>
            </a:r>
            <a:r>
              <a:rPr lang="en-US" sz="2000" dirty="0">
                <a:cs typeface="Times New Roman" panose="02020603050405020304" pitchFamily="18" charset="0"/>
              </a:rPr>
              <a:t>)</a:t>
            </a:r>
          </a:p>
          <a:p>
            <a:pPr lvl="1"/>
            <a:r>
              <a:rPr lang="en-US" sz="2000" dirty="0">
                <a:cs typeface="Times New Roman" panose="02020603050405020304" pitchFamily="18" charset="0"/>
              </a:rPr>
              <a:t>Insurance choice</a:t>
            </a:r>
          </a:p>
          <a:p>
            <a:pPr lvl="1"/>
            <a:r>
              <a:rPr lang="en-US" sz="2000" b="1" u="sng" dirty="0">
                <a:cs typeface="Times New Roman" panose="02020603050405020304" pitchFamily="18" charset="0"/>
              </a:rPr>
              <a:t>Provider treatment decisions, responses to incentives (nudges), use of information </a:t>
            </a:r>
          </a:p>
          <a:p>
            <a:pPr lvl="1"/>
            <a:endParaRPr lang="en-US" sz="2000" dirty="0">
              <a:cs typeface="Times New Roman" panose="02020603050405020304" pitchFamily="18" charset="0"/>
            </a:endParaRPr>
          </a:p>
        </p:txBody>
      </p:sp>
    </p:spTree>
    <p:extLst>
      <p:ext uri="{BB962C8B-B14F-4D97-AF65-F5344CB8AC3E}">
        <p14:creationId xmlns:p14="http://schemas.microsoft.com/office/powerpoint/2010/main" val="5658541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7"/>
            <a:ext cx="10439400" cy="624840"/>
          </a:xfrm>
        </p:spPr>
        <p:txBody>
          <a:bodyPr>
            <a:noAutofit/>
          </a:bodyPr>
          <a:lstStyle/>
          <a:p>
            <a:r>
              <a:rPr lang="en-US" sz="3600" dirty="0">
                <a:cs typeface="Times New Roman" panose="02020603050405020304" pitchFamily="18" charset="0"/>
              </a:rPr>
              <a:t>What makes a model “Behavioral”?</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1" y="1066801"/>
            <a:ext cx="10439400" cy="5141388"/>
          </a:xfrm>
        </p:spPr>
        <p:txBody>
          <a:bodyPr>
            <a:noAutofit/>
          </a:bodyPr>
          <a:lstStyle/>
          <a:p>
            <a:pPr marL="0" indent="0">
              <a:spcAft>
                <a:spcPts val="400"/>
              </a:spcAft>
              <a:buNone/>
              <a:defRPr/>
            </a:pPr>
            <a:r>
              <a:rPr lang="en-US" sz="2400" dirty="0"/>
              <a:t>Neoclassical models can be restrictive: </a:t>
            </a:r>
          </a:p>
          <a:p>
            <a:pPr marL="457200" indent="-457200">
              <a:spcAft>
                <a:spcPts val="400"/>
              </a:spcAft>
              <a:buFont typeface="+mj-lt"/>
              <a:buAutoNum type="arabicPeriod"/>
              <a:defRPr/>
            </a:pPr>
            <a:r>
              <a:rPr lang="en-US" sz="2400" dirty="0"/>
              <a:t>Economic agents are assumed to be perfectly rational</a:t>
            </a:r>
          </a:p>
          <a:p>
            <a:pPr marL="457200" indent="-457200">
              <a:spcAft>
                <a:spcPts val="400"/>
              </a:spcAft>
              <a:buFont typeface="+mj-lt"/>
              <a:buAutoNum type="arabicPeriod"/>
              <a:defRPr/>
            </a:pPr>
            <a:r>
              <a:rPr lang="en-US" sz="2400" dirty="0"/>
              <a:t>Agents are assumed to perfectly understand risk and uncertainty</a:t>
            </a:r>
          </a:p>
          <a:p>
            <a:pPr marL="457200" indent="-457200">
              <a:spcAft>
                <a:spcPts val="400"/>
              </a:spcAft>
              <a:buFont typeface="+mj-lt"/>
              <a:buAutoNum type="arabicPeriod"/>
              <a:defRPr/>
            </a:pPr>
            <a:r>
              <a:rPr lang="en-US" sz="2400" dirty="0"/>
              <a:t>Agents are assumed to be “self-interested”</a:t>
            </a:r>
          </a:p>
          <a:p>
            <a:pPr marL="0" indent="0">
              <a:spcAft>
                <a:spcPts val="400"/>
              </a:spcAft>
              <a:buNone/>
              <a:defRPr/>
            </a:pPr>
            <a:r>
              <a:rPr lang="en-US" sz="2400" dirty="0"/>
              <a:t>In reality, these are </a:t>
            </a:r>
            <a:r>
              <a:rPr lang="en-US" sz="2400" b="1" dirty="0">
                <a:solidFill>
                  <a:schemeClr val="accent2">
                    <a:lumMod val="75000"/>
                  </a:schemeClr>
                </a:solidFill>
              </a:rPr>
              <a:t>rarely true!</a:t>
            </a:r>
          </a:p>
          <a:p>
            <a:endParaRPr lang="en-US" sz="2400" dirty="0"/>
          </a:p>
          <a:p>
            <a:pPr lvl="1"/>
            <a:endParaRPr lang="en-US" sz="2200" dirty="0">
              <a:cs typeface="Times New Roman" panose="02020603050405020304" pitchFamily="18" charset="0"/>
            </a:endParaRPr>
          </a:p>
        </p:txBody>
      </p:sp>
    </p:spTree>
    <p:extLst>
      <p:ext uri="{BB962C8B-B14F-4D97-AF65-F5344CB8AC3E}">
        <p14:creationId xmlns:p14="http://schemas.microsoft.com/office/powerpoint/2010/main" val="32890477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7"/>
            <a:ext cx="10439400" cy="624840"/>
          </a:xfrm>
        </p:spPr>
        <p:txBody>
          <a:bodyPr>
            <a:noAutofit/>
          </a:bodyPr>
          <a:lstStyle/>
          <a:p>
            <a:r>
              <a:rPr lang="en-US" sz="3600" dirty="0">
                <a:cs typeface="Times New Roman" panose="02020603050405020304" pitchFamily="18" charset="0"/>
              </a:rPr>
              <a:t>What makes a model “Behavioral”?</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1" y="1066801"/>
            <a:ext cx="10439400" cy="5141388"/>
          </a:xfrm>
        </p:spPr>
        <p:txBody>
          <a:bodyPr>
            <a:noAutofit/>
          </a:bodyPr>
          <a:lstStyle/>
          <a:p>
            <a:pPr marL="0" indent="0">
              <a:spcAft>
                <a:spcPts val="400"/>
              </a:spcAft>
              <a:buNone/>
              <a:defRPr/>
            </a:pPr>
            <a:r>
              <a:rPr lang="en-US" sz="2400" dirty="0"/>
              <a:t>Neoclassical models can be restrictive: </a:t>
            </a:r>
          </a:p>
          <a:p>
            <a:pPr marL="457200" indent="-457200">
              <a:spcAft>
                <a:spcPts val="400"/>
              </a:spcAft>
              <a:buFont typeface="+mj-lt"/>
              <a:buAutoNum type="arabicPeriod"/>
              <a:defRPr/>
            </a:pPr>
            <a:r>
              <a:rPr lang="en-US" sz="2400" dirty="0"/>
              <a:t>Economic agents are assumed to be perfectly rational</a:t>
            </a:r>
          </a:p>
          <a:p>
            <a:pPr marL="457200" indent="-457200">
              <a:spcAft>
                <a:spcPts val="400"/>
              </a:spcAft>
              <a:buFont typeface="+mj-lt"/>
              <a:buAutoNum type="arabicPeriod"/>
              <a:defRPr/>
            </a:pPr>
            <a:r>
              <a:rPr lang="en-US" sz="2400" dirty="0"/>
              <a:t>Agents are assumed to perfectly understand risk and uncertainty</a:t>
            </a:r>
          </a:p>
          <a:p>
            <a:pPr marL="457200" indent="-457200">
              <a:spcAft>
                <a:spcPts val="400"/>
              </a:spcAft>
              <a:buFont typeface="+mj-lt"/>
              <a:buAutoNum type="arabicPeriod"/>
              <a:defRPr/>
            </a:pPr>
            <a:r>
              <a:rPr lang="en-US" sz="2400" dirty="0"/>
              <a:t>Agents are assumed to be “self-interested”</a:t>
            </a:r>
          </a:p>
          <a:p>
            <a:pPr marL="0" indent="0">
              <a:spcAft>
                <a:spcPts val="400"/>
              </a:spcAft>
              <a:buNone/>
              <a:defRPr/>
            </a:pPr>
            <a:r>
              <a:rPr lang="en-US" sz="2400" dirty="0"/>
              <a:t>In reality, these are </a:t>
            </a:r>
            <a:r>
              <a:rPr lang="en-US" sz="2400" b="1" dirty="0">
                <a:solidFill>
                  <a:schemeClr val="accent2">
                    <a:lumMod val="75000"/>
                  </a:schemeClr>
                </a:solidFill>
              </a:rPr>
              <a:t>rarely true!</a:t>
            </a:r>
          </a:p>
          <a:p>
            <a:pPr marL="0" indent="0">
              <a:spcAft>
                <a:spcPts val="400"/>
              </a:spcAft>
              <a:buNone/>
              <a:defRPr/>
            </a:pPr>
            <a:r>
              <a:rPr lang="en-US" sz="2400" b="1" dirty="0"/>
              <a:t>Behavioral economics</a:t>
            </a:r>
            <a:r>
              <a:rPr lang="en-US" sz="2400" dirty="0"/>
              <a:t> incorporates insights from human psychology into models of economic behavior</a:t>
            </a:r>
          </a:p>
          <a:p>
            <a:pPr lvl="1"/>
            <a:endParaRPr lang="en-US" sz="2200" dirty="0">
              <a:cs typeface="Times New Roman" panose="02020603050405020304" pitchFamily="18" charset="0"/>
            </a:endParaRPr>
          </a:p>
        </p:txBody>
      </p:sp>
    </p:spTree>
    <p:extLst>
      <p:ext uri="{BB962C8B-B14F-4D97-AF65-F5344CB8AC3E}">
        <p14:creationId xmlns:p14="http://schemas.microsoft.com/office/powerpoint/2010/main" val="13367153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7"/>
            <a:ext cx="10439400" cy="624840"/>
          </a:xfrm>
        </p:spPr>
        <p:txBody>
          <a:bodyPr>
            <a:noAutofit/>
          </a:bodyPr>
          <a:lstStyle/>
          <a:p>
            <a:r>
              <a:rPr lang="en-US" sz="3600" dirty="0">
                <a:cs typeface="Times New Roman" panose="02020603050405020304" pitchFamily="18" charset="0"/>
              </a:rPr>
              <a:t>What makes a model “Behavioral”?</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1" y="1066801"/>
            <a:ext cx="10439400" cy="5141388"/>
          </a:xfrm>
        </p:spPr>
        <p:txBody>
          <a:bodyPr>
            <a:noAutofit/>
          </a:bodyPr>
          <a:lstStyle/>
          <a:p>
            <a:pPr lvl="1"/>
            <a:endParaRPr lang="en-US" sz="2200" dirty="0">
              <a:cs typeface="Times New Roman" panose="02020603050405020304" pitchFamily="18" charset="0"/>
            </a:endParaRPr>
          </a:p>
        </p:txBody>
      </p:sp>
      <p:pic>
        <p:nvPicPr>
          <p:cNvPr id="1026" name="Picture 2" descr="What is Behavioral Economics? - Irrational Labs">
            <a:extLst>
              <a:ext uri="{FF2B5EF4-FFF2-40B4-BE49-F238E27FC236}">
                <a16:creationId xmlns:a16="http://schemas.microsoft.com/office/drawing/2014/main" id="{1266B32B-0075-C05B-397B-C809B0B8AD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066801"/>
            <a:ext cx="9365601" cy="48942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76528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0" y="1066800"/>
            <a:ext cx="10134600" cy="5257800"/>
          </a:xfrm>
        </p:spPr>
        <p:txBody>
          <a:bodyPr>
            <a:normAutofit/>
          </a:bodyPr>
          <a:lstStyle/>
          <a:p>
            <a:r>
              <a:rPr lang="en-US" sz="2400" dirty="0"/>
              <a:t>You are in charge of a pandemic response: </a:t>
            </a:r>
          </a:p>
          <a:p>
            <a:pPr lvl="1"/>
            <a:r>
              <a:rPr lang="en-US" sz="2200" dirty="0"/>
              <a:t>Your best estimate is that 600 will die if no action is taken. </a:t>
            </a:r>
          </a:p>
          <a:p>
            <a:r>
              <a:rPr lang="en-US" sz="2400" dirty="0"/>
              <a:t>You are given a choice between 2 programs to address the crisis:</a:t>
            </a:r>
          </a:p>
          <a:p>
            <a:pPr lvl="1" indent="0">
              <a:buNone/>
            </a:pPr>
            <a:endParaRPr lang="en-US" sz="2400" dirty="0"/>
          </a:p>
        </p:txBody>
      </p:sp>
      <p:sp>
        <p:nvSpPr>
          <p:cNvPr id="5" name="Title 1">
            <a:extLst>
              <a:ext uri="{FF2B5EF4-FFF2-40B4-BE49-F238E27FC236}">
                <a16:creationId xmlns:a16="http://schemas.microsoft.com/office/drawing/2014/main" id="{2B89ED87-4843-2948-A235-EAE4FD63B58C}"/>
              </a:ext>
            </a:extLst>
          </p:cNvPr>
          <p:cNvSpPr txBox="1">
            <a:spLocks/>
          </p:cNvSpPr>
          <p:nvPr/>
        </p:nvSpPr>
        <p:spPr>
          <a:xfrm>
            <a:off x="609600" y="272077"/>
            <a:ext cx="10439400" cy="6248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r>
              <a:rPr lang="en-US" sz="3600" dirty="0">
                <a:cs typeface="Times New Roman" panose="02020603050405020304" pitchFamily="18" charset="0"/>
              </a:rPr>
              <a:t>Example Exercise: Pandemic Responses</a:t>
            </a:r>
          </a:p>
        </p:txBody>
      </p:sp>
      <p:sp>
        <p:nvSpPr>
          <p:cNvPr id="7" name="TextBox 6">
            <a:extLst>
              <a:ext uri="{FF2B5EF4-FFF2-40B4-BE49-F238E27FC236}">
                <a16:creationId xmlns:a16="http://schemas.microsoft.com/office/drawing/2014/main" id="{83570AA9-FBAD-AFDD-B124-4B4471BAFAF8}"/>
              </a:ext>
            </a:extLst>
          </p:cNvPr>
          <p:cNvSpPr txBox="1"/>
          <p:nvPr/>
        </p:nvSpPr>
        <p:spPr>
          <a:xfrm>
            <a:off x="381000" y="2572663"/>
            <a:ext cx="6934200" cy="2031325"/>
          </a:xfrm>
          <a:prstGeom prst="rect">
            <a:avLst/>
          </a:prstGeom>
          <a:solidFill>
            <a:schemeClr val="accent2">
              <a:lumMod val="75000"/>
            </a:schemeClr>
          </a:solidFill>
          <a:ln>
            <a:solidFill>
              <a:schemeClr val="accent1">
                <a:lumMod val="75000"/>
              </a:schemeClr>
            </a:solidFill>
          </a:ln>
        </p:spPr>
        <p:txBody>
          <a:bodyPr wrap="square" rtlCol="0">
            <a:spAutoFit/>
          </a:bodyPr>
          <a:lstStyle/>
          <a:p>
            <a:pPr marL="0" indent="0">
              <a:buNone/>
            </a:pPr>
            <a:r>
              <a:rPr lang="en-US" b="1" dirty="0">
                <a:solidFill>
                  <a:schemeClr val="bg1"/>
                </a:solidFill>
              </a:rPr>
              <a:t>Program 1:</a:t>
            </a:r>
          </a:p>
          <a:p>
            <a:pPr marL="285750" indent="-285750">
              <a:buFont typeface="Arial" panose="020B0604020202020204" pitchFamily="34" charset="0"/>
              <a:buChar char="•"/>
            </a:pPr>
            <a:r>
              <a:rPr lang="en-US" dirty="0">
                <a:solidFill>
                  <a:schemeClr val="bg1"/>
                </a:solidFill>
              </a:rPr>
              <a:t>Response A will save 200 people.</a:t>
            </a:r>
          </a:p>
          <a:p>
            <a:pPr marL="285750" indent="-285750">
              <a:buFont typeface="Arial" panose="020B0604020202020204" pitchFamily="34" charset="0"/>
              <a:buChar char="•"/>
            </a:pPr>
            <a:r>
              <a:rPr lang="en-US" dirty="0">
                <a:solidFill>
                  <a:schemeClr val="bg1"/>
                </a:solidFill>
              </a:rPr>
              <a:t>Response B is risky. It has a 1/3 chance to save all 600 people but a 2/3 chance to save no one.</a:t>
            </a:r>
          </a:p>
          <a:p>
            <a:pPr marL="285750" indent="-285750">
              <a:buFont typeface="Arial" panose="020B0604020202020204" pitchFamily="34" charset="0"/>
              <a:buChar char="•"/>
            </a:pPr>
            <a:endParaRPr lang="en-US" dirty="0">
              <a:solidFill>
                <a:schemeClr val="bg1"/>
              </a:solidFill>
            </a:endParaRPr>
          </a:p>
          <a:p>
            <a:pPr marL="0" indent="0">
              <a:buNone/>
            </a:pPr>
            <a:r>
              <a:rPr lang="en-US" i="1" dirty="0">
                <a:solidFill>
                  <a:schemeClr val="bg1"/>
                </a:solidFill>
              </a:rPr>
              <a:t>Which do you choose?</a:t>
            </a:r>
          </a:p>
          <a:p>
            <a:endParaRPr lang="en-US" dirty="0">
              <a:solidFill>
                <a:schemeClr val="bg1"/>
              </a:solidFill>
            </a:endParaRPr>
          </a:p>
        </p:txBody>
      </p:sp>
    </p:spTree>
    <p:extLst>
      <p:ext uri="{BB962C8B-B14F-4D97-AF65-F5344CB8AC3E}">
        <p14:creationId xmlns:p14="http://schemas.microsoft.com/office/powerpoint/2010/main" val="19556996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0" y="1066800"/>
            <a:ext cx="10134600" cy="5257800"/>
          </a:xfrm>
        </p:spPr>
        <p:txBody>
          <a:bodyPr>
            <a:normAutofit/>
          </a:bodyPr>
          <a:lstStyle/>
          <a:p>
            <a:r>
              <a:rPr lang="en-US" sz="2400" dirty="0"/>
              <a:t>You are in charge of a pandemic response: </a:t>
            </a:r>
          </a:p>
          <a:p>
            <a:pPr lvl="1"/>
            <a:r>
              <a:rPr lang="en-US" sz="2200" dirty="0"/>
              <a:t>Your best estimate is that 600 will die if no action is taken. </a:t>
            </a:r>
          </a:p>
          <a:p>
            <a:r>
              <a:rPr lang="en-US" sz="2400" dirty="0"/>
              <a:t>You are given a choice between 2 programs to address the crisis:</a:t>
            </a:r>
          </a:p>
          <a:p>
            <a:pPr lvl="1" indent="0">
              <a:buNone/>
            </a:pPr>
            <a:endParaRPr lang="en-US" sz="2400" dirty="0"/>
          </a:p>
        </p:txBody>
      </p:sp>
      <p:sp>
        <p:nvSpPr>
          <p:cNvPr id="5" name="Title 1">
            <a:extLst>
              <a:ext uri="{FF2B5EF4-FFF2-40B4-BE49-F238E27FC236}">
                <a16:creationId xmlns:a16="http://schemas.microsoft.com/office/drawing/2014/main" id="{2B89ED87-4843-2948-A235-EAE4FD63B58C}"/>
              </a:ext>
            </a:extLst>
          </p:cNvPr>
          <p:cNvSpPr txBox="1">
            <a:spLocks/>
          </p:cNvSpPr>
          <p:nvPr/>
        </p:nvSpPr>
        <p:spPr>
          <a:xfrm>
            <a:off x="609600" y="272077"/>
            <a:ext cx="10439400" cy="6248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r>
              <a:rPr lang="en-US" sz="3600" dirty="0">
                <a:cs typeface="Times New Roman" panose="02020603050405020304" pitchFamily="18" charset="0"/>
              </a:rPr>
              <a:t>Example Exercise: Pandemic Responses</a:t>
            </a:r>
          </a:p>
        </p:txBody>
      </p:sp>
      <p:sp>
        <p:nvSpPr>
          <p:cNvPr id="9" name="TextBox 8">
            <a:extLst>
              <a:ext uri="{FF2B5EF4-FFF2-40B4-BE49-F238E27FC236}">
                <a16:creationId xmlns:a16="http://schemas.microsoft.com/office/drawing/2014/main" id="{F37FA88E-416E-8613-EFD8-6D0083542850}"/>
              </a:ext>
            </a:extLst>
          </p:cNvPr>
          <p:cNvSpPr txBox="1"/>
          <p:nvPr/>
        </p:nvSpPr>
        <p:spPr>
          <a:xfrm>
            <a:off x="5586608" y="4779384"/>
            <a:ext cx="5469699" cy="2023631"/>
          </a:xfrm>
          <a:prstGeom prst="rect">
            <a:avLst/>
          </a:prstGeom>
          <a:solidFill>
            <a:schemeClr val="accent3">
              <a:lumMod val="75000"/>
            </a:schemeClr>
          </a:solidFill>
          <a:ln>
            <a:solidFill>
              <a:schemeClr val="accent1">
                <a:lumMod val="75000"/>
              </a:schemeClr>
            </a:solidFill>
          </a:ln>
        </p:spPr>
        <p:txBody>
          <a:bodyPr wrap="square" rtlCol="0">
            <a:spAutoFit/>
          </a:bodyPr>
          <a:lstStyle/>
          <a:p>
            <a:pPr marL="0" marR="0" lvl="0" indent="0" algn="l" defTabSz="914400" rtl="0" eaLnBrk="1" fontAlgn="auto" latinLnBrk="0" hangingPunct="1">
              <a:lnSpc>
                <a:spcPct val="95000"/>
              </a:lnSpc>
              <a:spcBef>
                <a:spcPts val="1400"/>
              </a:spcBef>
              <a:spcAft>
                <a:spcPts val="200"/>
              </a:spcAft>
              <a:buClr>
                <a:srgbClr val="6F6F74"/>
              </a:buClr>
              <a:buSzPct val="80000"/>
              <a:buFont typeface="Arial" pitchFamily="34" charset="0"/>
              <a:buNone/>
              <a:tabLst/>
              <a:defRPr/>
            </a:pPr>
            <a:r>
              <a:rPr kumimoji="0" lang="en-US" sz="1800" b="1" i="0" u="none" strike="noStrike" kern="1200" cap="none" spc="10" normalizeH="0" baseline="0" noProof="0" dirty="0">
                <a:ln>
                  <a:noFill/>
                </a:ln>
                <a:solidFill>
                  <a:schemeClr val="bg1"/>
                </a:solidFill>
                <a:effectLst/>
                <a:uLnTx/>
                <a:uFillTx/>
                <a:latin typeface="Times New Roman" panose="02020603050405020304" pitchFamily="18" charset="0"/>
                <a:ea typeface="+mn-ea"/>
                <a:cs typeface="+mn-cs"/>
              </a:rPr>
              <a:t>Program 2</a:t>
            </a:r>
          </a:p>
          <a:p>
            <a:pPr marL="285750" marR="0" lvl="0" indent="-285750" algn="l" defTabSz="914400" rtl="0" eaLnBrk="1" fontAlgn="auto" latinLnBrk="0" hangingPunct="1">
              <a:lnSpc>
                <a:spcPct val="95000"/>
              </a:lnSpc>
              <a:spcBef>
                <a:spcPts val="1400"/>
              </a:spcBef>
              <a:spcAft>
                <a:spcPts val="200"/>
              </a:spcAft>
              <a:buClr>
                <a:srgbClr val="6F6F74"/>
              </a:buClr>
              <a:buSzPct val="80000"/>
              <a:buFont typeface="Arial" panose="020B0604020202020204" pitchFamily="34" charset="0"/>
              <a:buChar char="•"/>
              <a:tabLst/>
              <a:defRPr/>
            </a:pPr>
            <a:r>
              <a:rPr kumimoji="0" lang="en-US" sz="1800" b="0" i="0" u="none" strike="noStrike" kern="1200" cap="none" spc="10" normalizeH="0" baseline="0" noProof="0" dirty="0">
                <a:ln>
                  <a:noFill/>
                </a:ln>
                <a:solidFill>
                  <a:schemeClr val="bg1"/>
                </a:solidFill>
                <a:effectLst/>
                <a:uLnTx/>
                <a:uFillTx/>
                <a:latin typeface="Times New Roman" panose="02020603050405020304" pitchFamily="18" charset="0"/>
                <a:ea typeface="+mn-ea"/>
                <a:cs typeface="+mn-cs"/>
              </a:rPr>
              <a:t>Response C 400 people will die for certain.</a:t>
            </a:r>
          </a:p>
          <a:p>
            <a:pPr marL="285750" marR="0" lvl="0" indent="-285750" algn="l" defTabSz="914400" rtl="0" eaLnBrk="1" fontAlgn="auto" latinLnBrk="0" hangingPunct="1">
              <a:lnSpc>
                <a:spcPct val="95000"/>
              </a:lnSpc>
              <a:spcBef>
                <a:spcPts val="1400"/>
              </a:spcBef>
              <a:spcAft>
                <a:spcPts val="200"/>
              </a:spcAft>
              <a:buClr>
                <a:srgbClr val="6F6F74"/>
              </a:buClr>
              <a:buSzPct val="80000"/>
              <a:buFont typeface="Arial" panose="020B0604020202020204" pitchFamily="34" charset="0"/>
              <a:buChar char="•"/>
              <a:tabLst/>
              <a:defRPr/>
            </a:pPr>
            <a:r>
              <a:rPr kumimoji="0" lang="en-US" sz="1800" b="0" i="0" u="none" strike="noStrike" kern="1200" cap="none" spc="10" normalizeH="0" baseline="0" noProof="0" dirty="0">
                <a:ln>
                  <a:noFill/>
                </a:ln>
                <a:solidFill>
                  <a:schemeClr val="bg1"/>
                </a:solidFill>
                <a:effectLst/>
                <a:uLnTx/>
                <a:uFillTx/>
                <a:latin typeface="Times New Roman" panose="02020603050405020304" pitchFamily="18" charset="0"/>
                <a:ea typeface="+mn-ea"/>
                <a:cs typeface="+mn-cs"/>
              </a:rPr>
              <a:t>Response D there is a 1/3 chance that no one will die and a 2/3 chance that everyone will die.  </a:t>
            </a:r>
          </a:p>
          <a:p>
            <a:pPr marL="0" marR="0" lvl="0" indent="0" algn="l" defTabSz="914400" rtl="0" eaLnBrk="1" fontAlgn="auto" latinLnBrk="0" hangingPunct="1">
              <a:lnSpc>
                <a:spcPct val="95000"/>
              </a:lnSpc>
              <a:spcBef>
                <a:spcPts val="1400"/>
              </a:spcBef>
              <a:spcAft>
                <a:spcPts val="200"/>
              </a:spcAft>
              <a:buClr>
                <a:srgbClr val="6F6F74"/>
              </a:buClr>
              <a:buSzPct val="80000"/>
              <a:buFont typeface="Arial" pitchFamily="34" charset="0"/>
              <a:buNone/>
              <a:tabLst/>
              <a:defRPr/>
            </a:pPr>
            <a:r>
              <a:rPr kumimoji="0" lang="en-US" sz="1800" b="0" i="1" u="none" strike="noStrike" kern="1200" cap="none" spc="10" normalizeH="0" baseline="0" noProof="0" dirty="0">
                <a:ln>
                  <a:noFill/>
                </a:ln>
                <a:solidFill>
                  <a:schemeClr val="bg1"/>
                </a:solidFill>
                <a:effectLst/>
                <a:uLnTx/>
                <a:uFillTx/>
                <a:latin typeface="Times New Roman" panose="02020603050405020304" pitchFamily="18" charset="0"/>
                <a:ea typeface="+mn-ea"/>
                <a:cs typeface="+mn-cs"/>
              </a:rPr>
              <a:t>Which do you choose?</a:t>
            </a:r>
          </a:p>
        </p:txBody>
      </p:sp>
    </p:spTree>
    <p:extLst>
      <p:ext uri="{BB962C8B-B14F-4D97-AF65-F5344CB8AC3E}">
        <p14:creationId xmlns:p14="http://schemas.microsoft.com/office/powerpoint/2010/main" val="28137247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0" y="1066800"/>
            <a:ext cx="10134600" cy="5257800"/>
          </a:xfrm>
        </p:spPr>
        <p:txBody>
          <a:bodyPr>
            <a:normAutofit/>
          </a:bodyPr>
          <a:lstStyle/>
          <a:p>
            <a:r>
              <a:rPr lang="en-US" sz="2400" dirty="0"/>
              <a:t>Consistent response was A and C, or B and D (only </a:t>
            </a:r>
            <a:r>
              <a:rPr lang="en-US" sz="2400" b="1" dirty="0">
                <a:solidFill>
                  <a:schemeClr val="accent3">
                    <a:lumMod val="75000"/>
                  </a:schemeClr>
                </a:solidFill>
              </a:rPr>
              <a:t>framing</a:t>
            </a:r>
            <a:r>
              <a:rPr lang="en-US" sz="2400" b="1" dirty="0"/>
              <a:t> </a:t>
            </a:r>
            <a:r>
              <a:rPr lang="en-US" sz="2400" dirty="0"/>
              <a:t>is different)</a:t>
            </a:r>
          </a:p>
          <a:p>
            <a:r>
              <a:rPr lang="en-US" sz="2400" dirty="0"/>
              <a:t>Experimental responses: 73% picked response A for program 1 while 78% choose response D for program 2. </a:t>
            </a:r>
            <a:r>
              <a:rPr lang="en-US" sz="2400" b="1" u="sng" dirty="0">
                <a:solidFill>
                  <a:schemeClr val="accent3">
                    <a:lumMod val="75000"/>
                  </a:schemeClr>
                </a:solidFill>
              </a:rPr>
              <a:t>Why?</a:t>
            </a:r>
          </a:p>
          <a:p>
            <a:pPr lvl="1" indent="0">
              <a:buNone/>
            </a:pPr>
            <a:endParaRPr lang="en-US" sz="2400" dirty="0"/>
          </a:p>
        </p:txBody>
      </p:sp>
      <p:sp>
        <p:nvSpPr>
          <p:cNvPr id="5" name="Title 1">
            <a:extLst>
              <a:ext uri="{FF2B5EF4-FFF2-40B4-BE49-F238E27FC236}">
                <a16:creationId xmlns:a16="http://schemas.microsoft.com/office/drawing/2014/main" id="{2B89ED87-4843-2948-A235-EAE4FD63B58C}"/>
              </a:ext>
            </a:extLst>
          </p:cNvPr>
          <p:cNvSpPr txBox="1">
            <a:spLocks/>
          </p:cNvSpPr>
          <p:nvPr/>
        </p:nvSpPr>
        <p:spPr>
          <a:xfrm>
            <a:off x="609600" y="272077"/>
            <a:ext cx="10439400" cy="6248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r>
              <a:rPr lang="en-US" sz="3600" dirty="0">
                <a:cs typeface="Times New Roman" panose="02020603050405020304" pitchFamily="18" charset="0"/>
              </a:rPr>
              <a:t>Example Exercise: Pandemic Responses</a:t>
            </a:r>
          </a:p>
        </p:txBody>
      </p:sp>
      <p:sp>
        <p:nvSpPr>
          <p:cNvPr id="7" name="TextBox 6">
            <a:extLst>
              <a:ext uri="{FF2B5EF4-FFF2-40B4-BE49-F238E27FC236}">
                <a16:creationId xmlns:a16="http://schemas.microsoft.com/office/drawing/2014/main" id="{83570AA9-FBAD-AFDD-B124-4B4471BAFAF8}"/>
              </a:ext>
            </a:extLst>
          </p:cNvPr>
          <p:cNvSpPr txBox="1"/>
          <p:nvPr/>
        </p:nvSpPr>
        <p:spPr>
          <a:xfrm>
            <a:off x="381000" y="2590800"/>
            <a:ext cx="6934200" cy="2031325"/>
          </a:xfrm>
          <a:prstGeom prst="rect">
            <a:avLst/>
          </a:prstGeom>
          <a:solidFill>
            <a:schemeClr val="accent2">
              <a:lumMod val="75000"/>
            </a:schemeClr>
          </a:solidFill>
          <a:ln>
            <a:solidFill>
              <a:schemeClr val="accent1">
                <a:lumMod val="75000"/>
              </a:schemeClr>
            </a:solidFill>
          </a:ln>
        </p:spPr>
        <p:txBody>
          <a:bodyPr wrap="square" rtlCol="0">
            <a:spAutoFit/>
          </a:bodyPr>
          <a:lstStyle/>
          <a:p>
            <a:pPr marL="0" indent="0">
              <a:buNone/>
            </a:pPr>
            <a:r>
              <a:rPr lang="en-US" b="1" dirty="0">
                <a:solidFill>
                  <a:schemeClr val="bg1"/>
                </a:solidFill>
              </a:rPr>
              <a:t>Program 1:</a:t>
            </a:r>
          </a:p>
          <a:p>
            <a:pPr marL="285750" indent="-285750">
              <a:buFont typeface="Arial" panose="020B0604020202020204" pitchFamily="34" charset="0"/>
              <a:buChar char="•"/>
            </a:pPr>
            <a:r>
              <a:rPr lang="en-US" dirty="0">
                <a:solidFill>
                  <a:schemeClr val="bg1"/>
                </a:solidFill>
              </a:rPr>
              <a:t>Response A will save 200 people.</a:t>
            </a:r>
          </a:p>
          <a:p>
            <a:pPr marL="285750" indent="-285750">
              <a:buFont typeface="Arial" panose="020B0604020202020204" pitchFamily="34" charset="0"/>
              <a:buChar char="•"/>
            </a:pPr>
            <a:r>
              <a:rPr lang="en-US" dirty="0">
                <a:solidFill>
                  <a:schemeClr val="bg1"/>
                </a:solidFill>
              </a:rPr>
              <a:t>Response B is risky. It has a 1/3 chance to save all 600 people but a 2/3 chance to save no one.</a:t>
            </a:r>
          </a:p>
          <a:p>
            <a:pPr marL="285750" indent="-285750">
              <a:buFont typeface="Arial" panose="020B0604020202020204" pitchFamily="34" charset="0"/>
              <a:buChar char="•"/>
            </a:pPr>
            <a:endParaRPr lang="en-US" dirty="0">
              <a:solidFill>
                <a:schemeClr val="bg1"/>
              </a:solidFill>
            </a:endParaRPr>
          </a:p>
          <a:p>
            <a:pPr marL="0" indent="0">
              <a:buNone/>
            </a:pPr>
            <a:r>
              <a:rPr lang="en-US" i="1" dirty="0">
                <a:solidFill>
                  <a:schemeClr val="bg1"/>
                </a:solidFill>
              </a:rPr>
              <a:t>Which do you choose?</a:t>
            </a:r>
          </a:p>
          <a:p>
            <a:endParaRPr lang="en-US" dirty="0">
              <a:solidFill>
                <a:schemeClr val="bg1"/>
              </a:solidFill>
            </a:endParaRPr>
          </a:p>
        </p:txBody>
      </p:sp>
      <p:sp>
        <p:nvSpPr>
          <p:cNvPr id="9" name="TextBox 8">
            <a:extLst>
              <a:ext uri="{FF2B5EF4-FFF2-40B4-BE49-F238E27FC236}">
                <a16:creationId xmlns:a16="http://schemas.microsoft.com/office/drawing/2014/main" id="{F37FA88E-416E-8613-EFD8-6D0083542850}"/>
              </a:ext>
            </a:extLst>
          </p:cNvPr>
          <p:cNvSpPr txBox="1"/>
          <p:nvPr/>
        </p:nvSpPr>
        <p:spPr>
          <a:xfrm>
            <a:off x="5586608" y="4779384"/>
            <a:ext cx="5469699" cy="2023631"/>
          </a:xfrm>
          <a:prstGeom prst="rect">
            <a:avLst/>
          </a:prstGeom>
          <a:solidFill>
            <a:schemeClr val="accent3">
              <a:lumMod val="75000"/>
            </a:schemeClr>
          </a:solidFill>
          <a:ln>
            <a:solidFill>
              <a:schemeClr val="accent1">
                <a:lumMod val="75000"/>
              </a:schemeClr>
            </a:solidFill>
          </a:ln>
        </p:spPr>
        <p:txBody>
          <a:bodyPr wrap="square" rtlCol="0">
            <a:spAutoFit/>
          </a:bodyPr>
          <a:lstStyle/>
          <a:p>
            <a:pPr marL="0" marR="0" lvl="0" indent="0" algn="l" defTabSz="914400" rtl="0" eaLnBrk="1" fontAlgn="auto" latinLnBrk="0" hangingPunct="1">
              <a:lnSpc>
                <a:spcPct val="95000"/>
              </a:lnSpc>
              <a:spcBef>
                <a:spcPts val="1400"/>
              </a:spcBef>
              <a:spcAft>
                <a:spcPts val="200"/>
              </a:spcAft>
              <a:buClr>
                <a:srgbClr val="6F6F74"/>
              </a:buClr>
              <a:buSzPct val="80000"/>
              <a:buFont typeface="Arial" pitchFamily="34" charset="0"/>
              <a:buNone/>
              <a:tabLst/>
              <a:defRPr/>
            </a:pPr>
            <a:r>
              <a:rPr kumimoji="0" lang="en-US" sz="1800" b="1" i="0" u="none" strike="noStrike" kern="1200" cap="none" spc="10" normalizeH="0" baseline="0" noProof="0" dirty="0">
                <a:ln>
                  <a:noFill/>
                </a:ln>
                <a:solidFill>
                  <a:schemeClr val="bg1"/>
                </a:solidFill>
                <a:effectLst/>
                <a:uLnTx/>
                <a:uFillTx/>
                <a:latin typeface="Times New Roman" panose="02020603050405020304" pitchFamily="18" charset="0"/>
                <a:ea typeface="+mn-ea"/>
                <a:cs typeface="+mn-cs"/>
              </a:rPr>
              <a:t>Program 2</a:t>
            </a:r>
          </a:p>
          <a:p>
            <a:pPr marL="285750" marR="0" lvl="0" indent="-285750" algn="l" defTabSz="914400" rtl="0" eaLnBrk="1" fontAlgn="auto" latinLnBrk="0" hangingPunct="1">
              <a:lnSpc>
                <a:spcPct val="95000"/>
              </a:lnSpc>
              <a:spcBef>
                <a:spcPts val="1400"/>
              </a:spcBef>
              <a:spcAft>
                <a:spcPts val="200"/>
              </a:spcAft>
              <a:buClr>
                <a:srgbClr val="6F6F74"/>
              </a:buClr>
              <a:buSzPct val="80000"/>
              <a:buFont typeface="Arial" panose="020B0604020202020204" pitchFamily="34" charset="0"/>
              <a:buChar char="•"/>
              <a:tabLst/>
              <a:defRPr/>
            </a:pPr>
            <a:r>
              <a:rPr kumimoji="0" lang="en-US" sz="1800" b="0" i="0" u="none" strike="noStrike" kern="1200" cap="none" spc="10" normalizeH="0" baseline="0" noProof="0" dirty="0">
                <a:ln>
                  <a:noFill/>
                </a:ln>
                <a:solidFill>
                  <a:schemeClr val="bg1"/>
                </a:solidFill>
                <a:effectLst/>
                <a:uLnTx/>
                <a:uFillTx/>
                <a:latin typeface="Times New Roman" panose="02020603050405020304" pitchFamily="18" charset="0"/>
                <a:ea typeface="+mn-ea"/>
                <a:cs typeface="+mn-cs"/>
              </a:rPr>
              <a:t>Response C 400 people will die for certain.</a:t>
            </a:r>
          </a:p>
          <a:p>
            <a:pPr marL="285750" marR="0" lvl="0" indent="-285750" algn="l" defTabSz="914400" rtl="0" eaLnBrk="1" fontAlgn="auto" latinLnBrk="0" hangingPunct="1">
              <a:lnSpc>
                <a:spcPct val="95000"/>
              </a:lnSpc>
              <a:spcBef>
                <a:spcPts val="1400"/>
              </a:spcBef>
              <a:spcAft>
                <a:spcPts val="200"/>
              </a:spcAft>
              <a:buClr>
                <a:srgbClr val="6F6F74"/>
              </a:buClr>
              <a:buSzPct val="80000"/>
              <a:buFont typeface="Arial" panose="020B0604020202020204" pitchFamily="34" charset="0"/>
              <a:buChar char="•"/>
              <a:tabLst/>
              <a:defRPr/>
            </a:pPr>
            <a:r>
              <a:rPr kumimoji="0" lang="en-US" sz="1800" b="0" i="0" u="none" strike="noStrike" kern="1200" cap="none" spc="10" normalizeH="0" baseline="0" noProof="0" dirty="0">
                <a:ln>
                  <a:noFill/>
                </a:ln>
                <a:solidFill>
                  <a:schemeClr val="bg1"/>
                </a:solidFill>
                <a:effectLst/>
                <a:uLnTx/>
                <a:uFillTx/>
                <a:latin typeface="Times New Roman" panose="02020603050405020304" pitchFamily="18" charset="0"/>
                <a:ea typeface="+mn-ea"/>
                <a:cs typeface="+mn-cs"/>
              </a:rPr>
              <a:t>Response D there is a 1/3 chance that no one will die and a 2/3 chance that everyone will die.  </a:t>
            </a:r>
          </a:p>
          <a:p>
            <a:pPr marL="0" marR="0" lvl="0" indent="0" algn="l" defTabSz="914400" rtl="0" eaLnBrk="1" fontAlgn="auto" latinLnBrk="0" hangingPunct="1">
              <a:lnSpc>
                <a:spcPct val="95000"/>
              </a:lnSpc>
              <a:spcBef>
                <a:spcPts val="1400"/>
              </a:spcBef>
              <a:spcAft>
                <a:spcPts val="200"/>
              </a:spcAft>
              <a:buClr>
                <a:srgbClr val="6F6F74"/>
              </a:buClr>
              <a:buSzPct val="80000"/>
              <a:buFont typeface="Arial" pitchFamily="34" charset="0"/>
              <a:buNone/>
              <a:tabLst/>
              <a:defRPr/>
            </a:pPr>
            <a:r>
              <a:rPr kumimoji="0" lang="en-US" sz="1800" b="0" i="1" u="none" strike="noStrike" kern="1200" cap="none" spc="10" normalizeH="0" baseline="0" noProof="0" dirty="0">
                <a:ln>
                  <a:noFill/>
                </a:ln>
                <a:solidFill>
                  <a:schemeClr val="bg1"/>
                </a:solidFill>
                <a:effectLst/>
                <a:uLnTx/>
                <a:uFillTx/>
                <a:latin typeface="Times New Roman" panose="02020603050405020304" pitchFamily="18" charset="0"/>
                <a:ea typeface="+mn-ea"/>
                <a:cs typeface="+mn-cs"/>
              </a:rPr>
              <a:t>Which do you choose?</a:t>
            </a:r>
          </a:p>
        </p:txBody>
      </p:sp>
    </p:spTree>
    <p:extLst>
      <p:ext uri="{BB962C8B-B14F-4D97-AF65-F5344CB8AC3E}">
        <p14:creationId xmlns:p14="http://schemas.microsoft.com/office/powerpoint/2010/main" val="18404212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896918"/>
            <a:ext cx="9247632" cy="5283220"/>
          </a:xfrm>
        </p:spPr>
        <p:txBody>
          <a:bodyPr>
            <a:normAutofit/>
          </a:bodyPr>
          <a:lstStyle/>
          <a:p>
            <a:r>
              <a:rPr lang="en-US" sz="2400" dirty="0">
                <a:cs typeface="Times New Roman" panose="02020603050405020304" pitchFamily="18" charset="0"/>
              </a:rPr>
              <a:t>Bias 1: Generosity and Selflessness</a:t>
            </a:r>
          </a:p>
          <a:p>
            <a:r>
              <a:rPr lang="en-US" sz="2400" dirty="0">
                <a:cs typeface="Times New Roman" panose="02020603050405020304" pitchFamily="18" charset="0"/>
              </a:rPr>
              <a:t>Bias 2: Paying Attention to Sunk Costs</a:t>
            </a:r>
          </a:p>
          <a:p>
            <a:r>
              <a:rPr lang="en-US" sz="2400" dirty="0">
                <a:cs typeface="Times New Roman" panose="02020603050405020304" pitchFamily="18" charset="0"/>
              </a:rPr>
              <a:t>Bias 3: Overconfidence</a:t>
            </a:r>
          </a:p>
          <a:p>
            <a:r>
              <a:rPr lang="en-US" sz="2400" dirty="0">
                <a:cs typeface="Times New Roman" panose="02020603050405020304" pitchFamily="18" charset="0"/>
              </a:rPr>
              <a:t>Bias 4: Self-Control Problems and Hyperbolic Discounting</a:t>
            </a:r>
          </a:p>
          <a:p>
            <a:r>
              <a:rPr lang="en-US" sz="2400" dirty="0">
                <a:cs typeface="Times New Roman" panose="02020603050405020304" pitchFamily="18" charset="0"/>
              </a:rPr>
              <a:t>Bias 5: Falling Prey to Framing – introduction example</a:t>
            </a:r>
          </a:p>
          <a:p>
            <a:pPr>
              <a:spcAft>
                <a:spcPts val="400"/>
              </a:spcAft>
              <a:defRPr/>
            </a:pPr>
            <a:endParaRPr lang="en-US" sz="2400" dirty="0">
              <a:cs typeface="Times New Roman" panose="02020603050405020304" pitchFamily="18" charset="0"/>
            </a:endParaRPr>
          </a:p>
          <a:p>
            <a:endParaRPr lang="en-US" sz="2400" dirty="0">
              <a:cs typeface="Times New Roman" panose="02020603050405020304" pitchFamily="18" charset="0"/>
            </a:endParaRPr>
          </a:p>
        </p:txBody>
      </p:sp>
      <p:sp>
        <p:nvSpPr>
          <p:cNvPr id="4" name="Slide Number Placeholder 3"/>
          <p:cNvSpPr>
            <a:spLocks noGrp="1"/>
          </p:cNvSpPr>
          <p:nvPr>
            <p:ph type="sldNum" sz="quarter" idx="12"/>
          </p:nvPr>
        </p:nvSpPr>
        <p:spPr/>
        <p:txBody>
          <a:bodyPr>
            <a:normAutofit lnSpcReduction="10000"/>
          </a:bodyPr>
          <a:lstStyle/>
          <a:p>
            <a:fld id="{3DAF9783-BC0E-C649-838D-61F838C67253}" type="slidenum">
              <a:rPr lang="en-US" smtClean="0"/>
              <a:t>11</a:t>
            </a:fld>
            <a:endParaRPr lang="en-US"/>
          </a:p>
        </p:txBody>
      </p:sp>
      <p:sp>
        <p:nvSpPr>
          <p:cNvPr id="5" name="Title 1">
            <a:extLst>
              <a:ext uri="{FF2B5EF4-FFF2-40B4-BE49-F238E27FC236}">
                <a16:creationId xmlns:a16="http://schemas.microsoft.com/office/drawing/2014/main" id="{3AC41146-1857-1400-EE30-AE66F64DCE11}"/>
              </a:ext>
            </a:extLst>
          </p:cNvPr>
          <p:cNvSpPr txBox="1">
            <a:spLocks/>
          </p:cNvSpPr>
          <p:nvPr/>
        </p:nvSpPr>
        <p:spPr>
          <a:xfrm>
            <a:off x="609600" y="272077"/>
            <a:ext cx="10439400" cy="6248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r>
              <a:rPr lang="en-US" sz="3600" dirty="0">
                <a:cs typeface="Times New Roman" panose="02020603050405020304" pitchFamily="18" charset="0"/>
              </a:rPr>
              <a:t>Biases Abound!</a:t>
            </a:r>
          </a:p>
        </p:txBody>
      </p:sp>
    </p:spTree>
    <p:extLst>
      <p:ext uri="{BB962C8B-B14F-4D97-AF65-F5344CB8AC3E}">
        <p14:creationId xmlns:p14="http://schemas.microsoft.com/office/powerpoint/2010/main" val="40477257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7"/>
            <a:ext cx="10439400" cy="624840"/>
          </a:xfrm>
        </p:spPr>
        <p:txBody>
          <a:bodyPr>
            <a:noAutofit/>
          </a:bodyPr>
          <a:lstStyle/>
          <a:p>
            <a:r>
              <a:rPr lang="en-US" sz="3600" dirty="0">
                <a:cs typeface="Times New Roman" panose="02020603050405020304" pitchFamily="18" charset="0"/>
              </a:rPr>
              <a:t>Summary of Behavioral Econ</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1" y="1066801"/>
            <a:ext cx="10439400" cy="5141388"/>
          </a:xfrm>
        </p:spPr>
        <p:txBody>
          <a:bodyPr>
            <a:noAutofit/>
          </a:bodyPr>
          <a:lstStyle/>
          <a:p>
            <a:endParaRPr lang="en-US" sz="2400" dirty="0">
              <a:cs typeface="Times New Roman" panose="02020603050405020304" pitchFamily="18" charset="0"/>
            </a:endParaRPr>
          </a:p>
        </p:txBody>
      </p:sp>
      <p:pic>
        <p:nvPicPr>
          <p:cNvPr id="1026" name="Picture 2" descr="What is Behavioral Economics? - Irrational Labs">
            <a:extLst>
              <a:ext uri="{FF2B5EF4-FFF2-40B4-BE49-F238E27FC236}">
                <a16:creationId xmlns:a16="http://schemas.microsoft.com/office/drawing/2014/main" id="{1266B32B-0075-C05B-397B-C809B0B8AD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19625" y="2657475"/>
            <a:ext cx="2952750" cy="1543050"/>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The Cognitive Bias Codex, an overstuffed infographic categorizing over 100 cognitive biases">
            <a:extLst>
              <a:ext uri="{FF2B5EF4-FFF2-40B4-BE49-F238E27FC236}">
                <a16:creationId xmlns:a16="http://schemas.microsoft.com/office/drawing/2014/main" id="{A892C1CF-297C-D3A7-58A2-F7CDCC6966B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0"/>
            <a:ext cx="869156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98558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7"/>
            <a:ext cx="10439400" cy="624840"/>
          </a:xfrm>
        </p:spPr>
        <p:txBody>
          <a:bodyPr>
            <a:noAutofit/>
          </a:bodyPr>
          <a:lstStyle/>
          <a:p>
            <a:r>
              <a:rPr lang="en-US" sz="3600" dirty="0">
                <a:cs typeface="Times New Roman" panose="02020603050405020304" pitchFamily="18" charset="0"/>
              </a:rPr>
              <a:t>Behavioral vs. Neoclassical – where’s the line?</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1" y="1066801"/>
            <a:ext cx="10439400" cy="5141388"/>
          </a:xfrm>
        </p:spPr>
        <p:txBody>
          <a:bodyPr>
            <a:noAutofit/>
          </a:bodyPr>
          <a:lstStyle/>
          <a:p>
            <a:endParaRPr lang="en-US" sz="2400" dirty="0">
              <a:cs typeface="Times New Roman" panose="02020603050405020304" pitchFamily="18" charset="0"/>
            </a:endParaRPr>
          </a:p>
        </p:txBody>
      </p:sp>
      <p:pic>
        <p:nvPicPr>
          <p:cNvPr id="1026" name="Picture 2" descr="Image">
            <a:extLst>
              <a:ext uri="{FF2B5EF4-FFF2-40B4-BE49-F238E27FC236}">
                <a16:creationId xmlns:a16="http://schemas.microsoft.com/office/drawing/2014/main" id="{B363C441-5FF5-A04C-20B0-C750FD7FC0E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 b="51899"/>
          <a:stretch/>
        </p:blipFill>
        <p:spPr bwMode="auto">
          <a:xfrm>
            <a:off x="152400" y="306911"/>
            <a:ext cx="11814496" cy="61700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29330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7"/>
            <a:ext cx="10439400" cy="624840"/>
          </a:xfrm>
        </p:spPr>
        <p:txBody>
          <a:bodyPr>
            <a:noAutofit/>
          </a:bodyPr>
          <a:lstStyle/>
          <a:p>
            <a:r>
              <a:rPr lang="en-US" sz="3600" dirty="0">
                <a:cs typeface="Times New Roman" panose="02020603050405020304" pitchFamily="18" charset="0"/>
              </a:rPr>
              <a:t>Behavioral vs. Neoclassical – where’s the line?</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1" y="1066801"/>
            <a:ext cx="10439400" cy="5141388"/>
          </a:xfrm>
        </p:spPr>
        <p:txBody>
          <a:bodyPr>
            <a:noAutofit/>
          </a:bodyPr>
          <a:lstStyle/>
          <a:p>
            <a:endParaRPr lang="en-US" sz="2400" dirty="0">
              <a:cs typeface="Times New Roman" panose="02020603050405020304" pitchFamily="18" charset="0"/>
            </a:endParaRPr>
          </a:p>
        </p:txBody>
      </p:sp>
      <p:pic>
        <p:nvPicPr>
          <p:cNvPr id="1026" name="Picture 2" descr="Image">
            <a:extLst>
              <a:ext uri="{FF2B5EF4-FFF2-40B4-BE49-F238E27FC236}">
                <a16:creationId xmlns:a16="http://schemas.microsoft.com/office/drawing/2014/main" id="{B363C441-5FF5-A04C-20B0-C750FD7FC0E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7778"/>
          <a:stretch/>
        </p:blipFill>
        <p:spPr bwMode="auto">
          <a:xfrm>
            <a:off x="381000" y="70708"/>
            <a:ext cx="11702231" cy="66348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73640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896918"/>
            <a:ext cx="10439400" cy="5283220"/>
          </a:xfrm>
        </p:spPr>
        <p:txBody>
          <a:bodyPr>
            <a:noAutofit/>
          </a:bodyPr>
          <a:lstStyle/>
          <a:p>
            <a:pPr marL="0" indent="0">
              <a:buNone/>
            </a:pPr>
            <a:r>
              <a:rPr lang="en-US" sz="2400" b="1" dirty="0">
                <a:solidFill>
                  <a:schemeClr val="accent2">
                    <a:lumMod val="75000"/>
                  </a:schemeClr>
                </a:solidFill>
                <a:cs typeface="Times New Roman" panose="02020603050405020304" pitchFamily="18" charset="0"/>
              </a:rPr>
              <a:t>Of course not!</a:t>
            </a:r>
            <a:endParaRPr lang="en-US" sz="2400" b="1" dirty="0">
              <a:cs typeface="Times New Roman" panose="02020603050405020304" pitchFamily="18" charset="0"/>
            </a:endParaRPr>
          </a:p>
          <a:p>
            <a:r>
              <a:rPr lang="en-US" sz="2400" dirty="0">
                <a:cs typeface="Times New Roman" panose="02020603050405020304" pitchFamily="18" charset="0"/>
              </a:rPr>
              <a:t>Remember, no model is perfect</a:t>
            </a:r>
          </a:p>
          <a:p>
            <a:r>
              <a:rPr lang="en-US" sz="2400" dirty="0">
                <a:cs typeface="Times New Roman" panose="02020603050405020304" pitchFamily="18" charset="0"/>
              </a:rPr>
              <a:t>Neoclassical models predict behavior very well </a:t>
            </a:r>
            <a:r>
              <a:rPr lang="en-US" sz="2400" dirty="0"/>
              <a:t>in many circumstances</a:t>
            </a:r>
          </a:p>
          <a:p>
            <a:r>
              <a:rPr lang="en-US" sz="2400" dirty="0"/>
              <a:t>It’s usually </a:t>
            </a:r>
            <a:r>
              <a:rPr lang="en-US" sz="2400" b="1" dirty="0">
                <a:solidFill>
                  <a:schemeClr val="accent3">
                    <a:lumMod val="75000"/>
                  </a:schemeClr>
                </a:solidFill>
              </a:rPr>
              <a:t>very easy </a:t>
            </a:r>
            <a:r>
              <a:rPr lang="en-US" sz="2400" dirty="0"/>
              <a:t>to generalize to accommodate behavioral anomalies</a:t>
            </a:r>
          </a:p>
          <a:p>
            <a:pPr lvl="1"/>
            <a:r>
              <a:rPr lang="en-US" sz="2200" dirty="0"/>
              <a:t>Quasi-hyperbolic discounting – just add a new parameter and estimate it!</a:t>
            </a:r>
          </a:p>
          <a:p>
            <a:pPr lvl="1"/>
            <a:r>
              <a:rPr lang="en-US" sz="2200" dirty="0"/>
              <a:t>First papers – Handel (2013) and Handel and Kolstad (2015)</a:t>
            </a:r>
          </a:p>
          <a:p>
            <a:r>
              <a:rPr lang="en-US" sz="2400" dirty="0"/>
              <a:t>Provides a basis for thinking about seemingly irrational behavior, often illuminating rational motivations (e.g., conspicuous charitable donations that improve reputation)</a:t>
            </a:r>
          </a:p>
          <a:p>
            <a:pPr marL="0" indent="0">
              <a:buNone/>
            </a:pPr>
            <a:endParaRPr lang="en-US" sz="2400" dirty="0"/>
          </a:p>
          <a:p>
            <a:endParaRPr lang="en-US" sz="2400" dirty="0">
              <a:solidFill>
                <a:schemeClr val="accent2">
                  <a:lumMod val="75000"/>
                </a:schemeClr>
              </a:solidFill>
              <a:cs typeface="Times New Roman" panose="02020603050405020304" pitchFamily="18" charset="0"/>
            </a:endParaRPr>
          </a:p>
          <a:p>
            <a:endParaRPr lang="en-US" sz="2400" dirty="0">
              <a:solidFill>
                <a:schemeClr val="accent2">
                  <a:lumMod val="75000"/>
                </a:schemeClr>
              </a:solidFill>
              <a:cs typeface="Times New Roman" panose="02020603050405020304" pitchFamily="18" charset="0"/>
            </a:endParaRPr>
          </a:p>
        </p:txBody>
      </p:sp>
      <p:sp>
        <p:nvSpPr>
          <p:cNvPr id="4" name="Slide Number Placeholder 3"/>
          <p:cNvSpPr>
            <a:spLocks noGrp="1"/>
          </p:cNvSpPr>
          <p:nvPr>
            <p:ph type="sldNum" sz="quarter" idx="12"/>
          </p:nvPr>
        </p:nvSpPr>
        <p:spPr/>
        <p:txBody>
          <a:bodyPr>
            <a:normAutofit lnSpcReduction="10000"/>
          </a:bodyPr>
          <a:lstStyle/>
          <a:p>
            <a:fld id="{3DAF9783-BC0E-C649-838D-61F838C67253}" type="slidenum">
              <a:rPr lang="en-US" smtClean="0"/>
              <a:t>15</a:t>
            </a:fld>
            <a:endParaRPr lang="en-US"/>
          </a:p>
        </p:txBody>
      </p:sp>
      <p:sp>
        <p:nvSpPr>
          <p:cNvPr id="5" name="Title 1">
            <a:extLst>
              <a:ext uri="{FF2B5EF4-FFF2-40B4-BE49-F238E27FC236}">
                <a16:creationId xmlns:a16="http://schemas.microsoft.com/office/drawing/2014/main" id="{3AC41146-1857-1400-EE30-AE66F64DCE11}"/>
              </a:ext>
            </a:extLst>
          </p:cNvPr>
          <p:cNvSpPr txBox="1">
            <a:spLocks/>
          </p:cNvSpPr>
          <p:nvPr/>
        </p:nvSpPr>
        <p:spPr>
          <a:xfrm>
            <a:off x="609600" y="272077"/>
            <a:ext cx="10439400" cy="6248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r>
              <a:rPr lang="en-US" sz="3600" dirty="0">
                <a:cs typeface="Times New Roman" panose="02020603050405020304" pitchFamily="18" charset="0"/>
              </a:rPr>
              <a:t>Does this mean neoclassical models are useless? </a:t>
            </a:r>
          </a:p>
        </p:txBody>
      </p:sp>
    </p:spTree>
    <p:extLst>
      <p:ext uri="{BB962C8B-B14F-4D97-AF65-F5344CB8AC3E}">
        <p14:creationId xmlns:p14="http://schemas.microsoft.com/office/powerpoint/2010/main" val="33528467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959A64B-5C9A-4A9B-BA45-ADECED2E51D9}"/>
              </a:ext>
            </a:extLst>
          </p:cNvPr>
          <p:cNvSpPr>
            <a:spLocks noGrp="1"/>
          </p:cNvSpPr>
          <p:nvPr>
            <p:ph type="ctrTitle"/>
          </p:nvPr>
        </p:nvSpPr>
        <p:spPr>
          <a:xfrm>
            <a:off x="1261872" y="3276600"/>
            <a:ext cx="10625328" cy="1298448"/>
          </a:xfrm>
        </p:spPr>
        <p:txBody>
          <a:bodyPr>
            <a:normAutofit/>
          </a:bodyPr>
          <a:lstStyle/>
          <a:p>
            <a:r>
              <a:rPr lang="en-US" dirty="0"/>
              <a:t>Handel and Kolstad (2015)</a:t>
            </a:r>
          </a:p>
        </p:txBody>
      </p:sp>
      <p:sp>
        <p:nvSpPr>
          <p:cNvPr id="7" name="Subtitle 4">
            <a:extLst>
              <a:ext uri="{FF2B5EF4-FFF2-40B4-BE49-F238E27FC236}">
                <a16:creationId xmlns:a16="http://schemas.microsoft.com/office/drawing/2014/main" id="{592755C3-E09C-4692-E8D4-9A9FB12BD9A6}"/>
              </a:ext>
            </a:extLst>
          </p:cNvPr>
          <p:cNvSpPr txBox="1">
            <a:spLocks/>
          </p:cNvSpPr>
          <p:nvPr/>
        </p:nvSpPr>
        <p:spPr>
          <a:xfrm>
            <a:off x="1235290" y="4814777"/>
            <a:ext cx="9966109" cy="1691640"/>
          </a:xfrm>
          <a:prstGeom prst="rect">
            <a:avLst/>
          </a:prstGeom>
        </p:spPr>
        <p:txBody>
          <a:bodyPr vert="horz" lIns="91440" tIns="45720" rIns="91440" bIns="45720" rtlCol="0">
            <a:normAutofit/>
          </a:bodyPr>
          <a:lstStyle>
            <a:lvl1pPr marL="0" indent="0" algn="l" defTabSz="914400" rtl="0" eaLnBrk="1" latinLnBrk="0" hangingPunct="1">
              <a:lnSpc>
                <a:spcPct val="95000"/>
              </a:lnSpc>
              <a:spcBef>
                <a:spcPts val="1400"/>
              </a:spcBef>
              <a:spcAft>
                <a:spcPts val="200"/>
              </a:spcAft>
              <a:buClr>
                <a:schemeClr val="accent1"/>
              </a:buClr>
              <a:buSzPct val="80000"/>
              <a:buFont typeface="Arial" pitchFamily="34" charset="0"/>
              <a:buNone/>
              <a:defRPr sz="2200" kern="1200" spc="10" baseline="0">
                <a:solidFill>
                  <a:schemeClr val="tx1">
                    <a:lumMod val="75000"/>
                  </a:schemeClr>
                </a:solidFill>
                <a:latin typeface="Times New Roman" panose="02020603050405020304" pitchFamily="18" charset="0"/>
                <a:ea typeface="+mn-ea"/>
                <a:cs typeface="+mn-cs"/>
              </a:defRPr>
            </a:lvl1pPr>
            <a:lvl2pPr marL="4572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Times New Roman" panose="02020603050405020304" pitchFamily="18" charset="0"/>
                <a:ea typeface="+mn-ea"/>
                <a:cs typeface="+mn-cs"/>
              </a:defRPr>
            </a:lvl2pPr>
            <a:lvl3pPr marL="9144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Times New Roman" panose="02020603050405020304" pitchFamily="18" charset="0"/>
                <a:ea typeface="+mn-ea"/>
                <a:cs typeface="+mn-cs"/>
              </a:defRPr>
            </a:lvl3pPr>
            <a:lvl4pPr marL="1371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Times New Roman" panose="02020603050405020304" pitchFamily="18" charset="0"/>
                <a:ea typeface="+mn-ea"/>
                <a:cs typeface="+mn-cs"/>
              </a:defRPr>
            </a:lvl4pPr>
            <a:lvl5pPr marL="18288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Times New Roman" panose="02020603050405020304" pitchFamily="18" charset="0"/>
                <a:ea typeface="+mn-ea"/>
                <a:cs typeface="+mn-cs"/>
              </a:defRPr>
            </a:lvl5pPr>
            <a:lvl6pPr marL="22860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6pPr>
            <a:lvl7pPr marL="27432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7pPr>
            <a:lvl8pPr marL="32004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8pPr>
            <a:lvl9pPr marL="3657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9pPr>
          </a:lstStyle>
          <a:p>
            <a:r>
              <a:rPr lang="en-US" sz="2400" dirty="0"/>
              <a:t>“Health Insurance for ‘Humans’: Information Frictions, Plan Choice, and Consumer Welfare” </a:t>
            </a:r>
          </a:p>
          <a:p>
            <a:r>
              <a:rPr lang="en-US" sz="2400" i="1" dirty="0"/>
              <a:t>American Economic Review</a:t>
            </a:r>
          </a:p>
        </p:txBody>
      </p:sp>
      <p:sp>
        <p:nvSpPr>
          <p:cNvPr id="2" name="Title 3">
            <a:extLst>
              <a:ext uri="{FF2B5EF4-FFF2-40B4-BE49-F238E27FC236}">
                <a16:creationId xmlns:a16="http://schemas.microsoft.com/office/drawing/2014/main" id="{51DC5C03-A2D1-3EBF-2F5D-1CC1407C728C}"/>
              </a:ext>
            </a:extLst>
          </p:cNvPr>
          <p:cNvSpPr txBox="1">
            <a:spLocks/>
          </p:cNvSpPr>
          <p:nvPr/>
        </p:nvSpPr>
        <p:spPr>
          <a:xfrm>
            <a:off x="1245782" y="381000"/>
            <a:ext cx="10625328" cy="1298448"/>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7200" kern="1200" spc="-50" baseline="0">
                <a:solidFill>
                  <a:schemeClr val="tx1"/>
                </a:solidFill>
                <a:latin typeface="Times New Roman" panose="02020603050405020304" pitchFamily="18" charset="0"/>
                <a:ea typeface="+mj-ea"/>
                <a:cs typeface="+mj-cs"/>
              </a:defRPr>
            </a:lvl1pPr>
          </a:lstStyle>
          <a:p>
            <a:r>
              <a:rPr lang="en-US" dirty="0"/>
              <a:t>Handel (2013)</a:t>
            </a:r>
          </a:p>
        </p:txBody>
      </p:sp>
      <p:sp>
        <p:nvSpPr>
          <p:cNvPr id="3" name="Subtitle 4">
            <a:extLst>
              <a:ext uri="{FF2B5EF4-FFF2-40B4-BE49-F238E27FC236}">
                <a16:creationId xmlns:a16="http://schemas.microsoft.com/office/drawing/2014/main" id="{227FD1E4-B021-BCA4-56C0-23357337718C}"/>
              </a:ext>
            </a:extLst>
          </p:cNvPr>
          <p:cNvSpPr txBox="1">
            <a:spLocks/>
          </p:cNvSpPr>
          <p:nvPr/>
        </p:nvSpPr>
        <p:spPr>
          <a:xfrm>
            <a:off x="1219200" y="1919177"/>
            <a:ext cx="9966109" cy="1691640"/>
          </a:xfrm>
          <a:prstGeom prst="rect">
            <a:avLst/>
          </a:prstGeom>
        </p:spPr>
        <p:txBody>
          <a:bodyPr vert="horz" lIns="91440" tIns="45720" rIns="91440" bIns="45720" rtlCol="0">
            <a:normAutofit/>
          </a:bodyPr>
          <a:lstStyle>
            <a:lvl1pPr marL="0" indent="0" algn="l" defTabSz="914400" rtl="0" eaLnBrk="1" latinLnBrk="0" hangingPunct="1">
              <a:lnSpc>
                <a:spcPct val="95000"/>
              </a:lnSpc>
              <a:spcBef>
                <a:spcPts val="1400"/>
              </a:spcBef>
              <a:spcAft>
                <a:spcPts val="200"/>
              </a:spcAft>
              <a:buClr>
                <a:schemeClr val="accent1"/>
              </a:buClr>
              <a:buSzPct val="80000"/>
              <a:buFont typeface="Arial" pitchFamily="34" charset="0"/>
              <a:buNone/>
              <a:defRPr sz="2200" kern="1200" spc="10" baseline="0">
                <a:solidFill>
                  <a:schemeClr val="tx1">
                    <a:lumMod val="75000"/>
                  </a:schemeClr>
                </a:solidFill>
                <a:latin typeface="Times New Roman" panose="02020603050405020304" pitchFamily="18" charset="0"/>
                <a:ea typeface="+mn-ea"/>
                <a:cs typeface="+mn-cs"/>
              </a:defRPr>
            </a:lvl1pPr>
            <a:lvl2pPr marL="4572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Times New Roman" panose="02020603050405020304" pitchFamily="18" charset="0"/>
                <a:ea typeface="+mn-ea"/>
                <a:cs typeface="+mn-cs"/>
              </a:defRPr>
            </a:lvl2pPr>
            <a:lvl3pPr marL="9144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Times New Roman" panose="02020603050405020304" pitchFamily="18" charset="0"/>
                <a:ea typeface="+mn-ea"/>
                <a:cs typeface="+mn-cs"/>
              </a:defRPr>
            </a:lvl3pPr>
            <a:lvl4pPr marL="1371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Times New Roman" panose="02020603050405020304" pitchFamily="18" charset="0"/>
                <a:ea typeface="+mn-ea"/>
                <a:cs typeface="+mn-cs"/>
              </a:defRPr>
            </a:lvl4pPr>
            <a:lvl5pPr marL="18288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Times New Roman" panose="02020603050405020304" pitchFamily="18" charset="0"/>
                <a:ea typeface="+mn-ea"/>
                <a:cs typeface="+mn-cs"/>
              </a:defRPr>
            </a:lvl5pPr>
            <a:lvl6pPr marL="22860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6pPr>
            <a:lvl7pPr marL="27432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7pPr>
            <a:lvl8pPr marL="32004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8pPr>
            <a:lvl9pPr marL="3657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9pPr>
          </a:lstStyle>
          <a:p>
            <a:r>
              <a:rPr lang="en-US" sz="2400" dirty="0"/>
              <a:t>“Adverse selection and switching costs in health insurance markets: When nudging hurts”</a:t>
            </a:r>
          </a:p>
          <a:p>
            <a:r>
              <a:rPr lang="en-US" sz="2400" i="1" dirty="0"/>
              <a:t>American Economic Review</a:t>
            </a:r>
          </a:p>
        </p:txBody>
      </p:sp>
    </p:spTree>
    <p:extLst>
      <p:ext uri="{BB962C8B-B14F-4D97-AF65-F5344CB8AC3E}">
        <p14:creationId xmlns:p14="http://schemas.microsoft.com/office/powerpoint/2010/main" val="42208731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896918"/>
                <a:ext cx="10439400" cy="5283220"/>
              </a:xfrm>
            </p:spPr>
            <p:txBody>
              <a:bodyPr>
                <a:noAutofit/>
              </a:bodyPr>
              <a:lstStyle/>
              <a:p>
                <a:pPr marL="0" indent="0">
                  <a:buNone/>
                </a:pPr>
                <a:r>
                  <a:rPr lang="en-US" sz="2400" dirty="0">
                    <a:cs typeface="Times New Roman" panose="02020603050405020304" pitchFamily="18" charset="0"/>
                  </a:rPr>
                  <a:t>Start simple</a:t>
                </a:r>
              </a:p>
              <a:p>
                <a:r>
                  <a:rPr lang="en-US" sz="2400" dirty="0">
                    <a:cs typeface="Times New Roman" panose="02020603050405020304" pitchFamily="18" charset="0"/>
                  </a:rPr>
                  <a:t>Consumers choose between two plans with valuation of P1 over P2 as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𝑣</m:t>
                        </m:r>
                      </m:e>
                      <m:sub>
                        <m:r>
                          <a:rPr lang="en-US" sz="2400" b="0" i="1" smtClean="0">
                            <a:latin typeface="Cambria Math" panose="02040503050406030204" pitchFamily="18" charset="0"/>
                            <a:cs typeface="Times New Roman" panose="02020603050405020304" pitchFamily="18" charset="0"/>
                          </a:rPr>
                          <m:t>𝑖</m:t>
                        </m:r>
                      </m:sub>
                    </m:sSub>
                  </m:oMath>
                </a14:m>
                <a:endParaRPr lang="en-US" sz="2400" b="0" dirty="0">
                  <a:cs typeface="Times New Roman" panose="02020603050405020304" pitchFamily="18" charset="0"/>
                </a:endParaRPr>
              </a:p>
              <a:p>
                <a:r>
                  <a:rPr lang="en-US" sz="2400" dirty="0">
                    <a:cs typeface="Times New Roman" panose="02020603050405020304" pitchFamily="18" charset="0"/>
                  </a:rPr>
                  <a:t>But consumers perceive valuation as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𝜔</m:t>
                        </m:r>
                      </m:e>
                      <m:sub>
                        <m:r>
                          <a:rPr lang="en-US" sz="2400" b="0" i="1" smtClean="0">
                            <a:latin typeface="Cambria Math" panose="02040503050406030204" pitchFamily="18" charset="0"/>
                            <a:cs typeface="Times New Roman" panose="02020603050405020304" pitchFamily="18" charset="0"/>
                          </a:rPr>
                          <m:t>𝑖</m:t>
                        </m:r>
                      </m:sub>
                    </m:sSub>
                  </m:oMath>
                </a14:m>
                <a:r>
                  <a:rPr lang="en-US" sz="2400" dirty="0">
                    <a:cs typeface="Times New Roman" panose="02020603050405020304" pitchFamily="18" charset="0"/>
                  </a:rPr>
                  <a:t> </a:t>
                </a:r>
              </a:p>
              <a:p>
                <a:r>
                  <a:rPr lang="en-US" sz="2400" dirty="0">
                    <a:cs typeface="Times New Roman" panose="02020603050405020304" pitchFamily="18" charset="0"/>
                  </a:rPr>
                  <a:t>Hence </a:t>
                </a:r>
              </a:p>
              <a:p>
                <a:pPr marL="0" indent="0">
                  <a:buNone/>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𝑢</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𝑣</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𝑐</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oMath>
                  </m:oMathPara>
                </a14:m>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896918"/>
                <a:ext cx="10439400" cy="5283220"/>
              </a:xfrm>
              <a:blipFill>
                <a:blip r:embed="rId3"/>
                <a:stretch>
                  <a:fillRect l="-876" t="-1269"/>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normAutofit lnSpcReduction="10000"/>
          </a:bodyPr>
          <a:lstStyle/>
          <a:p>
            <a:fld id="{3DAF9783-BC0E-C649-838D-61F838C67253}" type="slidenum">
              <a:rPr lang="en-US" smtClean="0"/>
              <a:t>17</a:t>
            </a:fld>
            <a:endParaRPr lang="en-US"/>
          </a:p>
        </p:txBody>
      </p:sp>
      <p:sp>
        <p:nvSpPr>
          <p:cNvPr id="5" name="Title 1">
            <a:extLst>
              <a:ext uri="{FF2B5EF4-FFF2-40B4-BE49-F238E27FC236}">
                <a16:creationId xmlns:a16="http://schemas.microsoft.com/office/drawing/2014/main" id="{3AC41146-1857-1400-EE30-AE66F64DCE11}"/>
              </a:ext>
            </a:extLst>
          </p:cNvPr>
          <p:cNvSpPr txBox="1">
            <a:spLocks/>
          </p:cNvSpPr>
          <p:nvPr/>
        </p:nvSpPr>
        <p:spPr>
          <a:xfrm>
            <a:off x="609600" y="272077"/>
            <a:ext cx="10439400" cy="6248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r>
              <a:rPr lang="en-US" sz="3600" dirty="0">
                <a:cs typeface="Times New Roman" panose="02020603050405020304" pitchFamily="18" charset="0"/>
              </a:rPr>
              <a:t>1. Specify a baseline model </a:t>
            </a:r>
          </a:p>
        </p:txBody>
      </p:sp>
    </p:spTree>
    <p:extLst>
      <p:ext uri="{BB962C8B-B14F-4D97-AF65-F5344CB8AC3E}">
        <p14:creationId xmlns:p14="http://schemas.microsoft.com/office/powerpoint/2010/main" val="40463891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896918"/>
                <a:ext cx="10439400" cy="5283220"/>
              </a:xfrm>
            </p:spPr>
            <p:txBody>
              <a:bodyPr>
                <a:noAutofit/>
              </a:bodyPr>
              <a:lstStyle/>
              <a:p>
                <a:pPr marL="0" indent="0">
                  <a:buNone/>
                </a:pPr>
                <a:r>
                  <a:rPr lang="en-US" sz="2400" dirty="0">
                    <a:cs typeface="Times New Roman" panose="02020603050405020304" pitchFamily="18" charset="0"/>
                  </a:rPr>
                  <a:t>Start simple</a:t>
                </a:r>
              </a:p>
              <a:p>
                <a:r>
                  <a:rPr lang="en-US" sz="2400" dirty="0">
                    <a:cs typeface="Times New Roman" panose="02020603050405020304" pitchFamily="18" charset="0"/>
                  </a:rPr>
                  <a:t>Consumers choose between two plans with valuation of P1 over P2 as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𝑣</m:t>
                        </m:r>
                      </m:e>
                      <m:sub>
                        <m:r>
                          <a:rPr lang="en-US" sz="2400" b="0" i="1" smtClean="0">
                            <a:latin typeface="Cambria Math" panose="02040503050406030204" pitchFamily="18" charset="0"/>
                            <a:cs typeface="Times New Roman" panose="02020603050405020304" pitchFamily="18" charset="0"/>
                          </a:rPr>
                          <m:t>𝑖</m:t>
                        </m:r>
                      </m:sub>
                    </m:sSub>
                  </m:oMath>
                </a14:m>
                <a:endParaRPr lang="en-US" sz="2400" b="0" dirty="0">
                  <a:cs typeface="Times New Roman" panose="02020603050405020304" pitchFamily="18" charset="0"/>
                </a:endParaRPr>
              </a:p>
              <a:p>
                <a:r>
                  <a:rPr lang="en-US" sz="2400" dirty="0">
                    <a:cs typeface="Times New Roman" panose="02020603050405020304" pitchFamily="18" charset="0"/>
                  </a:rPr>
                  <a:t>But consumers perceive valuation as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𝜔</m:t>
                        </m:r>
                      </m:e>
                      <m:sub>
                        <m:r>
                          <a:rPr lang="en-US" sz="2400" b="0" i="1" smtClean="0">
                            <a:latin typeface="Cambria Math" panose="02040503050406030204" pitchFamily="18" charset="0"/>
                            <a:cs typeface="Times New Roman" panose="02020603050405020304" pitchFamily="18" charset="0"/>
                          </a:rPr>
                          <m:t>𝑖</m:t>
                        </m:r>
                      </m:sub>
                    </m:sSub>
                  </m:oMath>
                </a14:m>
                <a:r>
                  <a:rPr lang="en-US" sz="2400" dirty="0">
                    <a:cs typeface="Times New Roman" panose="02020603050405020304" pitchFamily="18" charset="0"/>
                  </a:rPr>
                  <a:t> </a:t>
                </a:r>
              </a:p>
              <a:p>
                <a:r>
                  <a:rPr lang="en-US" sz="2400" dirty="0">
                    <a:cs typeface="Times New Roman" panose="02020603050405020304" pitchFamily="18" charset="0"/>
                  </a:rPr>
                  <a:t>Hence </a:t>
                </a:r>
              </a:p>
              <a:p>
                <a:pPr marL="0" indent="0">
                  <a:buNone/>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𝑢</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𝑣</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𝑐</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oMath>
                  </m:oMathPara>
                </a14:m>
                <a:endParaRPr lang="en-US" sz="2400" dirty="0">
                  <a:cs typeface="Times New Roman" panose="02020603050405020304" pitchFamily="18" charset="0"/>
                </a:endParaRPr>
              </a:p>
              <a:p>
                <a:pPr marL="0" indent="0">
                  <a:buNone/>
                </a:pPr>
                <a:r>
                  <a:rPr lang="en-US" sz="2400" dirty="0">
                    <a:cs typeface="Times New Roman" panose="02020603050405020304" pitchFamily="18" charset="0"/>
                  </a:rPr>
                  <a:t>But </a:t>
                </a:r>
              </a:p>
              <a:p>
                <a:pPr marL="0" indent="0">
                  <a:buNone/>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acc>
                            <m:accPr>
                              <m:chr m:val="̂"/>
                              <m:ctrlPr>
                                <a:rPr lang="en-US" sz="2400" b="0" i="1" smtClean="0">
                                  <a:latin typeface="Cambria Math" panose="02040503050406030204" pitchFamily="18" charset="0"/>
                                  <a:cs typeface="Times New Roman" panose="02020603050405020304" pitchFamily="18" charset="0"/>
                                </a:rPr>
                              </m:ctrlPr>
                            </m:accPr>
                            <m:e>
                              <m:r>
                                <a:rPr lang="en-US" sz="2400" b="0" i="1" smtClean="0">
                                  <a:latin typeface="Cambria Math" panose="02040503050406030204" pitchFamily="18" charset="0"/>
                                  <a:cs typeface="Times New Roman" panose="02020603050405020304" pitchFamily="18" charset="0"/>
                                </a:rPr>
                                <m:t>𝑢</m:t>
                              </m:r>
                            </m:e>
                          </m:acc>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𝜔</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𝑐</m:t>
                          </m:r>
                        </m:e>
                        <m:sub>
                          <m:r>
                            <a:rPr lang="en-US" sz="2400" b="0" i="1" smtClean="0">
                              <a:latin typeface="Cambria Math" panose="02040503050406030204" pitchFamily="18" charset="0"/>
                              <a:cs typeface="Times New Roman" panose="02020603050405020304" pitchFamily="18" charset="0"/>
                            </a:rPr>
                            <m:t>𝑖</m:t>
                          </m:r>
                        </m:sub>
                      </m:sSub>
                    </m:oMath>
                  </m:oMathPara>
                </a14:m>
                <a:endParaRPr lang="en-US" sz="2400" dirty="0">
                  <a:cs typeface="Times New Roman" panose="02020603050405020304" pitchFamily="18" charset="0"/>
                </a:endParaRPr>
              </a:p>
              <a:p>
                <a:r>
                  <a:rPr lang="en-US" sz="2400" dirty="0">
                    <a:cs typeface="Times New Roman" panose="02020603050405020304" pitchFamily="18" charset="0"/>
                  </a:rPr>
                  <a:t>What does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𝜀</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𝜔</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𝑣</m:t>
                        </m:r>
                      </m:e>
                      <m:sub>
                        <m:r>
                          <a:rPr lang="en-US" sz="2400" b="0" i="1" smtClean="0">
                            <a:latin typeface="Cambria Math" panose="02040503050406030204" pitchFamily="18" charset="0"/>
                            <a:cs typeface="Times New Roman" panose="02020603050405020304" pitchFamily="18" charset="0"/>
                          </a:rPr>
                          <m:t>𝑖</m:t>
                        </m:r>
                      </m:sub>
                    </m:sSub>
                  </m:oMath>
                </a14:m>
                <a:r>
                  <a:rPr lang="en-US" sz="2400" dirty="0">
                    <a:cs typeface="Times New Roman" panose="02020603050405020304" pitchFamily="18" charset="0"/>
                  </a:rPr>
                  <a:t> capture? </a:t>
                </a:r>
              </a:p>
              <a:p>
                <a:r>
                  <a:rPr lang="en-US" sz="2400" dirty="0">
                    <a:cs typeface="Times New Roman" panose="02020603050405020304" pitchFamily="18" charset="0"/>
                  </a:rPr>
                  <a:t>How can we incorporate this in a neoclassical framework?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896918"/>
                <a:ext cx="10439400" cy="5283220"/>
              </a:xfrm>
              <a:blipFill>
                <a:blip r:embed="rId3"/>
                <a:stretch>
                  <a:fillRect l="-876" t="-1269"/>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normAutofit lnSpcReduction="10000"/>
          </a:bodyPr>
          <a:lstStyle/>
          <a:p>
            <a:fld id="{3DAF9783-BC0E-C649-838D-61F838C67253}" type="slidenum">
              <a:rPr lang="en-US" smtClean="0"/>
              <a:t>18</a:t>
            </a:fld>
            <a:endParaRPr lang="en-US"/>
          </a:p>
        </p:txBody>
      </p:sp>
      <p:sp>
        <p:nvSpPr>
          <p:cNvPr id="5" name="Title 1">
            <a:extLst>
              <a:ext uri="{FF2B5EF4-FFF2-40B4-BE49-F238E27FC236}">
                <a16:creationId xmlns:a16="http://schemas.microsoft.com/office/drawing/2014/main" id="{3AC41146-1857-1400-EE30-AE66F64DCE11}"/>
              </a:ext>
            </a:extLst>
          </p:cNvPr>
          <p:cNvSpPr txBox="1">
            <a:spLocks/>
          </p:cNvSpPr>
          <p:nvPr/>
        </p:nvSpPr>
        <p:spPr>
          <a:xfrm>
            <a:off x="609600" y="272077"/>
            <a:ext cx="10439400" cy="6248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r>
              <a:rPr lang="en-US" sz="3600" dirty="0">
                <a:cs typeface="Times New Roman" panose="02020603050405020304" pitchFamily="18" charset="0"/>
              </a:rPr>
              <a:t>1. Specify a baseline model </a:t>
            </a:r>
          </a:p>
        </p:txBody>
      </p:sp>
    </p:spTree>
    <p:extLst>
      <p:ext uri="{BB962C8B-B14F-4D97-AF65-F5344CB8AC3E}">
        <p14:creationId xmlns:p14="http://schemas.microsoft.com/office/powerpoint/2010/main" val="41332289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896918"/>
                <a:ext cx="10439400" cy="5283220"/>
              </a:xfrm>
            </p:spPr>
            <p:txBody>
              <a:bodyPr>
                <a:noAutofit/>
              </a:bodyPr>
              <a:lstStyle/>
              <a:p>
                <a:r>
                  <a:rPr lang="en-US" sz="2400" dirty="0">
                    <a:cs typeface="Times New Roman" panose="02020603050405020304" pitchFamily="18" charset="0"/>
                  </a:rPr>
                  <a:t>Now there are </a:t>
                </a:r>
                <a:r>
                  <a:rPr lang="en-US" sz="2400" b="1" dirty="0">
                    <a:cs typeface="Times New Roman" panose="02020603050405020304" pitchFamily="18" charset="0"/>
                  </a:rPr>
                  <a:t>choice sets </a:t>
                </a:r>
                <a:r>
                  <a:rPr lang="en-US" sz="2400" dirty="0">
                    <a:cs typeface="Times New Roman" panose="02020603050405020304" pitchFamily="18" charset="0"/>
                  </a:rPr>
                  <a:t>with </a:t>
                </a:r>
                <a14:m>
                  <m:oMath xmlns:m="http://schemas.openxmlformats.org/officeDocument/2006/math">
                    <m:r>
                      <a:rPr lang="en-CA" sz="2400" b="0" i="1" smtClean="0">
                        <a:latin typeface="Cambria Math" panose="02040503050406030204" pitchFamily="18" charset="0"/>
                        <a:cs typeface="Times New Roman" panose="02020603050405020304" pitchFamily="18" charset="0"/>
                      </a:rPr>
                      <m:t>𝒥</m:t>
                    </m:r>
                    <m:r>
                      <a:rPr lang="en-CA" sz="2400" b="0" i="1" smtClean="0">
                        <a:latin typeface="Cambria Math" panose="02040503050406030204" pitchFamily="18" charset="0"/>
                        <a:cs typeface="Times New Roman" panose="02020603050405020304" pitchFamily="18" charset="0"/>
                      </a:rPr>
                      <m:t>≥2</m:t>
                    </m:r>
                  </m:oMath>
                </a14:m>
                <a:r>
                  <a:rPr lang="en-US" sz="2400" dirty="0">
                    <a:cs typeface="Times New Roman" panose="02020603050405020304" pitchFamily="18" charset="0"/>
                  </a:rPr>
                  <a:t> plans</a:t>
                </a:r>
              </a:p>
              <a:p>
                <a:r>
                  <a:rPr lang="en-US" sz="2400" b="0" dirty="0">
                    <a:cs typeface="Times New Roman" panose="02020603050405020304" pitchFamily="18" charset="0"/>
                  </a:rPr>
                  <a:t>Consumers have </a:t>
                </a:r>
                <a:r>
                  <a:rPr lang="en-US" sz="2400" b="0" i="1" dirty="0">
                    <a:cs typeface="Times New Roman" panose="02020603050405020304" pitchFamily="18" charset="0"/>
                  </a:rPr>
                  <a:t>ex-post </a:t>
                </a:r>
                <a:r>
                  <a:rPr lang="en-US" sz="2400" b="0" dirty="0">
                    <a:cs typeface="Times New Roman" panose="02020603050405020304" pitchFamily="18" charset="0"/>
                  </a:rPr>
                  <a:t>utility: </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𝑢</m:t>
                      </m:r>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𝑊</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𝑃</m:t>
                              </m:r>
                            </m:e>
                            <m:sub>
                              <m:r>
                                <a:rPr lang="en-US" sz="2400" b="0" i="1" smtClean="0">
                                  <a:latin typeface="Cambria Math" panose="02040503050406030204" pitchFamily="18" charset="0"/>
                                  <a:cs typeface="Times New Roman" panose="02020603050405020304" pitchFamily="18" charset="0"/>
                                </a:rPr>
                                <m:t>𝑖𝑗</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𝜋</m:t>
                              </m:r>
                            </m:e>
                            <m:sub>
                              <m:r>
                                <a:rPr lang="en-US" sz="2400" b="0" i="1" smtClean="0">
                                  <a:latin typeface="Cambria Math" panose="02040503050406030204" pitchFamily="18" charset="0"/>
                                  <a:cs typeface="Times New Roman" panose="02020603050405020304" pitchFamily="18" charset="0"/>
                                </a:rPr>
                                <m:t>𝑗</m:t>
                              </m:r>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𝜓</m:t>
                                      </m:r>
                                    </m:e>
                                    <m:sub>
                                      <m:r>
                                        <a:rPr lang="en-US" sz="2400" b="0" i="1" smtClean="0">
                                          <a:latin typeface="Cambria Math" panose="02040503050406030204" pitchFamily="18" charset="0"/>
                                          <a:cs typeface="Times New Roman" panose="02020603050405020304" pitchFamily="18" charset="0"/>
                                        </a:rPr>
                                        <m:t>𝑗</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𝜇</m:t>
                                      </m:r>
                                    </m:e>
                                    <m:sub>
                                      <m:r>
                                        <a:rPr lang="en-US" sz="2400" b="0" i="1" smtClean="0">
                                          <a:latin typeface="Cambria Math" panose="02040503050406030204" pitchFamily="18" charset="0"/>
                                          <a:cs typeface="Times New Roman" panose="02020603050405020304" pitchFamily="18" charset="0"/>
                                        </a:rPr>
                                        <m:t>𝑖</m:t>
                                      </m:r>
                                    </m:sub>
                                  </m:sSub>
                                </m:e>
                              </m:d>
                            </m:sub>
                          </m:sSub>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𝑠</m:t>
                          </m:r>
                        </m:e>
                      </m:d>
                    </m:oMath>
                  </m:oMathPara>
                </a14:m>
                <a:endParaRPr lang="en-US" sz="2400" b="0" i="1" dirty="0">
                  <a:latin typeface="Cambria Math" panose="02040503050406030204" pitchFamily="18" charset="0"/>
                  <a:cs typeface="Times New Roman" panose="02020603050405020304" pitchFamily="18" charset="0"/>
                </a:endParaRPr>
              </a:p>
              <a:p>
                <a:r>
                  <a:rPr lang="en-US" sz="2400" dirty="0">
                    <a:cs typeface="Times New Roman" panose="02020603050405020304" pitchFamily="18" charset="0"/>
                  </a:rPr>
                  <a:t>And </a:t>
                </a:r>
                <a:r>
                  <a:rPr lang="en-US" sz="2400" i="1" dirty="0">
                    <a:cs typeface="Times New Roman" panose="02020603050405020304" pitchFamily="18" charset="0"/>
                  </a:rPr>
                  <a:t>ex-ante </a:t>
                </a:r>
                <a:r>
                  <a:rPr lang="en-US" sz="2400" dirty="0">
                    <a:cs typeface="Times New Roman" panose="02020603050405020304" pitchFamily="18" charset="0"/>
                  </a:rPr>
                  <a:t>utility </a:t>
                </a:r>
                <a:r>
                  <a:rPr lang="en-US" sz="2400" i="1" dirty="0">
                    <a:cs typeface="Times New Roman" panose="02020603050405020304" pitchFamily="18" charset="0"/>
                  </a:rPr>
                  <a:t>(ex-ante </a:t>
                </a:r>
                <a:r>
                  <a:rPr lang="en-US" sz="2400" dirty="0">
                    <a:cs typeface="Times New Roman" panose="02020603050405020304" pitchFamily="18" charset="0"/>
                  </a:rPr>
                  <a:t>over what?)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896918"/>
                <a:ext cx="10439400" cy="5283220"/>
              </a:xfrm>
              <a:blipFill>
                <a:blip r:embed="rId3"/>
                <a:stretch>
                  <a:fillRect l="-409" t="-1269"/>
                </a:stretch>
              </a:blipFill>
            </p:spPr>
            <p:txBody>
              <a:bodyPr/>
              <a:lstStyle/>
              <a:p>
                <a:r>
                  <a:rPr lang="en-CA">
                    <a:noFill/>
                  </a:rPr>
                  <a:t> </a:t>
                </a:r>
              </a:p>
            </p:txBody>
          </p:sp>
        </mc:Fallback>
      </mc:AlternateContent>
      <p:sp>
        <p:nvSpPr>
          <p:cNvPr id="4" name="Slide Number Placeholder 3"/>
          <p:cNvSpPr>
            <a:spLocks noGrp="1"/>
          </p:cNvSpPr>
          <p:nvPr>
            <p:ph type="sldNum" sz="quarter" idx="12"/>
          </p:nvPr>
        </p:nvSpPr>
        <p:spPr/>
        <p:txBody>
          <a:bodyPr>
            <a:normAutofit lnSpcReduction="10000"/>
          </a:bodyPr>
          <a:lstStyle/>
          <a:p>
            <a:fld id="{3DAF9783-BC0E-C649-838D-61F838C67253}" type="slidenum">
              <a:rPr lang="en-US" smtClean="0"/>
              <a:t>19</a:t>
            </a:fld>
            <a:endParaRPr lang="en-US"/>
          </a:p>
        </p:txBody>
      </p:sp>
      <p:sp>
        <p:nvSpPr>
          <p:cNvPr id="5" name="Title 1">
            <a:extLst>
              <a:ext uri="{FF2B5EF4-FFF2-40B4-BE49-F238E27FC236}">
                <a16:creationId xmlns:a16="http://schemas.microsoft.com/office/drawing/2014/main" id="{3AC41146-1857-1400-EE30-AE66F64DCE11}"/>
              </a:ext>
            </a:extLst>
          </p:cNvPr>
          <p:cNvSpPr txBox="1">
            <a:spLocks/>
          </p:cNvSpPr>
          <p:nvPr/>
        </p:nvSpPr>
        <p:spPr>
          <a:xfrm>
            <a:off x="609600" y="272077"/>
            <a:ext cx="10439400" cy="6248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r>
              <a:rPr lang="en-US" sz="3600" dirty="0">
                <a:cs typeface="Times New Roman" panose="02020603050405020304" pitchFamily="18" charset="0"/>
              </a:rPr>
              <a:t>2. Enrich the model (to match data) </a:t>
            </a:r>
          </a:p>
        </p:txBody>
      </p:sp>
    </p:spTree>
    <p:extLst>
      <p:ext uri="{BB962C8B-B14F-4D97-AF65-F5344CB8AC3E}">
        <p14:creationId xmlns:p14="http://schemas.microsoft.com/office/powerpoint/2010/main" val="40399855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896918"/>
                <a:ext cx="10439400" cy="5283220"/>
              </a:xfrm>
            </p:spPr>
            <p:txBody>
              <a:bodyPr>
                <a:noAutofit/>
              </a:bodyPr>
              <a:lstStyle/>
              <a:p>
                <a:r>
                  <a:rPr lang="en-US" sz="2400" dirty="0">
                    <a:cs typeface="Times New Roman" panose="02020603050405020304" pitchFamily="18" charset="0"/>
                  </a:rPr>
                  <a:t>Now there are </a:t>
                </a:r>
                <a:r>
                  <a:rPr lang="en-US" sz="2400" b="1" dirty="0">
                    <a:cs typeface="Times New Roman" panose="02020603050405020304" pitchFamily="18" charset="0"/>
                  </a:rPr>
                  <a:t>choice sets </a:t>
                </a:r>
                <a:r>
                  <a:rPr lang="en-US" sz="2400" dirty="0">
                    <a:cs typeface="Times New Roman" panose="02020603050405020304" pitchFamily="18" charset="0"/>
                  </a:rPr>
                  <a:t>with </a:t>
                </a:r>
                <a14:m>
                  <m:oMath xmlns:m="http://schemas.openxmlformats.org/officeDocument/2006/math">
                    <m:r>
                      <a:rPr lang="en-CA" sz="2400" b="0" i="1" smtClean="0">
                        <a:latin typeface="Cambria Math" panose="02040503050406030204" pitchFamily="18" charset="0"/>
                        <a:cs typeface="Times New Roman" panose="02020603050405020304" pitchFamily="18" charset="0"/>
                      </a:rPr>
                      <m:t>𝒥</m:t>
                    </m:r>
                    <m:r>
                      <a:rPr lang="en-CA" sz="2400" b="0" i="1" smtClean="0">
                        <a:latin typeface="Cambria Math" panose="02040503050406030204" pitchFamily="18" charset="0"/>
                        <a:cs typeface="Times New Roman" panose="02020603050405020304" pitchFamily="18" charset="0"/>
                      </a:rPr>
                      <m:t>≥2</m:t>
                    </m:r>
                  </m:oMath>
                </a14:m>
                <a:r>
                  <a:rPr lang="en-US" sz="2400" dirty="0">
                    <a:cs typeface="Times New Roman" panose="02020603050405020304" pitchFamily="18" charset="0"/>
                  </a:rPr>
                  <a:t> plans</a:t>
                </a:r>
              </a:p>
              <a:p>
                <a:r>
                  <a:rPr lang="en-US" sz="2400" b="0" dirty="0">
                    <a:cs typeface="Times New Roman" panose="02020603050405020304" pitchFamily="18" charset="0"/>
                  </a:rPr>
                  <a:t>Consumers have </a:t>
                </a:r>
                <a:r>
                  <a:rPr lang="en-US" sz="2400" b="0" i="1" dirty="0">
                    <a:cs typeface="Times New Roman" panose="02020603050405020304" pitchFamily="18" charset="0"/>
                  </a:rPr>
                  <a:t>ex-post </a:t>
                </a:r>
                <a:r>
                  <a:rPr lang="en-US" sz="2400" b="0" dirty="0">
                    <a:cs typeface="Times New Roman" panose="02020603050405020304" pitchFamily="18" charset="0"/>
                  </a:rPr>
                  <a:t>utility: </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𝑢</m:t>
                      </m:r>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𝑊</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𝑃</m:t>
                              </m:r>
                            </m:e>
                            <m:sub>
                              <m:r>
                                <a:rPr lang="en-US" sz="2400" b="0" i="1" smtClean="0">
                                  <a:latin typeface="Cambria Math" panose="02040503050406030204" pitchFamily="18" charset="0"/>
                                  <a:cs typeface="Times New Roman" panose="02020603050405020304" pitchFamily="18" charset="0"/>
                                </a:rPr>
                                <m:t>𝑖𝑗</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𝜋</m:t>
                              </m:r>
                            </m:e>
                            <m:sub>
                              <m:r>
                                <a:rPr lang="en-US" sz="2400" b="0" i="1" smtClean="0">
                                  <a:latin typeface="Cambria Math" panose="02040503050406030204" pitchFamily="18" charset="0"/>
                                  <a:cs typeface="Times New Roman" panose="02020603050405020304" pitchFamily="18" charset="0"/>
                                </a:rPr>
                                <m:t>𝑗</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𝜓</m:t>
                              </m:r>
                            </m:e>
                            <m:sub>
                              <m:r>
                                <a:rPr lang="en-US" sz="2400" b="0" i="1" smtClean="0">
                                  <a:latin typeface="Cambria Math" panose="02040503050406030204" pitchFamily="18" charset="0"/>
                                  <a:cs typeface="Times New Roman" panose="02020603050405020304" pitchFamily="18" charset="0"/>
                                </a:rPr>
                                <m:t>𝑗</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𝜇</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𝑠</m:t>
                          </m:r>
                        </m:e>
                      </m:d>
                    </m:oMath>
                  </m:oMathPara>
                </a14:m>
                <a:endParaRPr lang="en-US" sz="2400" b="0" i="1" dirty="0">
                  <a:latin typeface="Cambria Math" panose="02040503050406030204" pitchFamily="18" charset="0"/>
                  <a:cs typeface="Times New Roman" panose="02020603050405020304" pitchFamily="18" charset="0"/>
                </a:endParaRPr>
              </a:p>
              <a:p>
                <a:r>
                  <a:rPr lang="en-US" sz="2400" dirty="0">
                    <a:cs typeface="Times New Roman" panose="02020603050405020304" pitchFamily="18" charset="0"/>
                  </a:rPr>
                  <a:t>And </a:t>
                </a:r>
                <a:r>
                  <a:rPr lang="en-US" sz="2400" i="1" dirty="0">
                    <a:cs typeface="Times New Roman" panose="02020603050405020304" pitchFamily="18" charset="0"/>
                  </a:rPr>
                  <a:t>ex-ante </a:t>
                </a:r>
                <a:r>
                  <a:rPr lang="en-US" sz="2400" dirty="0">
                    <a:cs typeface="Times New Roman" panose="02020603050405020304" pitchFamily="18" charset="0"/>
                  </a:rPr>
                  <a:t>utility: </a:t>
                </a:r>
              </a:p>
              <a:p>
                <a:pPr marL="0" indent="0">
                  <a:buNone/>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𝑈</m:t>
                          </m:r>
                        </m:e>
                        <m:sub>
                          <m:r>
                            <a:rPr lang="en-US" sz="2400" b="0" i="1" smtClean="0">
                              <a:latin typeface="Cambria Math" panose="02040503050406030204" pitchFamily="18" charset="0"/>
                              <a:cs typeface="Times New Roman" panose="02020603050405020304" pitchFamily="18" charset="0"/>
                            </a:rPr>
                            <m:t>𝑖𝑗</m:t>
                          </m:r>
                        </m:sub>
                      </m:sSub>
                      <m:r>
                        <a:rPr lang="en-US" sz="2400" b="0" i="1" smtClean="0">
                          <a:latin typeface="Cambria Math" panose="02040503050406030204" pitchFamily="18" charset="0"/>
                          <a:cs typeface="Times New Roman" panose="02020603050405020304" pitchFamily="18" charset="0"/>
                        </a:rPr>
                        <m:t>=</m:t>
                      </m:r>
                      <m:nary>
                        <m:naryPr>
                          <m:ctrlPr>
                            <a:rPr lang="en-US" sz="2400" b="0" i="1" smtClean="0">
                              <a:latin typeface="Cambria Math" panose="02040503050406030204" pitchFamily="18" charset="0"/>
                              <a:cs typeface="Times New Roman" panose="02020603050405020304" pitchFamily="18" charset="0"/>
                            </a:rPr>
                          </m:ctrlPr>
                        </m:naryPr>
                        <m:sub>
                          <m:r>
                            <a:rPr lang="en-US" sz="2400" b="0" i="1" smtClean="0">
                              <a:latin typeface="Cambria Math" panose="02040503050406030204" pitchFamily="18" charset="0"/>
                              <a:cs typeface="Times New Roman" panose="02020603050405020304" pitchFamily="18" charset="0"/>
                            </a:rPr>
                            <m:t>0</m:t>
                          </m:r>
                        </m:sub>
                        <m:sup>
                          <m:r>
                            <a:rPr lang="en-US" sz="2400" b="0" i="1" smtClean="0">
                              <a:latin typeface="Cambria Math" panose="02040503050406030204" pitchFamily="18" charset="0"/>
                              <a:cs typeface="Times New Roman" panose="02020603050405020304" pitchFamily="18" charset="0"/>
                            </a:rPr>
                            <m:t>∞</m:t>
                          </m:r>
                        </m:sup>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𝑓</m:t>
                              </m:r>
                            </m:e>
                            <m:sub>
                              <m:r>
                                <a:rPr lang="en-US" sz="2400" b="0" i="1" smtClean="0">
                                  <a:latin typeface="Cambria Math" panose="02040503050406030204" pitchFamily="18" charset="0"/>
                                  <a:cs typeface="Times New Roman" panose="02020603050405020304" pitchFamily="18" charset="0"/>
                                </a:rPr>
                                <m:t>𝑖𝑗</m:t>
                              </m:r>
                            </m:sub>
                          </m:sSub>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𝑠</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𝜓</m:t>
                              </m:r>
                            </m:e>
                            <m:sub>
                              <m:r>
                                <a:rPr lang="en-US" sz="2400" b="0" i="1" smtClean="0">
                                  <a:latin typeface="Cambria Math" panose="02040503050406030204" pitchFamily="18" charset="0"/>
                                  <a:cs typeface="Times New Roman" panose="02020603050405020304" pitchFamily="18" charset="0"/>
                                </a:rPr>
                                <m:t>𝑗</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𝜇</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e>
                      </m:nary>
                      <m:r>
                        <a:rPr lang="en-US" sz="2400" b="0" i="1" smtClean="0">
                          <a:latin typeface="Cambria Math" panose="02040503050406030204" pitchFamily="18" charset="0"/>
                          <a:cs typeface="Times New Roman" panose="02020603050405020304" pitchFamily="18" charset="0"/>
                        </a:rPr>
                        <m:t>×</m:t>
                      </m:r>
                      <m:r>
                        <a:rPr lang="en-US" sz="2400" i="1">
                          <a:latin typeface="Cambria Math" panose="02040503050406030204" pitchFamily="18" charset="0"/>
                          <a:cs typeface="Times New Roman" panose="02020603050405020304" pitchFamily="18" charset="0"/>
                        </a:rPr>
                        <m:t>𝑢</m:t>
                      </m:r>
                      <m:d>
                        <m:dPr>
                          <m:ctrlPr>
                            <a:rPr lang="en-US" sz="2400" i="1">
                              <a:latin typeface="Cambria Math" panose="02040503050406030204" pitchFamily="18" charset="0"/>
                              <a:cs typeface="Times New Roman" panose="02020603050405020304" pitchFamily="18" charset="0"/>
                            </a:rPr>
                          </m:ctrlPr>
                        </m:dPr>
                        <m:e>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𝑊</m:t>
                              </m:r>
                            </m:e>
                            <m:sub>
                              <m:r>
                                <a:rPr lang="en-US" sz="2400" i="1">
                                  <a:latin typeface="Cambria Math" panose="02040503050406030204" pitchFamily="18" charset="0"/>
                                  <a:cs typeface="Times New Roman" panose="02020603050405020304" pitchFamily="18" charset="0"/>
                                </a:rPr>
                                <m:t>𝑖</m:t>
                              </m:r>
                            </m:sub>
                          </m:sSub>
                          <m:r>
                            <a:rPr lang="en-US" sz="2400" i="1">
                              <a:latin typeface="Cambria Math" panose="02040503050406030204" pitchFamily="18" charset="0"/>
                              <a:cs typeface="Times New Roman" panose="02020603050405020304" pitchFamily="18" charset="0"/>
                            </a:rPr>
                            <m:t>−</m:t>
                          </m:r>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𝑃</m:t>
                              </m:r>
                            </m:e>
                            <m:sub>
                              <m:r>
                                <a:rPr lang="en-US" sz="2400" i="1">
                                  <a:latin typeface="Cambria Math" panose="02040503050406030204" pitchFamily="18" charset="0"/>
                                  <a:cs typeface="Times New Roman" panose="02020603050405020304" pitchFamily="18" charset="0"/>
                                </a:rPr>
                                <m:t>𝑖𝑗</m:t>
                              </m:r>
                            </m:sub>
                          </m:sSub>
                          <m:r>
                            <a:rPr lang="en-US" sz="2400" i="1">
                              <a:latin typeface="Cambria Math" panose="02040503050406030204" pitchFamily="18" charset="0"/>
                              <a:cs typeface="Times New Roman" panose="02020603050405020304" pitchFamily="18" charset="0"/>
                            </a:rPr>
                            <m:t>+</m:t>
                          </m:r>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𝜋</m:t>
                              </m:r>
                            </m:e>
                            <m:sub>
                              <m:r>
                                <a:rPr lang="en-US" sz="2400" i="1">
                                  <a:latin typeface="Cambria Math" panose="02040503050406030204" pitchFamily="18" charset="0"/>
                                  <a:cs typeface="Times New Roman" panose="02020603050405020304" pitchFamily="18" charset="0"/>
                                </a:rPr>
                                <m:t>𝑗</m:t>
                              </m:r>
                            </m:sub>
                          </m:sSub>
                          <m:r>
                            <a:rPr lang="en-US" sz="2400" i="1">
                              <a:latin typeface="Cambria Math" panose="02040503050406030204" pitchFamily="18" charset="0"/>
                              <a:cs typeface="Times New Roman" panose="02020603050405020304" pitchFamily="18" charset="0"/>
                            </a:rPr>
                            <m:t>(</m:t>
                          </m:r>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𝜓</m:t>
                              </m:r>
                            </m:e>
                            <m:sub>
                              <m:r>
                                <a:rPr lang="en-US" sz="2400" i="1">
                                  <a:latin typeface="Cambria Math" panose="02040503050406030204" pitchFamily="18" charset="0"/>
                                  <a:cs typeface="Times New Roman" panose="02020603050405020304" pitchFamily="18" charset="0"/>
                                </a:rPr>
                                <m:t>𝑗</m:t>
                              </m:r>
                            </m:sub>
                          </m:sSub>
                          <m:r>
                            <a:rPr lang="en-US" sz="2400" i="1">
                              <a:latin typeface="Cambria Math" panose="02040503050406030204" pitchFamily="18" charset="0"/>
                              <a:cs typeface="Times New Roman" panose="02020603050405020304" pitchFamily="18" charset="0"/>
                            </a:rPr>
                            <m:t>,</m:t>
                          </m:r>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𝜇</m:t>
                              </m:r>
                            </m:e>
                            <m:sub>
                              <m:r>
                                <a:rPr lang="en-US" sz="2400" i="1">
                                  <a:latin typeface="Cambria Math" panose="02040503050406030204" pitchFamily="18" charset="0"/>
                                  <a:cs typeface="Times New Roman" panose="02020603050405020304" pitchFamily="18" charset="0"/>
                                </a:rPr>
                                <m:t>𝑖</m:t>
                              </m:r>
                            </m:sub>
                          </m:sSub>
                          <m:r>
                            <a:rPr lang="en-US" sz="2400" i="1">
                              <a:latin typeface="Cambria Math" panose="02040503050406030204" pitchFamily="18" charset="0"/>
                              <a:cs typeface="Times New Roman" panose="02020603050405020304" pitchFamily="18" charset="0"/>
                            </a:rPr>
                            <m:t>)−</m:t>
                          </m:r>
                          <m:r>
                            <a:rPr lang="en-US" sz="2400" i="1">
                              <a:latin typeface="Cambria Math" panose="02040503050406030204" pitchFamily="18" charset="0"/>
                              <a:cs typeface="Times New Roman" panose="02020603050405020304" pitchFamily="18" charset="0"/>
                            </a:rPr>
                            <m:t>𝑠</m:t>
                          </m:r>
                        </m:e>
                      </m:d>
                      <m:r>
                        <m:rPr>
                          <m:sty m:val="p"/>
                        </m:rPr>
                        <a:rPr lang="en-US" sz="2400" b="0" i="0" smtClean="0">
                          <a:latin typeface="Cambria Math" panose="02040503050406030204" pitchFamily="18" charset="0"/>
                          <a:cs typeface="Times New Roman" panose="02020603050405020304" pitchFamily="18" charset="0"/>
                        </a:rPr>
                        <m:t>ds</m:t>
                      </m:r>
                    </m:oMath>
                  </m:oMathPara>
                </a14:m>
                <a:endParaRPr lang="en-US" sz="2400" dirty="0">
                  <a:cs typeface="Times New Roman" panose="02020603050405020304" pitchFamily="18" charset="0"/>
                </a:endParaRPr>
              </a:p>
              <a:p>
                <a:r>
                  <a:rPr lang="en-US" sz="2400" b="0" dirty="0">
                    <a:cs typeface="Times New Roman" panose="02020603050405020304" pitchFamily="18" charset="0"/>
                  </a:rPr>
                  <a:t>So what plan </a:t>
                </a:r>
                <a:r>
                  <a:rPr lang="en-US" sz="2400" dirty="0">
                    <a:cs typeface="Times New Roman" panose="02020603050405020304" pitchFamily="18" charset="0"/>
                  </a:rPr>
                  <a:t>do they pick?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896918"/>
                <a:ext cx="10439400" cy="5283220"/>
              </a:xfrm>
              <a:blipFill>
                <a:blip r:embed="rId3"/>
                <a:stretch>
                  <a:fillRect l="-409" t="-1269"/>
                </a:stretch>
              </a:blipFill>
            </p:spPr>
            <p:txBody>
              <a:bodyPr/>
              <a:lstStyle/>
              <a:p>
                <a:r>
                  <a:rPr lang="en-CA">
                    <a:noFill/>
                  </a:rPr>
                  <a:t> </a:t>
                </a:r>
              </a:p>
            </p:txBody>
          </p:sp>
        </mc:Fallback>
      </mc:AlternateContent>
      <p:sp>
        <p:nvSpPr>
          <p:cNvPr id="4" name="Slide Number Placeholder 3"/>
          <p:cNvSpPr>
            <a:spLocks noGrp="1"/>
          </p:cNvSpPr>
          <p:nvPr>
            <p:ph type="sldNum" sz="quarter" idx="12"/>
          </p:nvPr>
        </p:nvSpPr>
        <p:spPr/>
        <p:txBody>
          <a:bodyPr>
            <a:normAutofit lnSpcReduction="10000"/>
          </a:bodyPr>
          <a:lstStyle/>
          <a:p>
            <a:fld id="{3DAF9783-BC0E-C649-838D-61F838C67253}" type="slidenum">
              <a:rPr lang="en-US" smtClean="0"/>
              <a:t>20</a:t>
            </a:fld>
            <a:endParaRPr lang="en-US"/>
          </a:p>
        </p:txBody>
      </p:sp>
      <p:sp>
        <p:nvSpPr>
          <p:cNvPr id="5" name="Title 1">
            <a:extLst>
              <a:ext uri="{FF2B5EF4-FFF2-40B4-BE49-F238E27FC236}">
                <a16:creationId xmlns:a16="http://schemas.microsoft.com/office/drawing/2014/main" id="{3AC41146-1857-1400-EE30-AE66F64DCE11}"/>
              </a:ext>
            </a:extLst>
          </p:cNvPr>
          <p:cNvSpPr txBox="1">
            <a:spLocks/>
          </p:cNvSpPr>
          <p:nvPr/>
        </p:nvSpPr>
        <p:spPr>
          <a:xfrm>
            <a:off x="609600" y="272077"/>
            <a:ext cx="10439400" cy="6248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r>
              <a:rPr lang="en-US" sz="3600" dirty="0">
                <a:cs typeface="Times New Roman" panose="02020603050405020304" pitchFamily="18" charset="0"/>
              </a:rPr>
              <a:t>2. Enrich the model (to match data) </a:t>
            </a:r>
          </a:p>
        </p:txBody>
      </p:sp>
    </p:spTree>
    <p:extLst>
      <p:ext uri="{BB962C8B-B14F-4D97-AF65-F5344CB8AC3E}">
        <p14:creationId xmlns:p14="http://schemas.microsoft.com/office/powerpoint/2010/main" val="39642825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896918"/>
                <a:ext cx="10439400" cy="5283220"/>
              </a:xfrm>
            </p:spPr>
            <p:txBody>
              <a:bodyPr>
                <a:noAutofit/>
              </a:bodyPr>
              <a:lstStyle/>
              <a:p>
                <a:r>
                  <a:rPr lang="en-US" sz="2400" dirty="0">
                    <a:cs typeface="Times New Roman" panose="02020603050405020304" pitchFamily="18" charset="0"/>
                  </a:rPr>
                  <a:t>Does this match data? </a:t>
                </a:r>
              </a:p>
              <a:p>
                <a:r>
                  <a:rPr lang="en-US" sz="2400" dirty="0">
                    <a:cs typeface="Times New Roman" panose="02020603050405020304" pitchFamily="18" charset="0"/>
                  </a:rPr>
                  <a:t>What might need to be </a:t>
                </a:r>
                <a:r>
                  <a:rPr lang="en-US" sz="2400" dirty="0" err="1">
                    <a:cs typeface="Times New Roman" panose="02020603050405020304" pitchFamily="18" charset="0"/>
                  </a:rPr>
                  <a:t>behavioralized</a:t>
                </a:r>
                <a:r>
                  <a:rPr lang="en-US" sz="2400" dirty="0">
                    <a:cs typeface="Times New Roman" panose="02020603050405020304" pitchFamily="18" charset="0"/>
                  </a:rPr>
                  <a:t>? </a:t>
                </a:r>
              </a:p>
              <a:p>
                <a:pPr marL="0" indent="0">
                  <a:buNone/>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acc>
                            <m:accPr>
                              <m:chr m:val="̂"/>
                              <m:ctrlPr>
                                <a:rPr lang="en-US" sz="2400" b="0" i="1" smtClean="0">
                                  <a:latin typeface="Cambria Math" panose="02040503050406030204" pitchFamily="18" charset="0"/>
                                  <a:cs typeface="Times New Roman" panose="02020603050405020304" pitchFamily="18" charset="0"/>
                                </a:rPr>
                              </m:ctrlPr>
                            </m:accPr>
                            <m:e>
                              <m:r>
                                <a:rPr lang="en-US" sz="2400" b="0" i="1" smtClean="0">
                                  <a:latin typeface="Cambria Math" panose="02040503050406030204" pitchFamily="18" charset="0"/>
                                  <a:cs typeface="Times New Roman" panose="02020603050405020304" pitchFamily="18" charset="0"/>
                                </a:rPr>
                                <m:t>𝑈</m:t>
                              </m:r>
                            </m:e>
                          </m:acc>
                        </m:e>
                        <m:sub>
                          <m:r>
                            <a:rPr lang="en-US" sz="2400" b="0" i="1" smtClean="0">
                              <a:latin typeface="Cambria Math" panose="02040503050406030204" pitchFamily="18" charset="0"/>
                              <a:cs typeface="Times New Roman" panose="02020603050405020304" pitchFamily="18" charset="0"/>
                            </a:rPr>
                            <m:t>𝑖𝑗</m:t>
                          </m:r>
                        </m:sub>
                      </m:sSub>
                      <m:r>
                        <a:rPr lang="en-US" sz="2400" b="0" i="1" smtClean="0">
                          <a:latin typeface="Cambria Math" panose="02040503050406030204" pitchFamily="18" charset="0"/>
                          <a:cs typeface="Times New Roman" panose="02020603050405020304" pitchFamily="18" charset="0"/>
                        </a:rPr>
                        <m:t>=</m:t>
                      </m:r>
                      <m:nary>
                        <m:naryPr>
                          <m:ctrlPr>
                            <a:rPr lang="en-US" sz="2400" b="0" i="1" smtClean="0">
                              <a:latin typeface="Cambria Math" panose="02040503050406030204" pitchFamily="18" charset="0"/>
                              <a:cs typeface="Times New Roman" panose="02020603050405020304" pitchFamily="18" charset="0"/>
                            </a:rPr>
                          </m:ctrlPr>
                        </m:naryPr>
                        <m:sub>
                          <m:r>
                            <a:rPr lang="en-US" sz="2400" b="0" i="1" smtClean="0">
                              <a:latin typeface="Cambria Math" panose="02040503050406030204" pitchFamily="18" charset="0"/>
                              <a:cs typeface="Times New Roman" panose="02020603050405020304" pitchFamily="18" charset="0"/>
                            </a:rPr>
                            <m:t>0</m:t>
                          </m:r>
                        </m:sub>
                        <m:sup>
                          <m:r>
                            <a:rPr lang="en-US" sz="2400" b="0" i="1" smtClean="0">
                              <a:latin typeface="Cambria Math" panose="02040503050406030204" pitchFamily="18" charset="0"/>
                              <a:cs typeface="Times New Roman" panose="02020603050405020304" pitchFamily="18" charset="0"/>
                            </a:rPr>
                            <m:t>∞</m:t>
                          </m:r>
                        </m:sup>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𝑓</m:t>
                              </m:r>
                            </m:e>
                            <m:sub>
                              <m:r>
                                <a:rPr lang="en-US" sz="2400" b="0" i="1" smtClean="0">
                                  <a:latin typeface="Cambria Math" panose="02040503050406030204" pitchFamily="18" charset="0"/>
                                  <a:cs typeface="Times New Roman" panose="02020603050405020304" pitchFamily="18" charset="0"/>
                                </a:rPr>
                                <m:t>𝑖𝑗</m:t>
                              </m:r>
                            </m:sub>
                          </m:sSub>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𝑠</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acc>
                                <m:accPr>
                                  <m:chr m:val="̂"/>
                                  <m:ctrlPr>
                                    <a:rPr lang="en-US" sz="2400" b="0" i="1" smtClean="0">
                                      <a:latin typeface="Cambria Math" panose="02040503050406030204" pitchFamily="18" charset="0"/>
                                      <a:cs typeface="Times New Roman" panose="02020603050405020304" pitchFamily="18" charset="0"/>
                                    </a:rPr>
                                  </m:ctrlPr>
                                </m:accPr>
                                <m:e>
                                  <m:r>
                                    <a:rPr lang="en-US" sz="2400" b="0" i="1" smtClean="0">
                                      <a:latin typeface="Cambria Math" panose="02040503050406030204" pitchFamily="18" charset="0"/>
                                      <a:cs typeface="Times New Roman" panose="02020603050405020304" pitchFamily="18" charset="0"/>
                                    </a:rPr>
                                    <m:t>𝜓</m:t>
                                  </m:r>
                                </m:e>
                              </m:acc>
                            </m:e>
                            <m:sub>
                              <m:r>
                                <a:rPr lang="en-US" sz="2400" b="0" i="1" smtClean="0">
                                  <a:latin typeface="Cambria Math" panose="02040503050406030204" pitchFamily="18" charset="0"/>
                                  <a:cs typeface="Times New Roman" panose="02020603050405020304" pitchFamily="18" charset="0"/>
                                </a:rPr>
                                <m:t>𝑗</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acc>
                                <m:accPr>
                                  <m:chr m:val="̂"/>
                                  <m:ctrlPr>
                                    <a:rPr lang="en-US" sz="2400" b="0" i="1" smtClean="0">
                                      <a:latin typeface="Cambria Math" panose="02040503050406030204" pitchFamily="18" charset="0"/>
                                      <a:cs typeface="Times New Roman" panose="02020603050405020304" pitchFamily="18" charset="0"/>
                                    </a:rPr>
                                  </m:ctrlPr>
                                </m:accPr>
                                <m:e>
                                  <m:r>
                                    <a:rPr lang="en-US" sz="2400" b="0" i="1" smtClean="0">
                                      <a:latin typeface="Cambria Math" panose="02040503050406030204" pitchFamily="18" charset="0"/>
                                      <a:cs typeface="Times New Roman" panose="02020603050405020304" pitchFamily="18" charset="0"/>
                                    </a:rPr>
                                    <m:t>𝜇</m:t>
                                  </m:r>
                                </m:e>
                              </m:acc>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e>
                      </m:nary>
                      <m:r>
                        <a:rPr lang="en-US" sz="2400" b="0" i="1" smtClean="0">
                          <a:latin typeface="Cambria Math" panose="02040503050406030204" pitchFamily="18" charset="0"/>
                          <a:cs typeface="Times New Roman" panose="02020603050405020304" pitchFamily="18" charset="0"/>
                        </a:rPr>
                        <m:t>×</m:t>
                      </m:r>
                      <m:r>
                        <a:rPr lang="en-US" sz="2400" i="1">
                          <a:latin typeface="Cambria Math" panose="02040503050406030204" pitchFamily="18" charset="0"/>
                          <a:cs typeface="Times New Roman" panose="02020603050405020304" pitchFamily="18" charset="0"/>
                        </a:rPr>
                        <m:t>𝑢</m:t>
                      </m:r>
                      <m:d>
                        <m:dPr>
                          <m:ctrlPr>
                            <a:rPr lang="en-US" sz="2400" i="1">
                              <a:latin typeface="Cambria Math" panose="02040503050406030204" pitchFamily="18" charset="0"/>
                              <a:cs typeface="Times New Roman" panose="02020603050405020304" pitchFamily="18" charset="0"/>
                            </a:rPr>
                          </m:ctrlPr>
                        </m:dPr>
                        <m:e>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𝑊</m:t>
                              </m:r>
                            </m:e>
                            <m:sub>
                              <m:r>
                                <a:rPr lang="en-US" sz="2400" i="1">
                                  <a:latin typeface="Cambria Math" panose="02040503050406030204" pitchFamily="18" charset="0"/>
                                  <a:cs typeface="Times New Roman" panose="02020603050405020304" pitchFamily="18" charset="0"/>
                                </a:rPr>
                                <m:t>𝑖</m:t>
                              </m:r>
                            </m:sub>
                          </m:sSub>
                          <m:r>
                            <a:rPr lang="en-US" sz="2400" i="1">
                              <a:latin typeface="Cambria Math" panose="02040503050406030204" pitchFamily="18" charset="0"/>
                              <a:cs typeface="Times New Roman" panose="02020603050405020304" pitchFamily="18" charset="0"/>
                            </a:rPr>
                            <m:t>−</m:t>
                          </m:r>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𝑃</m:t>
                              </m:r>
                            </m:e>
                            <m:sub>
                              <m:r>
                                <a:rPr lang="en-US" sz="2400" i="1">
                                  <a:latin typeface="Cambria Math" panose="02040503050406030204" pitchFamily="18" charset="0"/>
                                  <a:cs typeface="Times New Roman" panose="02020603050405020304" pitchFamily="18" charset="0"/>
                                </a:rPr>
                                <m:t>𝑖𝑗</m:t>
                              </m:r>
                            </m:sub>
                          </m:sSub>
                          <m:r>
                            <a:rPr lang="en-US" sz="2400" i="1">
                              <a:latin typeface="Cambria Math" panose="02040503050406030204" pitchFamily="18" charset="0"/>
                              <a:cs typeface="Times New Roman" panose="02020603050405020304" pitchFamily="18" charset="0"/>
                            </a:rPr>
                            <m:t>+</m:t>
                          </m:r>
                          <m:sSub>
                            <m:sSubPr>
                              <m:ctrlPr>
                                <a:rPr lang="en-US" sz="2400" i="1">
                                  <a:latin typeface="Cambria Math" panose="02040503050406030204" pitchFamily="18" charset="0"/>
                                  <a:cs typeface="Times New Roman" panose="02020603050405020304" pitchFamily="18" charset="0"/>
                                </a:rPr>
                              </m:ctrlPr>
                            </m:sSubPr>
                            <m:e>
                              <m:acc>
                                <m:accPr>
                                  <m:chr m:val="̂"/>
                                  <m:ctrlPr>
                                    <a:rPr lang="en-US" sz="2400" b="0" i="1" smtClean="0">
                                      <a:latin typeface="Cambria Math" panose="02040503050406030204" pitchFamily="18" charset="0"/>
                                      <a:cs typeface="Times New Roman" panose="02020603050405020304" pitchFamily="18" charset="0"/>
                                    </a:rPr>
                                  </m:ctrlPr>
                                </m:accPr>
                                <m:e>
                                  <m:r>
                                    <a:rPr lang="en-US" sz="2400" i="1">
                                      <a:latin typeface="Cambria Math" panose="02040503050406030204" pitchFamily="18" charset="0"/>
                                      <a:cs typeface="Times New Roman" panose="02020603050405020304" pitchFamily="18" charset="0"/>
                                    </a:rPr>
                                    <m:t>𝜋</m:t>
                                  </m:r>
                                </m:e>
                              </m:acc>
                            </m:e>
                            <m:sub>
                              <m:r>
                                <a:rPr lang="en-US" sz="2400" i="1">
                                  <a:latin typeface="Cambria Math" panose="02040503050406030204" pitchFamily="18" charset="0"/>
                                  <a:cs typeface="Times New Roman" panose="02020603050405020304" pitchFamily="18" charset="0"/>
                                </a:rPr>
                                <m:t>𝑗</m:t>
                              </m:r>
                            </m:sub>
                          </m:sSub>
                          <m:r>
                            <a:rPr lang="en-US" sz="2400" i="1">
                              <a:latin typeface="Cambria Math" panose="02040503050406030204" pitchFamily="18" charset="0"/>
                              <a:cs typeface="Times New Roman" panose="02020603050405020304" pitchFamily="18" charset="0"/>
                            </a:rPr>
                            <m:t>−</m:t>
                          </m:r>
                          <m:r>
                            <a:rPr lang="en-US" sz="2400" i="1">
                              <a:latin typeface="Cambria Math" panose="02040503050406030204" pitchFamily="18" charset="0"/>
                              <a:cs typeface="Times New Roman" panose="02020603050405020304" pitchFamily="18" charset="0"/>
                            </a:rPr>
                            <m:t>𝑠</m:t>
                          </m:r>
                        </m:e>
                      </m:d>
                      <m:r>
                        <m:rPr>
                          <m:sty m:val="p"/>
                        </m:rPr>
                        <a:rPr lang="en-US" sz="2400" b="0" i="0" smtClean="0">
                          <a:latin typeface="Cambria Math" panose="02040503050406030204" pitchFamily="18" charset="0"/>
                          <a:cs typeface="Times New Roman" panose="02020603050405020304" pitchFamily="18" charset="0"/>
                        </a:rPr>
                        <m:t>ds</m:t>
                      </m:r>
                    </m:oMath>
                  </m:oMathPara>
                </a14:m>
                <a:endParaRPr lang="en-US" sz="2400" dirty="0">
                  <a:cs typeface="Times New Roman" panose="02020603050405020304" pitchFamily="18" charset="0"/>
                </a:endParaRPr>
              </a:p>
              <a:p>
                <a:r>
                  <a:rPr lang="en-US" sz="2400" b="0" dirty="0">
                    <a:cs typeface="Times New Roman" panose="02020603050405020304" pitchFamily="18" charset="0"/>
                  </a:rPr>
                  <a:t>What does this capture? </a:t>
                </a:r>
              </a:p>
              <a:p>
                <a:pPr marL="731520" lvl="1" indent="-457200">
                  <a:buFont typeface="+mj-lt"/>
                  <a:buAutoNum type="arabicPeriod"/>
                </a:pPr>
                <a:r>
                  <a:rPr lang="en-US" sz="2200" dirty="0">
                    <a:cs typeface="Times New Roman" panose="02020603050405020304" pitchFamily="18" charset="0"/>
                  </a:rPr>
                  <a:t>Consumers may not have access to all information </a:t>
                </a:r>
              </a:p>
              <a:p>
                <a:pPr marL="731520" lvl="1" indent="-457200">
                  <a:buFont typeface="+mj-lt"/>
                  <a:buAutoNum type="arabicPeriod"/>
                </a:pPr>
                <a:r>
                  <a:rPr lang="en-US" sz="2200" dirty="0">
                    <a:cs typeface="Times New Roman" panose="02020603050405020304" pitchFamily="18" charset="0"/>
                  </a:rPr>
                  <a:t>Consumers may not pay attention to all information </a:t>
                </a:r>
              </a:p>
              <a:p>
                <a:pPr marL="731520" lvl="1" indent="-457200">
                  <a:buFont typeface="+mj-lt"/>
                  <a:buAutoNum type="arabicPeriod"/>
                </a:pPr>
                <a:r>
                  <a:rPr lang="en-US" sz="2200" dirty="0">
                    <a:cs typeface="Times New Roman" panose="02020603050405020304" pitchFamily="18" charset="0"/>
                  </a:rPr>
                  <a:t>Information processing errors</a:t>
                </a:r>
              </a:p>
              <a:p>
                <a:pPr marL="731520" lvl="1" indent="-457200">
                  <a:buFont typeface="+mj-lt"/>
                  <a:buAutoNum type="arabicPeriod"/>
                </a:pPr>
                <a:endParaRPr lang="en-US" sz="22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896918"/>
                <a:ext cx="10439400" cy="5283220"/>
              </a:xfrm>
              <a:blipFill>
                <a:blip r:embed="rId3"/>
                <a:stretch>
                  <a:fillRect l="-409" t="-1269"/>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normAutofit lnSpcReduction="10000"/>
          </a:bodyPr>
          <a:lstStyle/>
          <a:p>
            <a:fld id="{3DAF9783-BC0E-C649-838D-61F838C67253}" type="slidenum">
              <a:rPr lang="en-US" smtClean="0"/>
              <a:t>21</a:t>
            </a:fld>
            <a:endParaRPr lang="en-US"/>
          </a:p>
        </p:txBody>
      </p:sp>
      <p:sp>
        <p:nvSpPr>
          <p:cNvPr id="5" name="Title 1">
            <a:extLst>
              <a:ext uri="{FF2B5EF4-FFF2-40B4-BE49-F238E27FC236}">
                <a16:creationId xmlns:a16="http://schemas.microsoft.com/office/drawing/2014/main" id="{3AC41146-1857-1400-EE30-AE66F64DCE11}"/>
              </a:ext>
            </a:extLst>
          </p:cNvPr>
          <p:cNvSpPr txBox="1">
            <a:spLocks/>
          </p:cNvSpPr>
          <p:nvPr/>
        </p:nvSpPr>
        <p:spPr>
          <a:xfrm>
            <a:off x="609600" y="272077"/>
            <a:ext cx="10439400" cy="6248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r>
              <a:rPr lang="en-US" sz="3600" dirty="0">
                <a:cs typeface="Times New Roman" panose="02020603050405020304" pitchFamily="18" charset="0"/>
              </a:rPr>
              <a:t>3. Enrich the model (to match </a:t>
            </a:r>
            <a:r>
              <a:rPr lang="en-US" sz="3600" b="1" dirty="0">
                <a:cs typeface="Times New Roman" panose="02020603050405020304" pitchFamily="18" charset="0"/>
              </a:rPr>
              <a:t>behavioral biases</a:t>
            </a:r>
            <a:r>
              <a:rPr lang="en-US" sz="3600" dirty="0">
                <a:cs typeface="Times New Roman" panose="02020603050405020304" pitchFamily="18" charset="0"/>
              </a:rPr>
              <a:t>) </a:t>
            </a:r>
          </a:p>
        </p:txBody>
      </p:sp>
      <p:sp>
        <p:nvSpPr>
          <p:cNvPr id="2" name="TextBox 1">
            <a:extLst>
              <a:ext uri="{FF2B5EF4-FFF2-40B4-BE49-F238E27FC236}">
                <a16:creationId xmlns:a16="http://schemas.microsoft.com/office/drawing/2014/main" id="{7356AFB2-8EC3-DDF3-BC43-99888A0C749D}"/>
              </a:ext>
            </a:extLst>
          </p:cNvPr>
          <p:cNvSpPr txBox="1"/>
          <p:nvPr/>
        </p:nvSpPr>
        <p:spPr>
          <a:xfrm>
            <a:off x="723575" y="4572000"/>
            <a:ext cx="10211450" cy="1785104"/>
          </a:xfrm>
          <a:prstGeom prst="rect">
            <a:avLst/>
          </a:prstGeom>
          <a:solidFill>
            <a:schemeClr val="accent3">
              <a:lumMod val="75000"/>
            </a:schemeClr>
          </a:solidFill>
          <a:ln>
            <a:solidFill>
              <a:schemeClr val="accent1">
                <a:lumMod val="75000"/>
              </a:schemeClr>
            </a:solidFill>
          </a:ln>
        </p:spPr>
        <p:txBody>
          <a:bodyPr wrap="none" rtlCol="0">
            <a:spAutoFit/>
          </a:bodyPr>
          <a:lstStyle/>
          <a:p>
            <a:pPr algn="l"/>
            <a:r>
              <a:rPr lang="en-US" sz="2200" b="0" i="0" u="none" strike="noStrike" baseline="0" dirty="0">
                <a:solidFill>
                  <a:schemeClr val="bg1"/>
                </a:solidFill>
                <a:latin typeface="Times-Roman"/>
              </a:rPr>
              <a:t>Handel and Kolstad (2015) find evidence that consumers substantially under-purchase</a:t>
            </a:r>
          </a:p>
          <a:p>
            <a:pPr algn="l"/>
            <a:r>
              <a:rPr lang="en-US" sz="2200" b="0" i="0" u="none" strike="noStrike" baseline="0" dirty="0">
                <a:solidFill>
                  <a:schemeClr val="bg1"/>
                </a:solidFill>
                <a:latin typeface="Times-Roman"/>
              </a:rPr>
              <a:t>a high-deductible plan (HDHP) based on its financial value relative to the simpler</a:t>
            </a:r>
          </a:p>
          <a:p>
            <a:pPr algn="l"/>
            <a:r>
              <a:rPr lang="en-US" sz="2200" b="0" i="0" u="none" strike="noStrike" baseline="0" dirty="0">
                <a:solidFill>
                  <a:schemeClr val="bg1"/>
                </a:solidFill>
                <a:latin typeface="Times-Roman"/>
              </a:rPr>
              <a:t>PPO option. The standard non-behavioral explanation is that these purchasing patterns</a:t>
            </a:r>
          </a:p>
          <a:p>
            <a:pPr algn="l"/>
            <a:r>
              <a:rPr lang="en-US" sz="2200" b="0" i="0" u="none" strike="noStrike" baseline="0" dirty="0">
                <a:solidFill>
                  <a:schemeClr val="bg1"/>
                </a:solidFill>
                <a:latin typeface="Times-Roman"/>
              </a:rPr>
              <a:t>reflect consumer risk aversion—but the degree of risk aversion necessary to</a:t>
            </a:r>
          </a:p>
          <a:p>
            <a:pPr algn="l"/>
            <a:r>
              <a:rPr lang="en-US" sz="2200" b="0" i="0" u="none" strike="noStrike" baseline="0" dirty="0">
                <a:solidFill>
                  <a:schemeClr val="bg1"/>
                </a:solidFill>
                <a:latin typeface="Times-Roman"/>
              </a:rPr>
              <a:t>rationalize these choices </a:t>
            </a:r>
            <a:r>
              <a:rPr lang="en-US" sz="2200" b="1" i="0" u="sng" strike="noStrike" baseline="0" dirty="0">
                <a:solidFill>
                  <a:schemeClr val="bg1"/>
                </a:solidFill>
                <a:latin typeface="Times-Roman"/>
              </a:rPr>
              <a:t>is very high.</a:t>
            </a:r>
            <a:endParaRPr lang="en-US" sz="2200" b="1" u="sng" dirty="0">
              <a:solidFill>
                <a:schemeClr val="bg1"/>
              </a:solidFill>
            </a:endParaRPr>
          </a:p>
        </p:txBody>
      </p:sp>
    </p:spTree>
    <p:extLst>
      <p:ext uri="{BB962C8B-B14F-4D97-AF65-F5344CB8AC3E}">
        <p14:creationId xmlns:p14="http://schemas.microsoft.com/office/powerpoint/2010/main" val="12753746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24BC195F-F13E-FC2B-C996-3079843C706E}"/>
              </a:ext>
            </a:extLst>
          </p:cNvPr>
          <p:cNvPicPr>
            <a:picLocks noGrp="1" noChangeAspect="1"/>
          </p:cNvPicPr>
          <p:nvPr>
            <p:ph idx="1"/>
          </p:nvPr>
        </p:nvPicPr>
        <p:blipFill>
          <a:blip r:embed="rId3"/>
          <a:stretch>
            <a:fillRect/>
          </a:stretch>
        </p:blipFill>
        <p:spPr>
          <a:xfrm>
            <a:off x="0" y="925101"/>
            <a:ext cx="9906000" cy="5855890"/>
          </a:xfrm>
        </p:spPr>
      </p:pic>
      <p:sp>
        <p:nvSpPr>
          <p:cNvPr id="4" name="Slide Number Placeholder 3"/>
          <p:cNvSpPr>
            <a:spLocks noGrp="1"/>
          </p:cNvSpPr>
          <p:nvPr>
            <p:ph type="sldNum" sz="quarter" idx="12"/>
          </p:nvPr>
        </p:nvSpPr>
        <p:spPr/>
        <p:txBody>
          <a:bodyPr>
            <a:normAutofit lnSpcReduction="10000"/>
          </a:bodyPr>
          <a:lstStyle/>
          <a:p>
            <a:fld id="{3DAF9783-BC0E-C649-838D-61F838C67253}" type="slidenum">
              <a:rPr lang="en-US" smtClean="0"/>
              <a:t>22</a:t>
            </a:fld>
            <a:endParaRPr lang="en-US"/>
          </a:p>
        </p:txBody>
      </p:sp>
      <p:sp>
        <p:nvSpPr>
          <p:cNvPr id="5" name="Title 1">
            <a:extLst>
              <a:ext uri="{FF2B5EF4-FFF2-40B4-BE49-F238E27FC236}">
                <a16:creationId xmlns:a16="http://schemas.microsoft.com/office/drawing/2014/main" id="{3AC41146-1857-1400-EE30-AE66F64DCE11}"/>
              </a:ext>
            </a:extLst>
          </p:cNvPr>
          <p:cNvSpPr txBox="1">
            <a:spLocks/>
          </p:cNvSpPr>
          <p:nvPr/>
        </p:nvSpPr>
        <p:spPr>
          <a:xfrm>
            <a:off x="609600" y="272077"/>
            <a:ext cx="10439400" cy="6248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r>
              <a:rPr lang="en-US" sz="3600" dirty="0">
                <a:cs typeface="Times New Roman" panose="02020603050405020304" pitchFamily="18" charset="0"/>
              </a:rPr>
              <a:t>Descriptive Evidence</a:t>
            </a:r>
          </a:p>
        </p:txBody>
      </p:sp>
    </p:spTree>
    <p:extLst>
      <p:ext uri="{BB962C8B-B14F-4D97-AF65-F5344CB8AC3E}">
        <p14:creationId xmlns:p14="http://schemas.microsoft.com/office/powerpoint/2010/main" val="12365727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normAutofit lnSpcReduction="10000"/>
          </a:bodyPr>
          <a:lstStyle/>
          <a:p>
            <a:fld id="{3DAF9783-BC0E-C649-838D-61F838C67253}" type="slidenum">
              <a:rPr lang="en-US" smtClean="0"/>
              <a:t>23</a:t>
            </a:fld>
            <a:endParaRPr lang="en-US"/>
          </a:p>
        </p:txBody>
      </p:sp>
      <p:sp>
        <p:nvSpPr>
          <p:cNvPr id="5" name="Title 1">
            <a:extLst>
              <a:ext uri="{FF2B5EF4-FFF2-40B4-BE49-F238E27FC236}">
                <a16:creationId xmlns:a16="http://schemas.microsoft.com/office/drawing/2014/main" id="{3AC41146-1857-1400-EE30-AE66F64DCE11}"/>
              </a:ext>
            </a:extLst>
          </p:cNvPr>
          <p:cNvSpPr txBox="1">
            <a:spLocks/>
          </p:cNvSpPr>
          <p:nvPr/>
        </p:nvSpPr>
        <p:spPr>
          <a:xfrm>
            <a:off x="609600" y="677863"/>
            <a:ext cx="10439400" cy="6248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r>
              <a:rPr lang="en-US" sz="3600" dirty="0">
                <a:cs typeface="Times New Roman" panose="02020603050405020304" pitchFamily="18" charset="0"/>
              </a:rPr>
              <a:t>Descriptive </a:t>
            </a:r>
          </a:p>
          <a:p>
            <a:r>
              <a:rPr lang="en-US" sz="3600" dirty="0">
                <a:cs typeface="Times New Roman" panose="02020603050405020304" pitchFamily="18" charset="0"/>
              </a:rPr>
              <a:t>Evidence</a:t>
            </a:r>
          </a:p>
        </p:txBody>
      </p:sp>
      <p:sp>
        <p:nvSpPr>
          <p:cNvPr id="3" name="Content Placeholder 2">
            <a:extLst>
              <a:ext uri="{FF2B5EF4-FFF2-40B4-BE49-F238E27FC236}">
                <a16:creationId xmlns:a16="http://schemas.microsoft.com/office/drawing/2014/main" id="{D9D02346-36B9-1322-04CB-0AA371D3CFD8}"/>
              </a:ext>
            </a:extLst>
          </p:cNvPr>
          <p:cNvSpPr>
            <a:spLocks noGrp="1"/>
          </p:cNvSpPr>
          <p:nvPr>
            <p:ph idx="1"/>
          </p:nvPr>
        </p:nvSpPr>
        <p:spPr/>
        <p:txBody>
          <a:bodyPr/>
          <a:lstStyle/>
          <a:p>
            <a:endParaRPr lang="en-CA"/>
          </a:p>
        </p:txBody>
      </p:sp>
      <p:pic>
        <p:nvPicPr>
          <p:cNvPr id="8" name="Picture 7">
            <a:extLst>
              <a:ext uri="{FF2B5EF4-FFF2-40B4-BE49-F238E27FC236}">
                <a16:creationId xmlns:a16="http://schemas.microsoft.com/office/drawing/2014/main" id="{9CAB983C-1893-679A-8409-95C722A0FBA1}"/>
              </a:ext>
            </a:extLst>
          </p:cNvPr>
          <p:cNvPicPr>
            <a:picLocks noChangeAspect="1"/>
          </p:cNvPicPr>
          <p:nvPr/>
        </p:nvPicPr>
        <p:blipFill>
          <a:blip r:embed="rId3"/>
          <a:stretch>
            <a:fillRect/>
          </a:stretch>
        </p:blipFill>
        <p:spPr>
          <a:xfrm>
            <a:off x="3544380" y="0"/>
            <a:ext cx="7732511" cy="6858000"/>
          </a:xfrm>
          <a:prstGeom prst="rect">
            <a:avLst/>
          </a:prstGeom>
        </p:spPr>
      </p:pic>
    </p:spTree>
    <p:extLst>
      <p:ext uri="{BB962C8B-B14F-4D97-AF65-F5344CB8AC3E}">
        <p14:creationId xmlns:p14="http://schemas.microsoft.com/office/powerpoint/2010/main" val="6736190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normAutofit lnSpcReduction="10000"/>
          </a:bodyPr>
          <a:lstStyle/>
          <a:p>
            <a:fld id="{3DAF9783-BC0E-C649-838D-61F838C67253}" type="slidenum">
              <a:rPr lang="en-US" smtClean="0"/>
              <a:t>24</a:t>
            </a:fld>
            <a:endParaRPr lang="en-US"/>
          </a:p>
        </p:txBody>
      </p:sp>
      <p:sp>
        <p:nvSpPr>
          <p:cNvPr id="5" name="Title 1">
            <a:extLst>
              <a:ext uri="{FF2B5EF4-FFF2-40B4-BE49-F238E27FC236}">
                <a16:creationId xmlns:a16="http://schemas.microsoft.com/office/drawing/2014/main" id="{3AC41146-1857-1400-EE30-AE66F64DCE11}"/>
              </a:ext>
            </a:extLst>
          </p:cNvPr>
          <p:cNvSpPr txBox="1">
            <a:spLocks/>
          </p:cNvSpPr>
          <p:nvPr/>
        </p:nvSpPr>
        <p:spPr>
          <a:xfrm>
            <a:off x="609600" y="272077"/>
            <a:ext cx="10439400" cy="6248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r>
              <a:rPr lang="en-US" sz="3600" dirty="0">
                <a:cs typeface="Times New Roman" panose="02020603050405020304" pitchFamily="18" charset="0"/>
              </a:rPr>
              <a:t>Modeling Approaches</a:t>
            </a:r>
          </a:p>
        </p:txBody>
      </p:sp>
      <p:sp>
        <p:nvSpPr>
          <p:cNvPr id="3" name="Content Placeholder 2">
            <a:extLst>
              <a:ext uri="{FF2B5EF4-FFF2-40B4-BE49-F238E27FC236}">
                <a16:creationId xmlns:a16="http://schemas.microsoft.com/office/drawing/2014/main" id="{2D3116C4-FF2A-E999-69ED-BE3BF3633C31}"/>
              </a:ext>
            </a:extLst>
          </p:cNvPr>
          <p:cNvSpPr>
            <a:spLocks noGrp="1"/>
          </p:cNvSpPr>
          <p:nvPr>
            <p:ph idx="1"/>
          </p:nvPr>
        </p:nvSpPr>
        <p:spPr>
          <a:xfrm>
            <a:off x="762000" y="896918"/>
            <a:ext cx="10134600" cy="5283220"/>
          </a:xfrm>
        </p:spPr>
        <p:txBody>
          <a:bodyPr>
            <a:normAutofit/>
          </a:bodyPr>
          <a:lstStyle/>
          <a:p>
            <a:pPr marL="342900" indent="-342900">
              <a:buFont typeface="+mj-lt"/>
              <a:buAutoNum type="arabicPeriod"/>
            </a:pPr>
            <a:r>
              <a:rPr lang="en-CA" sz="2400" dirty="0">
                <a:latin typeface="Aptos" panose="020B0004020202020204" pitchFamily="34" charset="0"/>
              </a:rPr>
              <a:t>“Baseline model”: health risk, risk preferences, plan characteristics</a:t>
            </a:r>
          </a:p>
          <a:p>
            <a:pPr marL="342900" indent="-342900">
              <a:buFont typeface="+mj-lt"/>
              <a:buAutoNum type="arabicPeriod"/>
            </a:pPr>
            <a:r>
              <a:rPr lang="en-CA" sz="2400" dirty="0">
                <a:latin typeface="Aptos" panose="020B0004020202020204" pitchFamily="34" charset="0"/>
              </a:rPr>
              <a:t>Add only one friction (inertia)</a:t>
            </a:r>
          </a:p>
          <a:p>
            <a:pPr marL="342900" indent="-342900">
              <a:buFont typeface="+mj-lt"/>
              <a:buAutoNum type="arabicPeriod"/>
            </a:pPr>
            <a:r>
              <a:rPr lang="en-CA" sz="2400" dirty="0">
                <a:latin typeface="Aptos" panose="020B0004020202020204" pitchFamily="34" charset="0"/>
              </a:rPr>
              <a:t>Add all other frictions (information friction, hassle costs)</a:t>
            </a:r>
          </a:p>
          <a:p>
            <a:pPr marL="342900" indent="-342900">
              <a:buFont typeface="+mj-lt"/>
              <a:buAutoNum type="arabicPeriod"/>
            </a:pPr>
            <a:r>
              <a:rPr lang="en-CA" sz="2400" dirty="0">
                <a:latin typeface="Aptos" panose="020B0004020202020204" pitchFamily="34" charset="0"/>
              </a:rPr>
              <a:t>Estimate a “types” model </a:t>
            </a:r>
          </a:p>
          <a:p>
            <a:pPr lvl="1"/>
            <a:r>
              <a:rPr lang="en-CA" sz="2200" dirty="0">
                <a:latin typeface="Aptos" panose="020B0004020202020204" pitchFamily="34" charset="0"/>
              </a:rPr>
              <a:t>Consolidate all frictions to one dimension</a:t>
            </a:r>
          </a:p>
          <a:p>
            <a:pPr lvl="1"/>
            <a:endParaRPr lang="en-CA" sz="2200" dirty="0">
              <a:latin typeface="Aptos" panose="020B0004020202020204" pitchFamily="34" charset="0"/>
            </a:endParaRPr>
          </a:p>
        </p:txBody>
      </p:sp>
      <p:pic>
        <p:nvPicPr>
          <p:cNvPr id="8" name="Picture 7">
            <a:extLst>
              <a:ext uri="{FF2B5EF4-FFF2-40B4-BE49-F238E27FC236}">
                <a16:creationId xmlns:a16="http://schemas.microsoft.com/office/drawing/2014/main" id="{86CCD2BC-F7DA-4CB1-54DF-994464851D05}"/>
              </a:ext>
            </a:extLst>
          </p:cNvPr>
          <p:cNvPicPr>
            <a:picLocks noChangeAspect="1"/>
          </p:cNvPicPr>
          <p:nvPr/>
        </p:nvPicPr>
        <p:blipFill>
          <a:blip r:embed="rId3"/>
          <a:stretch>
            <a:fillRect/>
          </a:stretch>
        </p:blipFill>
        <p:spPr>
          <a:xfrm>
            <a:off x="4376755" y="3276600"/>
            <a:ext cx="6821408" cy="3581400"/>
          </a:xfrm>
          <a:prstGeom prst="rect">
            <a:avLst/>
          </a:prstGeom>
        </p:spPr>
      </p:pic>
    </p:spTree>
    <p:extLst>
      <p:ext uri="{BB962C8B-B14F-4D97-AF65-F5344CB8AC3E}">
        <p14:creationId xmlns:p14="http://schemas.microsoft.com/office/powerpoint/2010/main" val="7241165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896918"/>
                <a:ext cx="10439400" cy="5283220"/>
              </a:xfrm>
            </p:spPr>
            <p:txBody>
              <a:bodyPr>
                <a:noAutofit/>
              </a:bodyPr>
              <a:lstStyle/>
              <a:p>
                <a:r>
                  <a:rPr lang="en-US" sz="2400" dirty="0">
                    <a:cs typeface="Times New Roman" panose="02020603050405020304" pitchFamily="18" charset="0"/>
                  </a:rPr>
                  <a:t>In practice, authors focus on two things for </a:t>
                </a:r>
                <a:r>
                  <a:rPr lang="en-US" sz="2400" i="1" dirty="0">
                    <a:cs typeface="Times New Roman" panose="02020603050405020304" pitchFamily="18" charset="0"/>
                  </a:rPr>
                  <a:t>ex-post</a:t>
                </a:r>
                <a:r>
                  <a:rPr lang="en-US" sz="2400" dirty="0">
                    <a:cs typeface="Times New Roman" panose="02020603050405020304" pitchFamily="18" charset="0"/>
                  </a:rPr>
                  <a:t> utility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𝑢</m:t>
                        </m:r>
                      </m:e>
                      <m:sub>
                        <m:r>
                          <a:rPr lang="en-US" sz="2400" b="0" i="1" smtClean="0">
                            <a:latin typeface="Cambria Math" panose="02040503050406030204" pitchFamily="18" charset="0"/>
                            <a:cs typeface="Times New Roman" panose="02020603050405020304" pitchFamily="18" charset="0"/>
                          </a:rPr>
                          <m:t>𝑖</m:t>
                        </m:r>
                      </m:sub>
                    </m:sSub>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𝑖𝑗</m:t>
                            </m:r>
                          </m:sub>
                        </m:sSub>
                      </m:e>
                    </m:d>
                  </m:oMath>
                </a14:m>
                <a:r>
                  <a:rPr lang="en-US" sz="2400" dirty="0">
                    <a:cs typeface="Times New Roman" panose="02020603050405020304" pitchFamily="18" charset="0"/>
                  </a:rPr>
                  <a:t>: </a:t>
                </a:r>
              </a:p>
              <a:p>
                <a:pPr lvl="1"/>
                <a:r>
                  <a:rPr lang="en-US" sz="2200" dirty="0">
                    <a:cs typeface="Times New Roman" panose="02020603050405020304" pitchFamily="18" charset="0"/>
                  </a:rPr>
                  <a:t>Large perceived costs of switching plans </a:t>
                </a:r>
              </a:p>
              <a:p>
                <a:pPr lvl="1"/>
                <a:r>
                  <a:rPr lang="en-US" sz="2200" dirty="0">
                    <a:cs typeface="Times New Roman" panose="02020603050405020304" pitchFamily="18" charset="0"/>
                  </a:rPr>
                  <a:t>Additional utility “penalties” for HDHP enrollment</a:t>
                </a:r>
              </a:p>
              <a:p>
                <a:pPr marL="274320" lvl="1" indent="0">
                  <a:buNone/>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𝑖𝑗</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m:rPr>
                              <m:sty m:val="p"/>
                            </m:rPr>
                            <a:rPr lang="en-US" sz="2400" b="0" i="0" smtClean="0">
                              <a:latin typeface="Cambria Math" panose="02040503050406030204" pitchFamily="18" charset="0"/>
                              <a:cs typeface="Times New Roman" panose="02020603050405020304" pitchFamily="18" charset="0"/>
                            </a:rPr>
                            <m:t>W</m:t>
                          </m:r>
                        </m:e>
                        <m:sub>
                          <m:r>
                            <m:rPr>
                              <m:sty m:val="p"/>
                            </m:rPr>
                            <a:rPr lang="en-US" sz="2400" b="0" i="0" smtClean="0">
                              <a:latin typeface="Cambria Math" panose="02040503050406030204" pitchFamily="18" charset="0"/>
                              <a:cs typeface="Times New Roman" panose="02020603050405020304" pitchFamily="18" charset="0"/>
                            </a:rPr>
                            <m:t>i</m:t>
                          </m:r>
                        </m:sub>
                      </m:sSub>
                      <m:r>
                        <a:rPr lang="en-US" sz="2400" b="0" i="0"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m:rPr>
                              <m:sty m:val="p"/>
                            </m:rPr>
                            <a:rPr lang="en-US" sz="2400" b="0" i="0" smtClean="0">
                              <a:latin typeface="Cambria Math" panose="02040503050406030204" pitchFamily="18" charset="0"/>
                              <a:cs typeface="Times New Roman" panose="02020603050405020304" pitchFamily="18" charset="0"/>
                            </a:rPr>
                            <m:t>P</m:t>
                          </m:r>
                        </m:e>
                        <m:sub>
                          <m:r>
                            <m:rPr>
                              <m:sty m:val="p"/>
                            </m:rPr>
                            <a:rPr lang="en-US" sz="2400" b="0" i="0" smtClean="0">
                              <a:latin typeface="Cambria Math" panose="02040503050406030204" pitchFamily="18" charset="0"/>
                              <a:cs typeface="Times New Roman" panose="02020603050405020304" pitchFamily="18" charset="0"/>
                            </a:rPr>
                            <m:t>ij</m:t>
                          </m:r>
                        </m:sub>
                      </m:sSub>
                      <m:r>
                        <a:rPr lang="en-US" sz="2400" b="0" i="0" smtClean="0">
                          <a:latin typeface="Cambria Math" panose="02040503050406030204" pitchFamily="18" charset="0"/>
                          <a:cs typeface="Times New Roman" panose="02020603050405020304" pitchFamily="18" charset="0"/>
                        </a:rPr>
                        <m:t>−</m:t>
                      </m:r>
                      <m:r>
                        <m:rPr>
                          <m:sty m:val="p"/>
                        </m:rPr>
                        <a:rPr lang="en-US" sz="2400" b="0" i="0" smtClean="0">
                          <a:latin typeface="Cambria Math" panose="02040503050406030204" pitchFamily="18" charset="0"/>
                          <a:cs typeface="Times New Roman" panose="02020603050405020304" pitchFamily="18" charset="0"/>
                        </a:rPr>
                        <m:t>s</m:t>
                      </m:r>
                      <m:r>
                        <a:rPr lang="en-US" sz="2400" b="0" i="0"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𝜂</m:t>
                      </m:r>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𝐷</m:t>
                              </m:r>
                            </m:e>
                            <m:sub>
                              <m:r>
                                <a:rPr lang="en-US" sz="2400" b="0" i="1" smtClean="0">
                                  <a:latin typeface="Cambria Math" panose="02040503050406030204" pitchFamily="18" charset="0"/>
                                  <a:cs typeface="Times New Roman" panose="02020603050405020304" pitchFamily="18" charset="0"/>
                                </a:rPr>
                                <m:t>𝑖</m:t>
                              </m:r>
                            </m:sub>
                          </m:sSub>
                        </m:e>
                      </m:d>
                      <m:r>
                        <a:rPr lang="en-US" sz="2400" b="0" i="1" smtClean="0">
                          <a:latin typeface="Cambria Math" panose="02040503050406030204" pitchFamily="18" charset="0"/>
                          <a:cs typeface="Times New Roman" panose="02020603050405020304" pitchFamily="18" charset="0"/>
                        </a:rPr>
                        <m:t>𝕀</m:t>
                      </m:r>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𝑗</m:t>
                              </m:r>
                            </m:e>
                            <m:sub>
                              <m:r>
                                <a:rPr lang="en-US" sz="2400" b="0" i="1" smtClean="0">
                                  <a:latin typeface="Cambria Math" panose="02040503050406030204" pitchFamily="18" charset="0"/>
                                  <a:cs typeface="Times New Roman" panose="02020603050405020304" pitchFamily="18" charset="0"/>
                                </a:rPr>
                                <m:t>𝑡</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𝑗</m:t>
                              </m:r>
                            </m:e>
                            <m:sub>
                              <m:r>
                                <a:rPr lang="en-US" sz="2400" b="0" i="1" smtClean="0">
                                  <a:latin typeface="Cambria Math" panose="02040503050406030204" pitchFamily="18" charset="0"/>
                                  <a:cs typeface="Times New Roman" panose="02020603050405020304" pitchFamily="18" charset="0"/>
                                </a:rPr>
                                <m:t>𝑡</m:t>
                              </m:r>
                              <m:r>
                                <a:rPr lang="en-US" sz="2400" b="0" i="1" smtClean="0">
                                  <a:latin typeface="Cambria Math" panose="02040503050406030204" pitchFamily="18" charset="0"/>
                                  <a:cs typeface="Times New Roman" panose="02020603050405020304" pitchFamily="18" charset="0"/>
                                </a:rPr>
                                <m:t>−1</m:t>
                              </m:r>
                            </m:sub>
                          </m:sSub>
                        </m:e>
                      </m:d>
                      <m:r>
                        <a:rPr lang="en-US" sz="2400" b="0" i="1" smtClean="0">
                          <a:latin typeface="Cambria Math" panose="02040503050406030204" pitchFamily="18" charset="0"/>
                          <a:cs typeface="Times New Roman" panose="02020603050405020304" pitchFamily="18" charset="0"/>
                        </a:rPr>
                        <m:t>+</m:t>
                      </m:r>
                      <m:sSubSup>
                        <m:sSubSupPr>
                          <m:ctrlPr>
                            <a:rPr lang="en-US" sz="2400" b="1" i="1" smtClean="0">
                              <a:latin typeface="Cambria Math" panose="02040503050406030204" pitchFamily="18" charset="0"/>
                              <a:cs typeface="Times New Roman" panose="02020603050405020304" pitchFamily="18" charset="0"/>
                            </a:rPr>
                          </m:ctrlPr>
                        </m:sSubSupPr>
                        <m:e>
                          <m:r>
                            <a:rPr lang="en-US" sz="2400" b="1" i="1" smtClean="0">
                              <a:latin typeface="Cambria Math" panose="02040503050406030204" pitchFamily="18" charset="0"/>
                              <a:cs typeface="Times New Roman" panose="02020603050405020304" pitchFamily="18" charset="0"/>
                            </a:rPr>
                            <m:t>𝒁</m:t>
                          </m:r>
                        </m:e>
                        <m:sub>
                          <m:r>
                            <a:rPr lang="en-US" sz="2400" b="1" i="1" smtClean="0">
                              <a:latin typeface="Cambria Math" panose="02040503050406030204" pitchFamily="18" charset="0"/>
                              <a:cs typeface="Times New Roman" panose="02020603050405020304" pitchFamily="18" charset="0"/>
                            </a:rPr>
                            <m:t>𝒊</m:t>
                          </m:r>
                        </m:sub>
                        <m:sup>
                          <m:r>
                            <a:rPr lang="en-US" sz="2400" b="1" i="1" smtClean="0">
                              <a:latin typeface="Cambria Math" panose="02040503050406030204" pitchFamily="18" charset="0"/>
                              <a:cs typeface="Times New Roman" panose="02020603050405020304" pitchFamily="18" charset="0"/>
                            </a:rPr>
                            <m:t>′</m:t>
                          </m:r>
                        </m:sup>
                      </m:sSubSup>
                      <m:r>
                        <a:rPr lang="en-US" sz="2400" b="0" i="1" smtClean="0">
                          <a:latin typeface="Cambria Math" panose="02040503050406030204" pitchFamily="18" charset="0"/>
                          <a:cs typeface="Times New Roman" panose="02020603050405020304" pitchFamily="18" charset="0"/>
                        </a:rPr>
                        <m:t>𝛽</m:t>
                      </m:r>
                      <m:r>
                        <a:rPr lang="en-US" sz="2400" b="0" i="1" smtClean="0">
                          <a:latin typeface="Cambria Math" panose="02040503050406030204" pitchFamily="18" charset="0"/>
                          <a:cs typeface="Times New Roman" panose="02020603050405020304" pitchFamily="18" charset="0"/>
                        </a:rPr>
                        <m:t>𝕀</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𝐻𝐷𝐻</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𝑃</m:t>
                              </m:r>
                            </m:e>
                            <m:sub>
                              <m:r>
                                <a:rPr lang="en-US" sz="2400" b="0" i="1" smtClean="0">
                                  <a:latin typeface="Cambria Math" panose="02040503050406030204" pitchFamily="18" charset="0"/>
                                  <a:cs typeface="Times New Roman" panose="02020603050405020304" pitchFamily="18" charset="0"/>
                                </a:rPr>
                                <m:t>𝑗</m:t>
                              </m:r>
                            </m:sub>
                          </m:sSub>
                        </m:e>
                      </m:d>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𝜀</m:t>
                          </m:r>
                        </m:e>
                        <m:sub>
                          <m:r>
                            <a:rPr lang="en-US" sz="2400" b="0" i="1" smtClean="0">
                              <a:latin typeface="Cambria Math" panose="02040503050406030204" pitchFamily="18" charset="0"/>
                              <a:cs typeface="Times New Roman" panose="02020603050405020304" pitchFamily="18" charset="0"/>
                            </a:rPr>
                            <m:t>𝑖𝑗</m:t>
                          </m:r>
                          <m:r>
                            <a:rPr lang="en-US" sz="2400" b="0" i="1" smtClean="0">
                              <a:latin typeface="Cambria Math" panose="02040503050406030204" pitchFamily="18" charset="0"/>
                              <a:cs typeface="Times New Roman" panose="02020603050405020304" pitchFamily="18" charset="0"/>
                            </a:rPr>
                            <m:t> </m:t>
                          </m:r>
                        </m:sub>
                      </m:sSub>
                    </m:oMath>
                  </m:oMathPara>
                </a14:m>
                <a:endParaRPr lang="en-US" sz="2400" b="0" dirty="0">
                  <a:cs typeface="Times New Roman" panose="02020603050405020304" pitchFamily="18" charset="0"/>
                </a:endParaRPr>
              </a:p>
              <a:p>
                <a:pPr marL="274320" lvl="1" indent="0">
                  <a:buNone/>
                </a:pPr>
                <a:endParaRPr lang="en-US" sz="2400" dirty="0">
                  <a:cs typeface="Times New Roman" panose="02020603050405020304" pitchFamily="18" charset="0"/>
                </a:endParaRPr>
              </a:p>
              <a:p>
                <a:pPr marL="731520" lvl="1" indent="-457200">
                  <a:buFont typeface="+mj-lt"/>
                  <a:buAutoNum type="arabicPeriod"/>
                </a:pPr>
                <a14:m>
                  <m:oMath xmlns:m="http://schemas.openxmlformats.org/officeDocument/2006/math">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𝜂</m:t>
                        </m:r>
                      </m:e>
                    </m:d>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The average (SD) $$$ foregone due to inertia is $2,396 ($503)</a:t>
                </a:r>
              </a:p>
              <a:p>
                <a:pPr marL="731520" lvl="1" indent="-457200">
                  <a:buFont typeface="+mj-lt"/>
                  <a:buAutoNum type="arabicPeriod"/>
                </a:pPr>
                <a:endParaRPr lang="en-US" sz="22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896918"/>
                <a:ext cx="10439400" cy="5283220"/>
              </a:xfrm>
              <a:blipFill>
                <a:blip r:embed="rId3"/>
                <a:stretch>
                  <a:fillRect l="-409" t="-807"/>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normAutofit lnSpcReduction="10000"/>
          </a:bodyPr>
          <a:lstStyle/>
          <a:p>
            <a:fld id="{3DAF9783-BC0E-C649-838D-61F838C67253}" type="slidenum">
              <a:rPr lang="en-US" smtClean="0"/>
              <a:t>25</a:t>
            </a:fld>
            <a:endParaRPr lang="en-US"/>
          </a:p>
        </p:txBody>
      </p:sp>
      <p:sp>
        <p:nvSpPr>
          <p:cNvPr id="5" name="Title 1">
            <a:extLst>
              <a:ext uri="{FF2B5EF4-FFF2-40B4-BE49-F238E27FC236}">
                <a16:creationId xmlns:a16="http://schemas.microsoft.com/office/drawing/2014/main" id="{3AC41146-1857-1400-EE30-AE66F64DCE11}"/>
              </a:ext>
            </a:extLst>
          </p:cNvPr>
          <p:cNvSpPr txBox="1">
            <a:spLocks/>
          </p:cNvSpPr>
          <p:nvPr/>
        </p:nvSpPr>
        <p:spPr>
          <a:xfrm>
            <a:off x="609600" y="272077"/>
            <a:ext cx="10439400" cy="6248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r>
              <a:rPr lang="en-US" sz="3600" dirty="0">
                <a:cs typeface="Times New Roman" panose="02020603050405020304" pitchFamily="18" charset="0"/>
              </a:rPr>
              <a:t>What does this look like? </a:t>
            </a:r>
          </a:p>
        </p:txBody>
      </p:sp>
    </p:spTree>
    <p:extLst>
      <p:ext uri="{BB962C8B-B14F-4D97-AF65-F5344CB8AC3E}">
        <p14:creationId xmlns:p14="http://schemas.microsoft.com/office/powerpoint/2010/main" val="32043553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896918"/>
                <a:ext cx="10439400" cy="5283220"/>
              </a:xfrm>
            </p:spPr>
            <p:txBody>
              <a:bodyPr>
                <a:noAutofit/>
              </a:bodyPr>
              <a:lstStyle/>
              <a:p>
                <a:r>
                  <a:rPr lang="en-US" sz="2400" dirty="0">
                    <a:cs typeface="Times New Roman" panose="02020603050405020304" pitchFamily="18" charset="0"/>
                  </a:rPr>
                  <a:t>In practice, authors focus on two things for </a:t>
                </a:r>
                <a:r>
                  <a:rPr lang="en-US" sz="2400" i="1" dirty="0">
                    <a:cs typeface="Times New Roman" panose="02020603050405020304" pitchFamily="18" charset="0"/>
                  </a:rPr>
                  <a:t>ex-post</a:t>
                </a:r>
                <a:r>
                  <a:rPr lang="en-US" sz="2400" dirty="0">
                    <a:cs typeface="Times New Roman" panose="02020603050405020304" pitchFamily="18" charset="0"/>
                  </a:rPr>
                  <a:t> utility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𝑢</m:t>
                        </m:r>
                      </m:e>
                      <m:sub>
                        <m:r>
                          <a:rPr lang="en-US" sz="2400" b="0" i="1" smtClean="0">
                            <a:latin typeface="Cambria Math" panose="02040503050406030204" pitchFamily="18" charset="0"/>
                            <a:cs typeface="Times New Roman" panose="02020603050405020304" pitchFamily="18" charset="0"/>
                          </a:rPr>
                          <m:t>𝑖</m:t>
                        </m:r>
                      </m:sub>
                    </m:sSub>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𝑖𝑗</m:t>
                            </m:r>
                          </m:sub>
                        </m:sSub>
                      </m:e>
                    </m:d>
                  </m:oMath>
                </a14:m>
                <a:r>
                  <a:rPr lang="en-US" sz="2400" dirty="0">
                    <a:cs typeface="Times New Roman" panose="02020603050405020304" pitchFamily="18" charset="0"/>
                  </a:rPr>
                  <a:t>: </a:t>
                </a:r>
              </a:p>
              <a:p>
                <a:pPr lvl="1"/>
                <a:r>
                  <a:rPr lang="en-US" sz="2200" dirty="0">
                    <a:cs typeface="Times New Roman" panose="02020603050405020304" pitchFamily="18" charset="0"/>
                  </a:rPr>
                  <a:t>Large perceived costs of switching plans </a:t>
                </a:r>
              </a:p>
              <a:p>
                <a:pPr lvl="1"/>
                <a:r>
                  <a:rPr lang="en-US" sz="2200" dirty="0">
                    <a:cs typeface="Times New Roman" panose="02020603050405020304" pitchFamily="18" charset="0"/>
                  </a:rPr>
                  <a:t>Additional utility “penalties” for HDHP enrollment</a:t>
                </a:r>
              </a:p>
              <a:p>
                <a:pPr marL="274320" lvl="1" indent="0">
                  <a:buNone/>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𝑖𝑗</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m:rPr>
                              <m:sty m:val="p"/>
                            </m:rPr>
                            <a:rPr lang="en-US" sz="2400" b="0" i="0" smtClean="0">
                              <a:latin typeface="Cambria Math" panose="02040503050406030204" pitchFamily="18" charset="0"/>
                              <a:cs typeface="Times New Roman" panose="02020603050405020304" pitchFamily="18" charset="0"/>
                            </a:rPr>
                            <m:t>W</m:t>
                          </m:r>
                        </m:e>
                        <m:sub>
                          <m:r>
                            <m:rPr>
                              <m:sty m:val="p"/>
                            </m:rPr>
                            <a:rPr lang="en-US" sz="2400" b="0" i="0" smtClean="0">
                              <a:latin typeface="Cambria Math" panose="02040503050406030204" pitchFamily="18" charset="0"/>
                              <a:cs typeface="Times New Roman" panose="02020603050405020304" pitchFamily="18" charset="0"/>
                            </a:rPr>
                            <m:t>i</m:t>
                          </m:r>
                        </m:sub>
                      </m:sSub>
                      <m:r>
                        <a:rPr lang="en-US" sz="2400" b="0" i="0"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m:rPr>
                              <m:sty m:val="p"/>
                            </m:rPr>
                            <a:rPr lang="en-US" sz="2400" b="0" i="0" smtClean="0">
                              <a:latin typeface="Cambria Math" panose="02040503050406030204" pitchFamily="18" charset="0"/>
                              <a:cs typeface="Times New Roman" panose="02020603050405020304" pitchFamily="18" charset="0"/>
                            </a:rPr>
                            <m:t>P</m:t>
                          </m:r>
                        </m:e>
                        <m:sub>
                          <m:r>
                            <m:rPr>
                              <m:sty m:val="p"/>
                            </m:rPr>
                            <a:rPr lang="en-US" sz="2400" b="0" i="0" smtClean="0">
                              <a:latin typeface="Cambria Math" panose="02040503050406030204" pitchFamily="18" charset="0"/>
                              <a:cs typeface="Times New Roman" panose="02020603050405020304" pitchFamily="18" charset="0"/>
                            </a:rPr>
                            <m:t>ij</m:t>
                          </m:r>
                        </m:sub>
                      </m:sSub>
                      <m:r>
                        <a:rPr lang="en-US" sz="2400" b="0" i="0" smtClean="0">
                          <a:latin typeface="Cambria Math" panose="02040503050406030204" pitchFamily="18" charset="0"/>
                          <a:cs typeface="Times New Roman" panose="02020603050405020304" pitchFamily="18" charset="0"/>
                        </a:rPr>
                        <m:t>−</m:t>
                      </m:r>
                      <m:r>
                        <m:rPr>
                          <m:sty m:val="p"/>
                        </m:rPr>
                        <a:rPr lang="en-US" sz="2400" b="0" i="0" smtClean="0">
                          <a:latin typeface="Cambria Math" panose="02040503050406030204" pitchFamily="18" charset="0"/>
                          <a:cs typeface="Times New Roman" panose="02020603050405020304" pitchFamily="18" charset="0"/>
                        </a:rPr>
                        <m:t>s</m:t>
                      </m:r>
                      <m:r>
                        <a:rPr lang="en-US" sz="2400" b="0" i="0"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𝜂</m:t>
                      </m:r>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𝐷</m:t>
                              </m:r>
                            </m:e>
                            <m:sub>
                              <m:r>
                                <a:rPr lang="en-US" sz="2400" b="0" i="1" smtClean="0">
                                  <a:latin typeface="Cambria Math" panose="02040503050406030204" pitchFamily="18" charset="0"/>
                                  <a:cs typeface="Times New Roman" panose="02020603050405020304" pitchFamily="18" charset="0"/>
                                </a:rPr>
                                <m:t>𝑖</m:t>
                              </m:r>
                            </m:sub>
                          </m:sSub>
                        </m:e>
                      </m:d>
                      <m:r>
                        <a:rPr lang="en-US" sz="2400" b="0" i="1" smtClean="0">
                          <a:latin typeface="Cambria Math" panose="02040503050406030204" pitchFamily="18" charset="0"/>
                          <a:cs typeface="Times New Roman" panose="02020603050405020304" pitchFamily="18" charset="0"/>
                        </a:rPr>
                        <m:t>𝕀</m:t>
                      </m:r>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𝑗</m:t>
                              </m:r>
                            </m:e>
                            <m:sub>
                              <m:r>
                                <a:rPr lang="en-US" sz="2400" b="0" i="1" smtClean="0">
                                  <a:latin typeface="Cambria Math" panose="02040503050406030204" pitchFamily="18" charset="0"/>
                                  <a:cs typeface="Times New Roman" panose="02020603050405020304" pitchFamily="18" charset="0"/>
                                </a:rPr>
                                <m:t>𝑡</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𝑗</m:t>
                              </m:r>
                            </m:e>
                            <m:sub>
                              <m:r>
                                <a:rPr lang="en-US" sz="2400" b="0" i="1" smtClean="0">
                                  <a:latin typeface="Cambria Math" panose="02040503050406030204" pitchFamily="18" charset="0"/>
                                  <a:cs typeface="Times New Roman" panose="02020603050405020304" pitchFamily="18" charset="0"/>
                                </a:rPr>
                                <m:t>𝑡</m:t>
                              </m:r>
                              <m:r>
                                <a:rPr lang="en-US" sz="2400" b="0" i="1" smtClean="0">
                                  <a:latin typeface="Cambria Math" panose="02040503050406030204" pitchFamily="18" charset="0"/>
                                  <a:cs typeface="Times New Roman" panose="02020603050405020304" pitchFamily="18" charset="0"/>
                                </a:rPr>
                                <m:t>−1</m:t>
                              </m:r>
                            </m:sub>
                          </m:sSub>
                        </m:e>
                      </m:d>
                      <m:r>
                        <a:rPr lang="en-US" sz="2400" b="0" i="1" smtClean="0">
                          <a:latin typeface="Cambria Math" panose="02040503050406030204" pitchFamily="18" charset="0"/>
                          <a:cs typeface="Times New Roman" panose="02020603050405020304" pitchFamily="18" charset="0"/>
                        </a:rPr>
                        <m:t>+</m:t>
                      </m:r>
                      <m:sSubSup>
                        <m:sSubSupPr>
                          <m:ctrlPr>
                            <a:rPr lang="en-US" sz="2400" b="1" i="1" smtClean="0">
                              <a:latin typeface="Cambria Math" panose="02040503050406030204" pitchFamily="18" charset="0"/>
                              <a:cs typeface="Times New Roman" panose="02020603050405020304" pitchFamily="18" charset="0"/>
                            </a:rPr>
                          </m:ctrlPr>
                        </m:sSubSupPr>
                        <m:e>
                          <m:r>
                            <a:rPr lang="en-US" sz="2400" b="1" i="1" smtClean="0">
                              <a:latin typeface="Cambria Math" panose="02040503050406030204" pitchFamily="18" charset="0"/>
                              <a:cs typeface="Times New Roman" panose="02020603050405020304" pitchFamily="18" charset="0"/>
                            </a:rPr>
                            <m:t>𝒁</m:t>
                          </m:r>
                        </m:e>
                        <m:sub>
                          <m:r>
                            <a:rPr lang="en-US" sz="2400" b="1" i="1" smtClean="0">
                              <a:latin typeface="Cambria Math" panose="02040503050406030204" pitchFamily="18" charset="0"/>
                              <a:cs typeface="Times New Roman" panose="02020603050405020304" pitchFamily="18" charset="0"/>
                            </a:rPr>
                            <m:t>𝒊</m:t>
                          </m:r>
                        </m:sub>
                        <m:sup>
                          <m:r>
                            <a:rPr lang="en-US" sz="2400" b="1" i="1" smtClean="0">
                              <a:latin typeface="Cambria Math" panose="02040503050406030204" pitchFamily="18" charset="0"/>
                              <a:cs typeface="Times New Roman" panose="02020603050405020304" pitchFamily="18" charset="0"/>
                            </a:rPr>
                            <m:t>′</m:t>
                          </m:r>
                        </m:sup>
                      </m:sSubSup>
                      <m:r>
                        <a:rPr lang="en-US" sz="2400" b="0" i="1" smtClean="0">
                          <a:latin typeface="Cambria Math" panose="02040503050406030204" pitchFamily="18" charset="0"/>
                          <a:cs typeface="Times New Roman" panose="02020603050405020304" pitchFamily="18" charset="0"/>
                        </a:rPr>
                        <m:t>𝛽</m:t>
                      </m:r>
                      <m:r>
                        <a:rPr lang="en-US" sz="2400" b="0" i="1" smtClean="0">
                          <a:latin typeface="Cambria Math" panose="02040503050406030204" pitchFamily="18" charset="0"/>
                          <a:cs typeface="Times New Roman" panose="02020603050405020304" pitchFamily="18" charset="0"/>
                        </a:rPr>
                        <m:t>𝕀</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𝐻𝐷𝐻</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𝑃</m:t>
                              </m:r>
                            </m:e>
                            <m:sub>
                              <m:r>
                                <a:rPr lang="en-US" sz="2400" b="0" i="1" smtClean="0">
                                  <a:latin typeface="Cambria Math" panose="02040503050406030204" pitchFamily="18" charset="0"/>
                                  <a:cs typeface="Times New Roman" panose="02020603050405020304" pitchFamily="18" charset="0"/>
                                </a:rPr>
                                <m:t>𝑗</m:t>
                              </m:r>
                            </m:sub>
                          </m:sSub>
                        </m:e>
                      </m:d>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𝜀</m:t>
                          </m:r>
                        </m:e>
                        <m:sub>
                          <m:r>
                            <a:rPr lang="en-US" sz="2400" b="0" i="1" smtClean="0">
                              <a:latin typeface="Cambria Math" panose="02040503050406030204" pitchFamily="18" charset="0"/>
                              <a:cs typeface="Times New Roman" panose="02020603050405020304" pitchFamily="18" charset="0"/>
                            </a:rPr>
                            <m:t>𝑖𝑗</m:t>
                          </m:r>
                          <m:r>
                            <a:rPr lang="en-US" sz="2400" b="0" i="1" smtClean="0">
                              <a:latin typeface="Cambria Math" panose="02040503050406030204" pitchFamily="18" charset="0"/>
                              <a:cs typeface="Times New Roman" panose="02020603050405020304" pitchFamily="18" charset="0"/>
                            </a:rPr>
                            <m:t> </m:t>
                          </m:r>
                        </m:sub>
                      </m:sSub>
                    </m:oMath>
                  </m:oMathPara>
                </a14:m>
                <a:endParaRPr lang="en-US" sz="2400" b="0" dirty="0">
                  <a:cs typeface="Times New Roman" panose="02020603050405020304" pitchFamily="18" charset="0"/>
                </a:endParaRPr>
              </a:p>
              <a:p>
                <a:pPr marL="274320" lvl="1" indent="0">
                  <a:buNone/>
                </a:pPr>
                <a:endParaRPr lang="en-US" sz="2400" dirty="0">
                  <a:cs typeface="Times New Roman" panose="02020603050405020304" pitchFamily="18" charset="0"/>
                </a:endParaRPr>
              </a:p>
              <a:p>
                <a:pPr marL="731520" lvl="1" indent="-457200">
                  <a:buFont typeface="+mj-lt"/>
                  <a:buAutoNum type="arabicPeriod"/>
                </a:pPr>
                <a14:m>
                  <m:oMath xmlns:m="http://schemas.openxmlformats.org/officeDocument/2006/math">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𝜂</m:t>
                        </m:r>
                      </m:e>
                    </m:d>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The average (SD) $$$ foregone due to inertia is $2,396 ($503)</a:t>
                </a:r>
              </a:p>
              <a:p>
                <a:pPr marL="731520" lvl="1" indent="-457200">
                  <a:buFont typeface="+mj-lt"/>
                  <a:buAutoNum type="arabicPeriod"/>
                </a:pPr>
                <a14:m>
                  <m:oMath xmlns:m="http://schemas.openxmlformats.org/officeDocument/2006/math">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𝛽</m:t>
                    </m:r>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Large costs associated with “hassle costs”</a:t>
                </a:r>
              </a:p>
              <a:p>
                <a:pPr marL="0" indent="0">
                  <a:buNone/>
                </a:pPr>
                <a:r>
                  <a:rPr lang="en-US" sz="2400" b="1" u="sng" dirty="0">
                    <a:solidFill>
                      <a:schemeClr val="accent2">
                        <a:lumMod val="75000"/>
                      </a:schemeClr>
                    </a:solidFill>
                    <a:cs typeface="Times New Roman" panose="02020603050405020304" pitchFamily="18" charset="0"/>
                  </a:rPr>
                  <a:t>Are we modeling mistakes here? </a:t>
                </a:r>
                <a:endParaRPr lang="en-US" sz="2200" b="1" u="sng" dirty="0">
                  <a:solidFill>
                    <a:schemeClr val="accent2">
                      <a:lumMod val="75000"/>
                    </a:schemeClr>
                  </a:solidFill>
                  <a:cs typeface="Times New Roman" panose="02020603050405020304" pitchFamily="18" charset="0"/>
                </a:endParaRPr>
              </a:p>
              <a:p>
                <a:pPr marL="731520" lvl="1" indent="-457200">
                  <a:buFont typeface="+mj-lt"/>
                  <a:buAutoNum type="arabicPeriod"/>
                </a:pPr>
                <a:endParaRPr lang="en-US" sz="22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896918"/>
                <a:ext cx="10439400" cy="5283220"/>
              </a:xfrm>
              <a:blipFill>
                <a:blip r:embed="rId3"/>
                <a:stretch>
                  <a:fillRect l="-876" t="-807"/>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normAutofit lnSpcReduction="10000"/>
          </a:bodyPr>
          <a:lstStyle/>
          <a:p>
            <a:fld id="{3DAF9783-BC0E-C649-838D-61F838C67253}" type="slidenum">
              <a:rPr lang="en-US" smtClean="0"/>
              <a:t>26</a:t>
            </a:fld>
            <a:endParaRPr lang="en-US"/>
          </a:p>
        </p:txBody>
      </p:sp>
      <p:sp>
        <p:nvSpPr>
          <p:cNvPr id="5" name="Title 1">
            <a:extLst>
              <a:ext uri="{FF2B5EF4-FFF2-40B4-BE49-F238E27FC236}">
                <a16:creationId xmlns:a16="http://schemas.microsoft.com/office/drawing/2014/main" id="{3AC41146-1857-1400-EE30-AE66F64DCE11}"/>
              </a:ext>
            </a:extLst>
          </p:cNvPr>
          <p:cNvSpPr txBox="1">
            <a:spLocks/>
          </p:cNvSpPr>
          <p:nvPr/>
        </p:nvSpPr>
        <p:spPr>
          <a:xfrm>
            <a:off x="609600" y="272077"/>
            <a:ext cx="10439400" cy="6248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r>
              <a:rPr lang="en-US" sz="3600" dirty="0">
                <a:cs typeface="Times New Roman" panose="02020603050405020304" pitchFamily="18" charset="0"/>
              </a:rPr>
              <a:t>What does this look like? </a:t>
            </a:r>
          </a:p>
        </p:txBody>
      </p:sp>
    </p:spTree>
    <p:extLst>
      <p:ext uri="{BB962C8B-B14F-4D97-AF65-F5344CB8AC3E}">
        <p14:creationId xmlns:p14="http://schemas.microsoft.com/office/powerpoint/2010/main" val="12748187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896918"/>
                <a:ext cx="10439400" cy="5283220"/>
              </a:xfrm>
            </p:spPr>
            <p:txBody>
              <a:bodyPr>
                <a:noAutofit/>
              </a:bodyPr>
              <a:lstStyle/>
              <a:p>
                <a:r>
                  <a:rPr lang="en-US" sz="2400" dirty="0">
                    <a:cs typeface="Times New Roman" panose="02020603050405020304" pitchFamily="18" charset="0"/>
                  </a:rPr>
                  <a:t>In practice, authors focus on two things for </a:t>
                </a:r>
                <a:r>
                  <a:rPr lang="en-US" sz="2400" i="1" dirty="0">
                    <a:cs typeface="Times New Roman" panose="02020603050405020304" pitchFamily="18" charset="0"/>
                  </a:rPr>
                  <a:t>ex-post</a:t>
                </a:r>
                <a:r>
                  <a:rPr lang="en-US" sz="2400" dirty="0">
                    <a:cs typeface="Times New Roman" panose="02020603050405020304" pitchFamily="18" charset="0"/>
                  </a:rPr>
                  <a:t> utility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𝑢</m:t>
                        </m:r>
                      </m:e>
                      <m:sub>
                        <m:r>
                          <a:rPr lang="en-US" sz="2400" b="0" i="1" smtClean="0">
                            <a:latin typeface="Cambria Math" panose="02040503050406030204" pitchFamily="18" charset="0"/>
                            <a:cs typeface="Times New Roman" panose="02020603050405020304" pitchFamily="18" charset="0"/>
                          </a:rPr>
                          <m:t>𝑖</m:t>
                        </m:r>
                      </m:sub>
                    </m:sSub>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𝑖𝑗</m:t>
                            </m:r>
                          </m:sub>
                        </m:sSub>
                      </m:e>
                    </m:d>
                  </m:oMath>
                </a14:m>
                <a:r>
                  <a:rPr lang="en-US" sz="2400" dirty="0">
                    <a:cs typeface="Times New Roman" panose="02020603050405020304" pitchFamily="18" charset="0"/>
                  </a:rPr>
                  <a:t>: </a:t>
                </a:r>
              </a:p>
              <a:p>
                <a:pPr marL="274320" lvl="1" indent="0">
                  <a:buNone/>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𝑖𝑗</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m:rPr>
                              <m:sty m:val="p"/>
                            </m:rPr>
                            <a:rPr lang="en-US" sz="2400" b="0" i="0" smtClean="0">
                              <a:latin typeface="Cambria Math" panose="02040503050406030204" pitchFamily="18" charset="0"/>
                              <a:cs typeface="Times New Roman" panose="02020603050405020304" pitchFamily="18" charset="0"/>
                            </a:rPr>
                            <m:t>W</m:t>
                          </m:r>
                        </m:e>
                        <m:sub>
                          <m:r>
                            <m:rPr>
                              <m:sty m:val="p"/>
                            </m:rPr>
                            <a:rPr lang="en-US" sz="2400" b="0" i="0" smtClean="0">
                              <a:latin typeface="Cambria Math" panose="02040503050406030204" pitchFamily="18" charset="0"/>
                              <a:cs typeface="Times New Roman" panose="02020603050405020304" pitchFamily="18" charset="0"/>
                            </a:rPr>
                            <m:t>i</m:t>
                          </m:r>
                        </m:sub>
                      </m:sSub>
                      <m:r>
                        <a:rPr lang="en-US" sz="2400" b="0" i="0"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m:rPr>
                              <m:sty m:val="p"/>
                            </m:rPr>
                            <a:rPr lang="en-US" sz="2400" b="0" i="0" smtClean="0">
                              <a:latin typeface="Cambria Math" panose="02040503050406030204" pitchFamily="18" charset="0"/>
                              <a:cs typeface="Times New Roman" panose="02020603050405020304" pitchFamily="18" charset="0"/>
                            </a:rPr>
                            <m:t>P</m:t>
                          </m:r>
                        </m:e>
                        <m:sub>
                          <m:r>
                            <m:rPr>
                              <m:sty m:val="p"/>
                            </m:rPr>
                            <a:rPr lang="en-US" sz="2400" b="0" i="0" smtClean="0">
                              <a:latin typeface="Cambria Math" panose="02040503050406030204" pitchFamily="18" charset="0"/>
                              <a:cs typeface="Times New Roman" panose="02020603050405020304" pitchFamily="18" charset="0"/>
                            </a:rPr>
                            <m:t>ij</m:t>
                          </m:r>
                        </m:sub>
                      </m:sSub>
                      <m:r>
                        <a:rPr lang="en-US" sz="2400" b="0" i="0" smtClean="0">
                          <a:latin typeface="Cambria Math" panose="02040503050406030204" pitchFamily="18" charset="0"/>
                          <a:cs typeface="Times New Roman" panose="02020603050405020304" pitchFamily="18" charset="0"/>
                        </a:rPr>
                        <m:t>−</m:t>
                      </m:r>
                      <m:r>
                        <m:rPr>
                          <m:sty m:val="p"/>
                        </m:rPr>
                        <a:rPr lang="en-US" sz="2400" b="0" i="0" smtClean="0">
                          <a:latin typeface="Cambria Math" panose="02040503050406030204" pitchFamily="18" charset="0"/>
                          <a:cs typeface="Times New Roman" panose="02020603050405020304" pitchFamily="18" charset="0"/>
                        </a:rPr>
                        <m:t>s</m:t>
                      </m:r>
                      <m:r>
                        <a:rPr lang="en-US" sz="2400" b="0" i="0"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𝜂</m:t>
                      </m:r>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𝐷</m:t>
                              </m:r>
                            </m:e>
                            <m:sub>
                              <m:r>
                                <a:rPr lang="en-US" sz="2400" b="0" i="1" smtClean="0">
                                  <a:latin typeface="Cambria Math" panose="02040503050406030204" pitchFamily="18" charset="0"/>
                                  <a:cs typeface="Times New Roman" panose="02020603050405020304" pitchFamily="18" charset="0"/>
                                </a:rPr>
                                <m:t>𝑖</m:t>
                              </m:r>
                            </m:sub>
                          </m:sSub>
                        </m:e>
                      </m:d>
                      <m:r>
                        <a:rPr lang="en-US" sz="2400" b="0" i="1" smtClean="0">
                          <a:latin typeface="Cambria Math" panose="02040503050406030204" pitchFamily="18" charset="0"/>
                          <a:cs typeface="Times New Roman" panose="02020603050405020304" pitchFamily="18" charset="0"/>
                        </a:rPr>
                        <m:t>𝕀</m:t>
                      </m:r>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𝑗</m:t>
                              </m:r>
                            </m:e>
                            <m:sub>
                              <m:r>
                                <a:rPr lang="en-US" sz="2400" b="0" i="1" smtClean="0">
                                  <a:latin typeface="Cambria Math" panose="02040503050406030204" pitchFamily="18" charset="0"/>
                                  <a:cs typeface="Times New Roman" panose="02020603050405020304" pitchFamily="18" charset="0"/>
                                </a:rPr>
                                <m:t>𝑡</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𝑗</m:t>
                              </m:r>
                            </m:e>
                            <m:sub>
                              <m:r>
                                <a:rPr lang="en-US" sz="2400" b="0" i="1" smtClean="0">
                                  <a:latin typeface="Cambria Math" panose="02040503050406030204" pitchFamily="18" charset="0"/>
                                  <a:cs typeface="Times New Roman" panose="02020603050405020304" pitchFamily="18" charset="0"/>
                                </a:rPr>
                                <m:t>𝑡</m:t>
                              </m:r>
                              <m:r>
                                <a:rPr lang="en-US" sz="2400" b="0" i="1" smtClean="0">
                                  <a:latin typeface="Cambria Math" panose="02040503050406030204" pitchFamily="18" charset="0"/>
                                  <a:cs typeface="Times New Roman" panose="02020603050405020304" pitchFamily="18" charset="0"/>
                                </a:rPr>
                                <m:t>−1</m:t>
                              </m:r>
                            </m:sub>
                          </m:sSub>
                        </m:e>
                      </m:d>
                      <m:r>
                        <a:rPr lang="en-US" sz="2400" b="0" i="1" smtClean="0">
                          <a:latin typeface="Cambria Math" panose="02040503050406030204" pitchFamily="18" charset="0"/>
                          <a:cs typeface="Times New Roman" panose="02020603050405020304" pitchFamily="18" charset="0"/>
                        </a:rPr>
                        <m:t>+</m:t>
                      </m:r>
                      <m:sSubSup>
                        <m:sSubSupPr>
                          <m:ctrlPr>
                            <a:rPr lang="en-US" sz="2400" b="1" i="1" smtClean="0">
                              <a:latin typeface="Cambria Math" panose="02040503050406030204" pitchFamily="18" charset="0"/>
                              <a:cs typeface="Times New Roman" panose="02020603050405020304" pitchFamily="18" charset="0"/>
                            </a:rPr>
                          </m:ctrlPr>
                        </m:sSubSupPr>
                        <m:e>
                          <m:r>
                            <a:rPr lang="en-US" sz="2400" b="1" i="1" smtClean="0">
                              <a:latin typeface="Cambria Math" panose="02040503050406030204" pitchFamily="18" charset="0"/>
                              <a:cs typeface="Times New Roman" panose="02020603050405020304" pitchFamily="18" charset="0"/>
                            </a:rPr>
                            <m:t>𝒁</m:t>
                          </m:r>
                        </m:e>
                        <m:sub>
                          <m:r>
                            <a:rPr lang="en-US" sz="2400" b="1" i="1" smtClean="0">
                              <a:latin typeface="Cambria Math" panose="02040503050406030204" pitchFamily="18" charset="0"/>
                              <a:cs typeface="Times New Roman" panose="02020603050405020304" pitchFamily="18" charset="0"/>
                            </a:rPr>
                            <m:t>𝒊</m:t>
                          </m:r>
                        </m:sub>
                        <m:sup>
                          <m:r>
                            <a:rPr lang="en-US" sz="2400" b="1" i="1" smtClean="0">
                              <a:latin typeface="Cambria Math" panose="02040503050406030204" pitchFamily="18" charset="0"/>
                              <a:cs typeface="Times New Roman" panose="02020603050405020304" pitchFamily="18" charset="0"/>
                            </a:rPr>
                            <m:t>′</m:t>
                          </m:r>
                        </m:sup>
                      </m:sSubSup>
                      <m:r>
                        <a:rPr lang="en-US" sz="2400" b="0" i="1" smtClean="0">
                          <a:latin typeface="Cambria Math" panose="02040503050406030204" pitchFamily="18" charset="0"/>
                          <a:cs typeface="Times New Roman" panose="02020603050405020304" pitchFamily="18" charset="0"/>
                        </a:rPr>
                        <m:t>𝛽</m:t>
                      </m:r>
                      <m:r>
                        <a:rPr lang="en-US" sz="2400" b="0" i="1" smtClean="0">
                          <a:latin typeface="Cambria Math" panose="02040503050406030204" pitchFamily="18" charset="0"/>
                          <a:cs typeface="Times New Roman" panose="02020603050405020304" pitchFamily="18" charset="0"/>
                        </a:rPr>
                        <m:t>𝕀</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𝐻𝐷𝐻</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𝑃</m:t>
                              </m:r>
                            </m:e>
                            <m:sub>
                              <m:r>
                                <a:rPr lang="en-US" sz="2400" b="0" i="1" smtClean="0">
                                  <a:latin typeface="Cambria Math" panose="02040503050406030204" pitchFamily="18" charset="0"/>
                                  <a:cs typeface="Times New Roman" panose="02020603050405020304" pitchFamily="18" charset="0"/>
                                </a:rPr>
                                <m:t>𝑗</m:t>
                              </m:r>
                            </m:sub>
                          </m:sSub>
                        </m:e>
                      </m:d>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𝜀</m:t>
                          </m:r>
                        </m:e>
                        <m:sub>
                          <m:r>
                            <a:rPr lang="en-US" sz="2400" b="0" i="1" smtClean="0">
                              <a:latin typeface="Cambria Math" panose="02040503050406030204" pitchFamily="18" charset="0"/>
                              <a:cs typeface="Times New Roman" panose="02020603050405020304" pitchFamily="18" charset="0"/>
                            </a:rPr>
                            <m:t>𝑖𝑗</m:t>
                          </m:r>
                          <m:r>
                            <a:rPr lang="en-US" sz="2400" b="0" i="1" smtClean="0">
                              <a:latin typeface="Cambria Math" panose="02040503050406030204" pitchFamily="18" charset="0"/>
                              <a:cs typeface="Times New Roman" panose="02020603050405020304" pitchFamily="18" charset="0"/>
                            </a:rPr>
                            <m:t> </m:t>
                          </m:r>
                        </m:sub>
                      </m:sSub>
                    </m:oMath>
                  </m:oMathPara>
                </a14:m>
                <a:endParaRPr lang="en-US" sz="2400" b="0" dirty="0">
                  <a:cs typeface="Times New Roman" panose="02020603050405020304" pitchFamily="18" charset="0"/>
                </a:endParaRPr>
              </a:p>
              <a:p>
                <a:pPr marL="0" indent="0">
                  <a:buNone/>
                </a:pPr>
                <a:r>
                  <a:rPr lang="en-US" sz="2400" b="1" u="sng" dirty="0">
                    <a:solidFill>
                      <a:schemeClr val="accent2">
                        <a:lumMod val="75000"/>
                      </a:schemeClr>
                    </a:solidFill>
                    <a:cs typeface="Times New Roman" panose="02020603050405020304" pitchFamily="18" charset="0"/>
                  </a:rPr>
                  <a:t>What do we need for identification? </a:t>
                </a:r>
                <a:r>
                  <a:rPr lang="en-US" sz="1600" dirty="0"/>
                  <a:t>(How might these be violated? What would happen if they were?)</a:t>
                </a:r>
                <a:endParaRPr lang="en-US" sz="1600" b="1" u="sng" dirty="0">
                  <a:solidFill>
                    <a:schemeClr val="accent2">
                      <a:lumMod val="75000"/>
                    </a:schemeClr>
                  </a:solidFill>
                  <a:cs typeface="Times New Roman" panose="02020603050405020304" pitchFamily="18" charset="0"/>
                </a:endParaRPr>
              </a:p>
              <a:p>
                <a:r>
                  <a:rPr lang="en-US" sz="2000" dirty="0"/>
                  <a:t>Risk preferences γ are independent of friction measures Z. </a:t>
                </a:r>
              </a:p>
              <a:p>
                <a:r>
                  <a:rPr lang="en-US" sz="2000" dirty="0"/>
                  <a:t>Frictions shift utility by the same amount for all potential realizations of health expenditures from </a:t>
                </a:r>
                <a14:m>
                  <m:oMath xmlns:m="http://schemas.openxmlformats.org/officeDocument/2006/math">
                    <m:sSub>
                      <m:sSubPr>
                        <m:ctrlPr>
                          <a:rPr lang="en-CA" sz="2000" b="0" i="1" smtClean="0">
                            <a:latin typeface="Cambria Math" panose="02040503050406030204" pitchFamily="18" charset="0"/>
                          </a:rPr>
                        </m:ctrlPr>
                      </m:sSubPr>
                      <m:e>
                        <m:r>
                          <a:rPr lang="en-CA" sz="2000" b="0" i="1" smtClean="0">
                            <a:latin typeface="Cambria Math" panose="02040503050406030204" pitchFamily="18" charset="0"/>
                          </a:rPr>
                          <m:t>𝐹</m:t>
                        </m:r>
                      </m:e>
                      <m:sub>
                        <m:r>
                          <a:rPr lang="en-CA" sz="2000" b="0" i="1" smtClean="0">
                            <a:latin typeface="Cambria Math" panose="02040503050406030204" pitchFamily="18" charset="0"/>
                          </a:rPr>
                          <m:t>𝑠</m:t>
                        </m:r>
                      </m:sub>
                    </m:sSub>
                    <m:d>
                      <m:dPr>
                        <m:ctrlPr>
                          <a:rPr lang="en-CA" sz="2000" b="0" i="1" smtClean="0">
                            <a:latin typeface="Cambria Math" panose="02040503050406030204" pitchFamily="18" charset="0"/>
                          </a:rPr>
                        </m:ctrlPr>
                      </m:dPr>
                      <m:e>
                        <m:r>
                          <a:rPr lang="en-CA" sz="2000" b="0" i="1" smtClean="0">
                            <a:latin typeface="Cambria Math" panose="02040503050406030204" pitchFamily="18" charset="0"/>
                          </a:rPr>
                          <m:t>⋅</m:t>
                        </m:r>
                      </m:e>
                    </m:d>
                  </m:oMath>
                </a14:m>
                <a:r>
                  <a:rPr lang="en-US" sz="2000" dirty="0"/>
                  <a:t>. </a:t>
                </a:r>
              </a:p>
              <a:p>
                <a:r>
                  <a:rPr lang="en-US" sz="2000" dirty="0"/>
                  <a:t>No correlations between health risk and risk preferences. </a:t>
                </a:r>
              </a:p>
              <a:p>
                <a:r>
                  <a:rPr lang="en-US" sz="2000" dirty="0">
                    <a:cs typeface="Times New Roman" panose="02020603050405020304" pitchFamily="18" charset="0"/>
                  </a:rPr>
                  <a:t>No correlations between frictions and inertia (get around this through </a:t>
                </a:r>
                <a:r>
                  <a:rPr lang="en-US" sz="2000" dirty="0" err="1">
                    <a:cs typeface="Times New Roman" panose="02020603050405020304" pitchFamily="18" charset="0"/>
                  </a:rPr>
                  <a:t>subsetting</a:t>
                </a:r>
                <a:r>
                  <a:rPr lang="en-US" sz="2000" dirty="0">
                    <a:cs typeface="Times New Roman" panose="02020603050405020304" pitchFamily="18" charset="0"/>
                  </a:rPr>
                  <a:t> the model)</a:t>
                </a:r>
                <a:endParaRPr lang="en-US" sz="22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896918"/>
                <a:ext cx="10439400" cy="5283220"/>
              </a:xfrm>
              <a:blipFill>
                <a:blip r:embed="rId3"/>
                <a:stretch>
                  <a:fillRect l="-876" t="-807" r="-759"/>
                </a:stretch>
              </a:blipFill>
            </p:spPr>
            <p:txBody>
              <a:bodyPr/>
              <a:lstStyle/>
              <a:p>
                <a:r>
                  <a:rPr lang="en-CA">
                    <a:noFill/>
                  </a:rPr>
                  <a:t> </a:t>
                </a:r>
              </a:p>
            </p:txBody>
          </p:sp>
        </mc:Fallback>
      </mc:AlternateContent>
      <p:sp>
        <p:nvSpPr>
          <p:cNvPr id="4" name="Slide Number Placeholder 3"/>
          <p:cNvSpPr>
            <a:spLocks noGrp="1"/>
          </p:cNvSpPr>
          <p:nvPr>
            <p:ph type="sldNum" sz="quarter" idx="12"/>
          </p:nvPr>
        </p:nvSpPr>
        <p:spPr/>
        <p:txBody>
          <a:bodyPr>
            <a:normAutofit lnSpcReduction="10000"/>
          </a:bodyPr>
          <a:lstStyle/>
          <a:p>
            <a:fld id="{3DAF9783-BC0E-C649-838D-61F838C67253}" type="slidenum">
              <a:rPr lang="en-US" smtClean="0"/>
              <a:t>27</a:t>
            </a:fld>
            <a:endParaRPr lang="en-US"/>
          </a:p>
        </p:txBody>
      </p:sp>
      <p:sp>
        <p:nvSpPr>
          <p:cNvPr id="5" name="Title 1">
            <a:extLst>
              <a:ext uri="{FF2B5EF4-FFF2-40B4-BE49-F238E27FC236}">
                <a16:creationId xmlns:a16="http://schemas.microsoft.com/office/drawing/2014/main" id="{3AC41146-1857-1400-EE30-AE66F64DCE11}"/>
              </a:ext>
            </a:extLst>
          </p:cNvPr>
          <p:cNvSpPr txBox="1">
            <a:spLocks/>
          </p:cNvSpPr>
          <p:nvPr/>
        </p:nvSpPr>
        <p:spPr>
          <a:xfrm>
            <a:off x="609600" y="272077"/>
            <a:ext cx="10439400" cy="6248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r>
              <a:rPr lang="en-US" sz="3600" dirty="0">
                <a:cs typeface="Times New Roman" panose="02020603050405020304" pitchFamily="18" charset="0"/>
              </a:rPr>
              <a:t>What does this look like? </a:t>
            </a:r>
          </a:p>
        </p:txBody>
      </p:sp>
    </p:spTree>
    <p:extLst>
      <p:ext uri="{BB962C8B-B14F-4D97-AF65-F5344CB8AC3E}">
        <p14:creationId xmlns:p14="http://schemas.microsoft.com/office/powerpoint/2010/main" val="37903685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896918"/>
            <a:ext cx="10439400" cy="5283220"/>
          </a:xfrm>
        </p:spPr>
        <p:txBody>
          <a:bodyPr>
            <a:noAutofit/>
          </a:bodyPr>
          <a:lstStyle/>
          <a:p>
            <a:pPr marL="274320" lvl="1" indent="0">
              <a:buNone/>
            </a:pPr>
            <a:r>
              <a:rPr lang="en-US" sz="2400" b="1" u="sng" dirty="0">
                <a:solidFill>
                  <a:schemeClr val="accent3">
                    <a:lumMod val="75000"/>
                  </a:schemeClr>
                </a:solidFill>
                <a:cs typeface="Times New Roman" panose="02020603050405020304" pitchFamily="18" charset="0"/>
              </a:rPr>
              <a:t>What if we just forced people into the best plan?</a:t>
            </a:r>
          </a:p>
          <a:p>
            <a:pPr marL="274320" lvl="1" indent="0">
              <a:buNone/>
            </a:pPr>
            <a:endParaRPr lang="en-US" sz="2400" b="1" u="sng" dirty="0">
              <a:solidFill>
                <a:schemeClr val="accent3">
                  <a:lumMod val="75000"/>
                </a:schemeClr>
              </a:solidFill>
              <a:cs typeface="Times New Roman" panose="02020603050405020304" pitchFamily="18" charset="0"/>
            </a:endParaRPr>
          </a:p>
          <a:p>
            <a:pPr lvl="1"/>
            <a:r>
              <a:rPr lang="en-US" sz="2400" dirty="0">
                <a:solidFill>
                  <a:schemeClr val="tx1"/>
                </a:solidFill>
                <a:cs typeface="Times New Roman" panose="02020603050405020304" pitchFamily="18" charset="0"/>
              </a:rPr>
              <a:t>Even simpler – what if we just take away the PPO choice and give everyone the HDHP? </a:t>
            </a:r>
          </a:p>
        </p:txBody>
      </p:sp>
      <p:sp>
        <p:nvSpPr>
          <p:cNvPr id="4" name="Slide Number Placeholder 3"/>
          <p:cNvSpPr>
            <a:spLocks noGrp="1"/>
          </p:cNvSpPr>
          <p:nvPr>
            <p:ph type="sldNum" sz="quarter" idx="12"/>
          </p:nvPr>
        </p:nvSpPr>
        <p:spPr/>
        <p:txBody>
          <a:bodyPr>
            <a:normAutofit lnSpcReduction="10000"/>
          </a:bodyPr>
          <a:lstStyle/>
          <a:p>
            <a:fld id="{3DAF9783-BC0E-C649-838D-61F838C67253}" type="slidenum">
              <a:rPr lang="en-US" smtClean="0"/>
              <a:t>28</a:t>
            </a:fld>
            <a:endParaRPr lang="en-US"/>
          </a:p>
        </p:txBody>
      </p:sp>
      <p:sp>
        <p:nvSpPr>
          <p:cNvPr id="5" name="Title 1">
            <a:extLst>
              <a:ext uri="{FF2B5EF4-FFF2-40B4-BE49-F238E27FC236}">
                <a16:creationId xmlns:a16="http://schemas.microsoft.com/office/drawing/2014/main" id="{3AC41146-1857-1400-EE30-AE66F64DCE11}"/>
              </a:ext>
            </a:extLst>
          </p:cNvPr>
          <p:cNvSpPr txBox="1">
            <a:spLocks/>
          </p:cNvSpPr>
          <p:nvPr/>
        </p:nvSpPr>
        <p:spPr>
          <a:xfrm>
            <a:off x="609600" y="272077"/>
            <a:ext cx="10439400" cy="6248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r>
              <a:rPr lang="en-US" sz="3600" dirty="0">
                <a:cs typeface="Times New Roman" panose="02020603050405020304" pitchFamily="18" charset="0"/>
              </a:rPr>
              <a:t>Counterfactual Simulations</a:t>
            </a:r>
          </a:p>
        </p:txBody>
      </p:sp>
    </p:spTree>
    <p:extLst>
      <p:ext uri="{BB962C8B-B14F-4D97-AF65-F5344CB8AC3E}">
        <p14:creationId xmlns:p14="http://schemas.microsoft.com/office/powerpoint/2010/main" val="18694264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896918"/>
            <a:ext cx="10439400" cy="5283220"/>
          </a:xfrm>
        </p:spPr>
        <p:txBody>
          <a:bodyPr>
            <a:noAutofit/>
          </a:bodyPr>
          <a:lstStyle/>
          <a:p>
            <a:pPr marL="274320" lvl="1" indent="0">
              <a:buNone/>
            </a:pPr>
            <a:endParaRPr lang="en-US" sz="2400" dirty="0">
              <a:solidFill>
                <a:schemeClr val="tx1"/>
              </a:solidFill>
              <a:cs typeface="Times New Roman" panose="02020603050405020304" pitchFamily="18" charset="0"/>
            </a:endParaRPr>
          </a:p>
        </p:txBody>
      </p:sp>
      <p:sp>
        <p:nvSpPr>
          <p:cNvPr id="4" name="Slide Number Placeholder 3"/>
          <p:cNvSpPr>
            <a:spLocks noGrp="1"/>
          </p:cNvSpPr>
          <p:nvPr>
            <p:ph type="sldNum" sz="quarter" idx="12"/>
          </p:nvPr>
        </p:nvSpPr>
        <p:spPr/>
        <p:txBody>
          <a:bodyPr>
            <a:normAutofit lnSpcReduction="10000"/>
          </a:bodyPr>
          <a:lstStyle/>
          <a:p>
            <a:fld id="{3DAF9783-BC0E-C649-838D-61F838C67253}" type="slidenum">
              <a:rPr lang="en-US" smtClean="0"/>
              <a:t>29</a:t>
            </a:fld>
            <a:endParaRPr lang="en-US"/>
          </a:p>
        </p:txBody>
      </p:sp>
      <p:sp>
        <p:nvSpPr>
          <p:cNvPr id="5" name="Title 1">
            <a:extLst>
              <a:ext uri="{FF2B5EF4-FFF2-40B4-BE49-F238E27FC236}">
                <a16:creationId xmlns:a16="http://schemas.microsoft.com/office/drawing/2014/main" id="{3AC41146-1857-1400-EE30-AE66F64DCE11}"/>
              </a:ext>
            </a:extLst>
          </p:cNvPr>
          <p:cNvSpPr txBox="1">
            <a:spLocks/>
          </p:cNvSpPr>
          <p:nvPr/>
        </p:nvSpPr>
        <p:spPr>
          <a:xfrm>
            <a:off x="609600" y="272077"/>
            <a:ext cx="10439400" cy="6248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r>
              <a:rPr lang="en-US" sz="3600" dirty="0">
                <a:cs typeface="Times New Roman" panose="02020603050405020304" pitchFamily="18" charset="0"/>
              </a:rPr>
              <a:t>Counterfactual Simulations</a:t>
            </a:r>
          </a:p>
        </p:txBody>
      </p:sp>
      <p:pic>
        <p:nvPicPr>
          <p:cNvPr id="6" name="Picture 5">
            <a:extLst>
              <a:ext uri="{FF2B5EF4-FFF2-40B4-BE49-F238E27FC236}">
                <a16:creationId xmlns:a16="http://schemas.microsoft.com/office/drawing/2014/main" id="{8349D73B-A60D-497E-43B2-7E6C97E481F5}"/>
              </a:ext>
            </a:extLst>
          </p:cNvPr>
          <p:cNvPicPr>
            <a:picLocks noChangeAspect="1"/>
          </p:cNvPicPr>
          <p:nvPr/>
        </p:nvPicPr>
        <p:blipFill>
          <a:blip r:embed="rId3"/>
          <a:stretch>
            <a:fillRect/>
          </a:stretch>
        </p:blipFill>
        <p:spPr>
          <a:xfrm>
            <a:off x="838200" y="1514376"/>
            <a:ext cx="6477000" cy="5249504"/>
          </a:xfrm>
          <a:prstGeom prst="rect">
            <a:avLst/>
          </a:prstGeom>
        </p:spPr>
      </p:pic>
    </p:spTree>
    <p:extLst>
      <p:ext uri="{BB962C8B-B14F-4D97-AF65-F5344CB8AC3E}">
        <p14:creationId xmlns:p14="http://schemas.microsoft.com/office/powerpoint/2010/main" val="2516127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896918"/>
            <a:ext cx="10439400" cy="5283220"/>
          </a:xfrm>
        </p:spPr>
        <p:txBody>
          <a:bodyPr>
            <a:noAutofit/>
          </a:bodyPr>
          <a:lstStyle/>
          <a:p>
            <a:pPr marL="274320" lvl="1" indent="0">
              <a:buNone/>
            </a:pPr>
            <a:endParaRPr lang="en-US" sz="2400" dirty="0">
              <a:solidFill>
                <a:schemeClr val="tx1"/>
              </a:solidFill>
              <a:cs typeface="Times New Roman" panose="02020603050405020304" pitchFamily="18" charset="0"/>
            </a:endParaRPr>
          </a:p>
        </p:txBody>
      </p:sp>
      <p:sp>
        <p:nvSpPr>
          <p:cNvPr id="4" name="Slide Number Placeholder 3"/>
          <p:cNvSpPr>
            <a:spLocks noGrp="1"/>
          </p:cNvSpPr>
          <p:nvPr>
            <p:ph type="sldNum" sz="quarter" idx="12"/>
          </p:nvPr>
        </p:nvSpPr>
        <p:spPr/>
        <p:txBody>
          <a:bodyPr>
            <a:normAutofit lnSpcReduction="10000"/>
          </a:bodyPr>
          <a:lstStyle/>
          <a:p>
            <a:fld id="{3DAF9783-BC0E-C649-838D-61F838C67253}" type="slidenum">
              <a:rPr lang="en-US" smtClean="0"/>
              <a:t>30</a:t>
            </a:fld>
            <a:endParaRPr lang="en-US"/>
          </a:p>
        </p:txBody>
      </p:sp>
      <p:sp>
        <p:nvSpPr>
          <p:cNvPr id="5" name="Title 1">
            <a:extLst>
              <a:ext uri="{FF2B5EF4-FFF2-40B4-BE49-F238E27FC236}">
                <a16:creationId xmlns:a16="http://schemas.microsoft.com/office/drawing/2014/main" id="{3AC41146-1857-1400-EE30-AE66F64DCE11}"/>
              </a:ext>
            </a:extLst>
          </p:cNvPr>
          <p:cNvSpPr txBox="1">
            <a:spLocks/>
          </p:cNvSpPr>
          <p:nvPr/>
        </p:nvSpPr>
        <p:spPr>
          <a:xfrm>
            <a:off x="609600" y="272077"/>
            <a:ext cx="10439400" cy="6248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r>
              <a:rPr lang="en-US" sz="3600" dirty="0">
                <a:cs typeface="Times New Roman" panose="02020603050405020304" pitchFamily="18" charset="0"/>
              </a:rPr>
              <a:t>Counterfactual Simulations</a:t>
            </a:r>
          </a:p>
        </p:txBody>
      </p:sp>
      <p:pic>
        <p:nvPicPr>
          <p:cNvPr id="7" name="Picture 6">
            <a:extLst>
              <a:ext uri="{FF2B5EF4-FFF2-40B4-BE49-F238E27FC236}">
                <a16:creationId xmlns:a16="http://schemas.microsoft.com/office/drawing/2014/main" id="{063F802F-CC0D-D980-0416-68DC71B83C1B}"/>
              </a:ext>
            </a:extLst>
          </p:cNvPr>
          <p:cNvPicPr>
            <a:picLocks noChangeAspect="1"/>
          </p:cNvPicPr>
          <p:nvPr/>
        </p:nvPicPr>
        <p:blipFill>
          <a:blip r:embed="rId3"/>
          <a:stretch>
            <a:fillRect/>
          </a:stretch>
        </p:blipFill>
        <p:spPr>
          <a:xfrm>
            <a:off x="365760" y="870335"/>
            <a:ext cx="8930640" cy="5328001"/>
          </a:xfrm>
          <a:prstGeom prst="rect">
            <a:avLst/>
          </a:prstGeom>
        </p:spPr>
      </p:pic>
    </p:spTree>
    <p:extLst>
      <p:ext uri="{BB962C8B-B14F-4D97-AF65-F5344CB8AC3E}">
        <p14:creationId xmlns:p14="http://schemas.microsoft.com/office/powerpoint/2010/main" val="35014834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959A64B-5C9A-4A9B-BA45-ADECED2E51D9}"/>
              </a:ext>
            </a:extLst>
          </p:cNvPr>
          <p:cNvSpPr>
            <a:spLocks noGrp="1"/>
          </p:cNvSpPr>
          <p:nvPr>
            <p:ph type="ctrTitle"/>
          </p:nvPr>
        </p:nvSpPr>
        <p:spPr>
          <a:xfrm>
            <a:off x="1261872" y="3276600"/>
            <a:ext cx="10625328" cy="1298448"/>
          </a:xfrm>
        </p:spPr>
        <p:txBody>
          <a:bodyPr>
            <a:normAutofit fontScale="90000"/>
          </a:bodyPr>
          <a:lstStyle/>
          <a:p>
            <a:r>
              <a:rPr lang="en-US" dirty="0"/>
              <a:t>Baicker, Mullainathan, &amp; </a:t>
            </a:r>
            <a:r>
              <a:rPr lang="en-US" dirty="0" err="1"/>
              <a:t>Schwartzstein</a:t>
            </a:r>
            <a:r>
              <a:rPr lang="en-US" dirty="0"/>
              <a:t> (2015)</a:t>
            </a:r>
          </a:p>
        </p:txBody>
      </p:sp>
      <p:sp>
        <p:nvSpPr>
          <p:cNvPr id="7" name="Subtitle 4">
            <a:extLst>
              <a:ext uri="{FF2B5EF4-FFF2-40B4-BE49-F238E27FC236}">
                <a16:creationId xmlns:a16="http://schemas.microsoft.com/office/drawing/2014/main" id="{592755C3-E09C-4692-E8D4-9A9FB12BD9A6}"/>
              </a:ext>
            </a:extLst>
          </p:cNvPr>
          <p:cNvSpPr txBox="1">
            <a:spLocks/>
          </p:cNvSpPr>
          <p:nvPr/>
        </p:nvSpPr>
        <p:spPr>
          <a:xfrm>
            <a:off x="1235290" y="4814777"/>
            <a:ext cx="9966109" cy="1691640"/>
          </a:xfrm>
          <a:prstGeom prst="rect">
            <a:avLst/>
          </a:prstGeom>
        </p:spPr>
        <p:txBody>
          <a:bodyPr vert="horz" lIns="91440" tIns="45720" rIns="91440" bIns="45720" rtlCol="0">
            <a:normAutofit/>
          </a:bodyPr>
          <a:lstStyle>
            <a:lvl1pPr marL="0" indent="0" algn="l" defTabSz="914400" rtl="0" eaLnBrk="1" latinLnBrk="0" hangingPunct="1">
              <a:lnSpc>
                <a:spcPct val="95000"/>
              </a:lnSpc>
              <a:spcBef>
                <a:spcPts val="1400"/>
              </a:spcBef>
              <a:spcAft>
                <a:spcPts val="200"/>
              </a:spcAft>
              <a:buClr>
                <a:schemeClr val="accent1"/>
              </a:buClr>
              <a:buSzPct val="80000"/>
              <a:buFont typeface="Arial" pitchFamily="34" charset="0"/>
              <a:buNone/>
              <a:defRPr sz="2200" kern="1200" spc="10" baseline="0">
                <a:solidFill>
                  <a:schemeClr val="tx1">
                    <a:lumMod val="75000"/>
                  </a:schemeClr>
                </a:solidFill>
                <a:latin typeface="Times New Roman" panose="02020603050405020304" pitchFamily="18" charset="0"/>
                <a:ea typeface="+mn-ea"/>
                <a:cs typeface="+mn-cs"/>
              </a:defRPr>
            </a:lvl1pPr>
            <a:lvl2pPr marL="4572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Times New Roman" panose="02020603050405020304" pitchFamily="18" charset="0"/>
                <a:ea typeface="+mn-ea"/>
                <a:cs typeface="+mn-cs"/>
              </a:defRPr>
            </a:lvl2pPr>
            <a:lvl3pPr marL="9144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Times New Roman" panose="02020603050405020304" pitchFamily="18" charset="0"/>
                <a:ea typeface="+mn-ea"/>
                <a:cs typeface="+mn-cs"/>
              </a:defRPr>
            </a:lvl3pPr>
            <a:lvl4pPr marL="1371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Times New Roman" panose="02020603050405020304" pitchFamily="18" charset="0"/>
                <a:ea typeface="+mn-ea"/>
                <a:cs typeface="+mn-cs"/>
              </a:defRPr>
            </a:lvl4pPr>
            <a:lvl5pPr marL="18288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Times New Roman" panose="02020603050405020304" pitchFamily="18" charset="0"/>
                <a:ea typeface="+mn-ea"/>
                <a:cs typeface="+mn-cs"/>
              </a:defRPr>
            </a:lvl5pPr>
            <a:lvl6pPr marL="22860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6pPr>
            <a:lvl7pPr marL="27432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7pPr>
            <a:lvl8pPr marL="32004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8pPr>
            <a:lvl9pPr marL="3657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9pPr>
          </a:lstStyle>
          <a:p>
            <a:r>
              <a:rPr lang="en-US" sz="2400" dirty="0"/>
              <a:t>“Behavioral Hazard in Health Insurance” </a:t>
            </a:r>
          </a:p>
          <a:p>
            <a:r>
              <a:rPr lang="en-US" sz="2400" i="1" dirty="0"/>
              <a:t>The Quarterly Journal of Economics</a:t>
            </a:r>
          </a:p>
        </p:txBody>
      </p:sp>
    </p:spTree>
    <p:extLst>
      <p:ext uri="{BB962C8B-B14F-4D97-AF65-F5344CB8AC3E}">
        <p14:creationId xmlns:p14="http://schemas.microsoft.com/office/powerpoint/2010/main" val="40575259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896918"/>
                <a:ext cx="10439400" cy="5283220"/>
              </a:xfrm>
            </p:spPr>
            <p:txBody>
              <a:bodyPr>
                <a:noAutofit/>
              </a:bodyPr>
              <a:lstStyle/>
              <a:p>
                <a:pPr lvl="1"/>
                <a:r>
                  <a:rPr lang="en-US" sz="2400" dirty="0">
                    <a:solidFill>
                      <a:schemeClr val="tx1"/>
                    </a:solidFill>
                    <a:cs typeface="Times New Roman" panose="02020603050405020304" pitchFamily="18" charset="0"/>
                  </a:rPr>
                  <a:t>Our models of patient choices have basically been do </a:t>
                </a:r>
                <a14:m>
                  <m:oMath xmlns:m="http://schemas.openxmlformats.org/officeDocument/2006/math">
                    <m:r>
                      <a:rPr lang="en-US" sz="2400" b="0" i="1" smtClean="0">
                        <a:solidFill>
                          <a:schemeClr val="tx1"/>
                        </a:solidFill>
                        <a:latin typeface="Cambria Math" panose="02040503050406030204" pitchFamily="18" charset="0"/>
                        <a:cs typeface="Times New Roman" panose="02020603050405020304" pitchFamily="18" charset="0"/>
                      </a:rPr>
                      <m:t>𝑥</m:t>
                    </m:r>
                  </m:oMath>
                </a14:m>
                <a:r>
                  <a:rPr lang="en-US" sz="2400" dirty="0">
                    <a:solidFill>
                      <a:schemeClr val="tx1"/>
                    </a:solidFill>
                    <a:cs typeface="Times New Roman" panose="02020603050405020304" pitchFamily="18" charset="0"/>
                  </a:rPr>
                  <a:t> if and only if </a:t>
                </a:r>
              </a:p>
              <a:p>
                <a:pPr marL="274320" lvl="1" indent="0">
                  <a:buNone/>
                </a:pP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cs typeface="Times New Roman" panose="02020603050405020304" pitchFamily="18" charset="0"/>
                        </a:rPr>
                        <m:t>𝑏</m:t>
                      </m:r>
                      <m:d>
                        <m:dPr>
                          <m:ctrlPr>
                            <a:rPr lang="en-US" sz="2400" b="0" i="1" smtClean="0">
                              <a:solidFill>
                                <a:schemeClr val="tx1"/>
                              </a:solidFill>
                              <a:latin typeface="Cambria Math" panose="02040503050406030204" pitchFamily="18" charset="0"/>
                              <a:cs typeface="Times New Roman" panose="02020603050405020304" pitchFamily="18" charset="0"/>
                            </a:rPr>
                          </m:ctrlPr>
                        </m:dPr>
                        <m:e>
                          <m:r>
                            <a:rPr lang="en-US" sz="2400" b="0" i="1" smtClean="0">
                              <a:solidFill>
                                <a:schemeClr val="tx1"/>
                              </a:solidFill>
                              <a:latin typeface="Cambria Math" panose="02040503050406030204" pitchFamily="18" charset="0"/>
                              <a:cs typeface="Times New Roman" panose="02020603050405020304" pitchFamily="18" charset="0"/>
                            </a:rPr>
                            <m:t>𝑥</m:t>
                          </m:r>
                        </m:e>
                      </m:d>
                      <m:r>
                        <a:rPr lang="en-US" sz="2400" b="0" i="1" smtClean="0">
                          <a:solidFill>
                            <a:schemeClr val="tx1"/>
                          </a:solidFill>
                          <a:latin typeface="Cambria Math" panose="02040503050406030204" pitchFamily="18" charset="0"/>
                          <a:cs typeface="Times New Roman" panose="02020603050405020304" pitchFamily="18" charset="0"/>
                        </a:rPr>
                        <m:t>≥</m:t>
                      </m:r>
                      <m:r>
                        <a:rPr lang="en-US" sz="2400" b="0" i="1" smtClean="0">
                          <a:solidFill>
                            <a:schemeClr val="tx1"/>
                          </a:solidFill>
                          <a:latin typeface="Cambria Math" panose="02040503050406030204" pitchFamily="18" charset="0"/>
                          <a:cs typeface="Times New Roman" panose="02020603050405020304" pitchFamily="18" charset="0"/>
                        </a:rPr>
                        <m:t>𝑐</m:t>
                      </m:r>
                      <m:r>
                        <a:rPr lang="en-US" sz="2400" b="0" i="1" smtClean="0">
                          <a:solidFill>
                            <a:schemeClr val="tx1"/>
                          </a:solidFill>
                          <a:latin typeface="Cambria Math" panose="02040503050406030204" pitchFamily="18" charset="0"/>
                          <a:cs typeface="Times New Roman" panose="02020603050405020304" pitchFamily="18" charset="0"/>
                        </a:rPr>
                        <m:t>(</m:t>
                      </m:r>
                      <m:r>
                        <a:rPr lang="en-US" sz="2400" b="0" i="1" smtClean="0">
                          <a:solidFill>
                            <a:schemeClr val="tx1"/>
                          </a:solidFill>
                          <a:latin typeface="Cambria Math" panose="02040503050406030204" pitchFamily="18" charset="0"/>
                          <a:cs typeface="Times New Roman" panose="02020603050405020304" pitchFamily="18" charset="0"/>
                        </a:rPr>
                        <m:t>𝑥</m:t>
                      </m:r>
                      <m:r>
                        <a:rPr lang="en-US" sz="2400" b="0" i="1" smtClean="0">
                          <a:solidFill>
                            <a:schemeClr val="tx1"/>
                          </a:solidFill>
                          <a:latin typeface="Cambria Math" panose="02040503050406030204" pitchFamily="18" charset="0"/>
                          <a:cs typeface="Times New Roman" panose="02020603050405020304" pitchFamily="18" charset="0"/>
                        </a:rPr>
                        <m:t>)</m:t>
                      </m:r>
                    </m:oMath>
                  </m:oMathPara>
                </a14:m>
                <a:endParaRPr lang="en-US" sz="2400" dirty="0">
                  <a:solidFill>
                    <a:schemeClr val="tx1"/>
                  </a:solidFill>
                  <a:cs typeface="Times New Roman" panose="02020603050405020304" pitchFamily="18" charset="0"/>
                </a:endParaRPr>
              </a:p>
              <a:p>
                <a:pPr lvl="1"/>
                <a:r>
                  <a:rPr lang="en-US" sz="2400" dirty="0">
                    <a:solidFill>
                      <a:schemeClr val="tx1"/>
                    </a:solidFill>
                    <a:cs typeface="Times New Roman" panose="02020603050405020304" pitchFamily="18" charset="0"/>
                  </a:rPr>
                  <a:t>Does this match the data? (Why is that a hard question to know?) </a:t>
                </a:r>
              </a:p>
              <a:p>
                <a:pPr lvl="1"/>
                <a:endParaRPr lang="en-US" sz="2400" dirty="0">
                  <a:solidFill>
                    <a:schemeClr val="tx1"/>
                  </a:solidFill>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896918"/>
                <a:ext cx="10439400" cy="5283220"/>
              </a:xfrm>
              <a:blipFill>
                <a:blip r:embed="rId3"/>
                <a:stretch>
                  <a:fillRect t="-1615"/>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normAutofit lnSpcReduction="10000"/>
          </a:bodyPr>
          <a:lstStyle/>
          <a:p>
            <a:fld id="{3DAF9783-BC0E-C649-838D-61F838C67253}" type="slidenum">
              <a:rPr lang="en-US" smtClean="0"/>
              <a:t>32</a:t>
            </a:fld>
            <a:endParaRPr lang="en-US"/>
          </a:p>
        </p:txBody>
      </p:sp>
      <p:sp>
        <p:nvSpPr>
          <p:cNvPr id="5" name="Title 1">
            <a:extLst>
              <a:ext uri="{FF2B5EF4-FFF2-40B4-BE49-F238E27FC236}">
                <a16:creationId xmlns:a16="http://schemas.microsoft.com/office/drawing/2014/main" id="{3AC41146-1857-1400-EE30-AE66F64DCE11}"/>
              </a:ext>
            </a:extLst>
          </p:cNvPr>
          <p:cNvSpPr txBox="1">
            <a:spLocks/>
          </p:cNvSpPr>
          <p:nvPr/>
        </p:nvSpPr>
        <p:spPr>
          <a:xfrm>
            <a:off x="609600" y="272077"/>
            <a:ext cx="10439400" cy="6248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r>
              <a:rPr lang="en-US" sz="3600" dirty="0">
                <a:cs typeface="Times New Roman" panose="02020603050405020304" pitchFamily="18" charset="0"/>
              </a:rPr>
              <a:t>What about behavioral economics of patient choices?</a:t>
            </a:r>
          </a:p>
        </p:txBody>
      </p:sp>
    </p:spTree>
    <p:extLst>
      <p:ext uri="{BB962C8B-B14F-4D97-AF65-F5344CB8AC3E}">
        <p14:creationId xmlns:p14="http://schemas.microsoft.com/office/powerpoint/2010/main" val="31586697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896918"/>
                <a:ext cx="10439400" cy="5283220"/>
              </a:xfrm>
            </p:spPr>
            <p:txBody>
              <a:bodyPr>
                <a:noAutofit/>
              </a:bodyPr>
              <a:lstStyle/>
              <a:p>
                <a:pPr lvl="1"/>
                <a:r>
                  <a:rPr lang="en-US" sz="2400" dirty="0">
                    <a:solidFill>
                      <a:schemeClr val="tx1"/>
                    </a:solidFill>
                    <a:cs typeface="Times New Roman" panose="02020603050405020304" pitchFamily="18" charset="0"/>
                  </a:rPr>
                  <a:t>Our models of patient choices have basically been do </a:t>
                </a:r>
                <a14:m>
                  <m:oMath xmlns:m="http://schemas.openxmlformats.org/officeDocument/2006/math">
                    <m:r>
                      <a:rPr lang="en-US" sz="2400" b="0" i="1" smtClean="0">
                        <a:solidFill>
                          <a:schemeClr val="tx1"/>
                        </a:solidFill>
                        <a:latin typeface="Cambria Math" panose="02040503050406030204" pitchFamily="18" charset="0"/>
                        <a:cs typeface="Times New Roman" panose="02020603050405020304" pitchFamily="18" charset="0"/>
                      </a:rPr>
                      <m:t>𝑥</m:t>
                    </m:r>
                  </m:oMath>
                </a14:m>
                <a:r>
                  <a:rPr lang="en-US" sz="2400" dirty="0">
                    <a:solidFill>
                      <a:schemeClr val="tx1"/>
                    </a:solidFill>
                    <a:cs typeface="Times New Roman" panose="02020603050405020304" pitchFamily="18" charset="0"/>
                  </a:rPr>
                  <a:t> if and only if </a:t>
                </a:r>
              </a:p>
              <a:p>
                <a:pPr marL="274320" lvl="1" indent="0">
                  <a:buNone/>
                </a:pP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cs typeface="Times New Roman" panose="02020603050405020304" pitchFamily="18" charset="0"/>
                        </a:rPr>
                        <m:t>𝑏</m:t>
                      </m:r>
                      <m:d>
                        <m:dPr>
                          <m:ctrlPr>
                            <a:rPr lang="en-US" sz="2400" b="0" i="1" smtClean="0">
                              <a:solidFill>
                                <a:schemeClr val="tx1"/>
                              </a:solidFill>
                              <a:latin typeface="Cambria Math" panose="02040503050406030204" pitchFamily="18" charset="0"/>
                              <a:cs typeface="Times New Roman" panose="02020603050405020304" pitchFamily="18" charset="0"/>
                            </a:rPr>
                          </m:ctrlPr>
                        </m:dPr>
                        <m:e>
                          <m:r>
                            <a:rPr lang="en-US" sz="2400" b="0" i="1" smtClean="0">
                              <a:solidFill>
                                <a:schemeClr val="tx1"/>
                              </a:solidFill>
                              <a:latin typeface="Cambria Math" panose="02040503050406030204" pitchFamily="18" charset="0"/>
                              <a:cs typeface="Times New Roman" panose="02020603050405020304" pitchFamily="18" charset="0"/>
                            </a:rPr>
                            <m:t>𝑥</m:t>
                          </m:r>
                        </m:e>
                      </m:d>
                      <m:r>
                        <a:rPr lang="en-US" sz="2400" b="0" i="1" smtClean="0">
                          <a:solidFill>
                            <a:schemeClr val="tx1"/>
                          </a:solidFill>
                          <a:latin typeface="Cambria Math" panose="02040503050406030204" pitchFamily="18" charset="0"/>
                          <a:cs typeface="Times New Roman" panose="02020603050405020304" pitchFamily="18" charset="0"/>
                        </a:rPr>
                        <m:t>≥</m:t>
                      </m:r>
                      <m:r>
                        <a:rPr lang="en-US" sz="2400" b="0" i="1" smtClean="0">
                          <a:solidFill>
                            <a:schemeClr val="tx1"/>
                          </a:solidFill>
                          <a:latin typeface="Cambria Math" panose="02040503050406030204" pitchFamily="18" charset="0"/>
                          <a:cs typeface="Times New Roman" panose="02020603050405020304" pitchFamily="18" charset="0"/>
                        </a:rPr>
                        <m:t>𝑐</m:t>
                      </m:r>
                      <m:r>
                        <a:rPr lang="en-US" sz="2400" b="0" i="1" smtClean="0">
                          <a:solidFill>
                            <a:schemeClr val="tx1"/>
                          </a:solidFill>
                          <a:latin typeface="Cambria Math" panose="02040503050406030204" pitchFamily="18" charset="0"/>
                          <a:cs typeface="Times New Roman" panose="02020603050405020304" pitchFamily="18" charset="0"/>
                        </a:rPr>
                        <m:t>(</m:t>
                      </m:r>
                      <m:r>
                        <a:rPr lang="en-US" sz="2400" b="0" i="1" smtClean="0">
                          <a:solidFill>
                            <a:schemeClr val="tx1"/>
                          </a:solidFill>
                          <a:latin typeface="Cambria Math" panose="02040503050406030204" pitchFamily="18" charset="0"/>
                          <a:cs typeface="Times New Roman" panose="02020603050405020304" pitchFamily="18" charset="0"/>
                        </a:rPr>
                        <m:t>𝑥</m:t>
                      </m:r>
                      <m:r>
                        <a:rPr lang="en-US" sz="2400" b="0" i="1" smtClean="0">
                          <a:solidFill>
                            <a:schemeClr val="tx1"/>
                          </a:solidFill>
                          <a:latin typeface="Cambria Math" panose="02040503050406030204" pitchFamily="18" charset="0"/>
                          <a:cs typeface="Times New Roman" panose="02020603050405020304" pitchFamily="18" charset="0"/>
                        </a:rPr>
                        <m:t>)</m:t>
                      </m:r>
                    </m:oMath>
                  </m:oMathPara>
                </a14:m>
                <a:endParaRPr lang="en-US" sz="2400" dirty="0">
                  <a:solidFill>
                    <a:schemeClr val="tx1"/>
                  </a:solidFill>
                  <a:cs typeface="Times New Roman" panose="02020603050405020304" pitchFamily="18" charset="0"/>
                </a:endParaRPr>
              </a:p>
              <a:p>
                <a:pPr lvl="1"/>
                <a:r>
                  <a:rPr lang="en-US" sz="2400" dirty="0">
                    <a:solidFill>
                      <a:schemeClr val="tx1"/>
                    </a:solidFill>
                    <a:cs typeface="Times New Roman" panose="02020603050405020304" pitchFamily="18" charset="0"/>
                  </a:rPr>
                  <a:t>Does this match the data? (Why is that a hard question to know?) </a:t>
                </a:r>
              </a:p>
              <a:p>
                <a:pPr lvl="1"/>
                <a:r>
                  <a:rPr lang="en-US" sz="2400" dirty="0">
                    <a:solidFill>
                      <a:schemeClr val="tx1"/>
                    </a:solidFill>
                    <a:cs typeface="Times New Roman" panose="02020603050405020304" pitchFamily="18" charset="0"/>
                  </a:rPr>
                  <a:t>Are there situations where the choice is really </a:t>
                </a:r>
              </a:p>
              <a:p>
                <a:pPr marL="274320" lvl="1" indent="0">
                  <a:buNone/>
                </a:pP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cs typeface="Times New Roman" panose="02020603050405020304" pitchFamily="18" charset="0"/>
                        </a:rPr>
                        <m:t>𝑏</m:t>
                      </m:r>
                      <m:d>
                        <m:dPr>
                          <m:ctrlPr>
                            <a:rPr lang="en-US" sz="2400" b="0" i="1" smtClean="0">
                              <a:solidFill>
                                <a:schemeClr val="tx1"/>
                              </a:solidFill>
                              <a:latin typeface="Cambria Math" panose="02040503050406030204" pitchFamily="18" charset="0"/>
                              <a:cs typeface="Times New Roman" panose="02020603050405020304" pitchFamily="18" charset="0"/>
                            </a:rPr>
                          </m:ctrlPr>
                        </m:dPr>
                        <m:e>
                          <m:r>
                            <a:rPr lang="en-US" sz="2400" b="0" i="1" smtClean="0">
                              <a:solidFill>
                                <a:schemeClr val="tx1"/>
                              </a:solidFill>
                              <a:latin typeface="Cambria Math" panose="02040503050406030204" pitchFamily="18" charset="0"/>
                              <a:cs typeface="Times New Roman" panose="02020603050405020304" pitchFamily="18" charset="0"/>
                            </a:rPr>
                            <m:t>𝑥</m:t>
                          </m:r>
                        </m:e>
                      </m:d>
                      <m:r>
                        <a:rPr lang="en-US" sz="2400" b="0" i="1" smtClean="0">
                          <a:solidFill>
                            <a:schemeClr val="tx1"/>
                          </a:solidFill>
                          <a:latin typeface="Cambria Math" panose="02040503050406030204" pitchFamily="18" charset="0"/>
                          <a:cs typeface="Times New Roman" panose="02020603050405020304" pitchFamily="18" charset="0"/>
                        </a:rPr>
                        <m:t>+</m:t>
                      </m:r>
                      <m:r>
                        <a:rPr lang="en-US" sz="2400" b="0" i="1" smtClean="0">
                          <a:solidFill>
                            <a:schemeClr val="tx1"/>
                          </a:solidFill>
                          <a:latin typeface="Cambria Math" panose="02040503050406030204" pitchFamily="18" charset="0"/>
                          <a:cs typeface="Times New Roman" panose="02020603050405020304" pitchFamily="18" charset="0"/>
                        </a:rPr>
                        <m:t>𝜀</m:t>
                      </m:r>
                      <m:r>
                        <a:rPr lang="en-US" sz="2400" b="0" i="1" smtClean="0">
                          <a:solidFill>
                            <a:schemeClr val="tx1"/>
                          </a:solidFill>
                          <a:latin typeface="Cambria Math" panose="02040503050406030204" pitchFamily="18" charset="0"/>
                          <a:cs typeface="Times New Roman" panose="02020603050405020304" pitchFamily="18" charset="0"/>
                        </a:rPr>
                        <m:t>≥</m:t>
                      </m:r>
                      <m:r>
                        <a:rPr lang="en-US" sz="2400" b="0" i="1" smtClean="0">
                          <a:solidFill>
                            <a:schemeClr val="tx1"/>
                          </a:solidFill>
                          <a:latin typeface="Cambria Math" panose="02040503050406030204" pitchFamily="18" charset="0"/>
                          <a:cs typeface="Times New Roman" panose="02020603050405020304" pitchFamily="18" charset="0"/>
                        </a:rPr>
                        <m:t>𝑐</m:t>
                      </m:r>
                      <m:d>
                        <m:dPr>
                          <m:ctrlPr>
                            <a:rPr lang="en-US" sz="2400" b="0" i="1" smtClean="0">
                              <a:solidFill>
                                <a:schemeClr val="tx1"/>
                              </a:solidFill>
                              <a:latin typeface="Cambria Math" panose="02040503050406030204" pitchFamily="18" charset="0"/>
                              <a:cs typeface="Times New Roman" panose="02020603050405020304" pitchFamily="18" charset="0"/>
                            </a:rPr>
                          </m:ctrlPr>
                        </m:dPr>
                        <m:e>
                          <m:r>
                            <a:rPr lang="en-US" sz="2400" b="0" i="1" smtClean="0">
                              <a:solidFill>
                                <a:schemeClr val="tx1"/>
                              </a:solidFill>
                              <a:latin typeface="Cambria Math" panose="02040503050406030204" pitchFamily="18" charset="0"/>
                              <a:cs typeface="Times New Roman" panose="02020603050405020304" pitchFamily="18" charset="0"/>
                            </a:rPr>
                            <m:t>𝑥</m:t>
                          </m:r>
                        </m:e>
                      </m:d>
                      <m:r>
                        <a:rPr lang="en-US" sz="2400" b="0" i="0" smtClean="0">
                          <a:solidFill>
                            <a:schemeClr val="tx1"/>
                          </a:solidFill>
                          <a:latin typeface="Cambria Math" panose="02040503050406030204" pitchFamily="18" charset="0"/>
                          <a:cs typeface="Times New Roman" panose="02020603050405020304" pitchFamily="18" charset="0"/>
                        </a:rPr>
                        <m:t>?</m:t>
                      </m:r>
                    </m:oMath>
                  </m:oMathPara>
                </a14:m>
                <a:endParaRPr lang="en-US" sz="2400" dirty="0">
                  <a:solidFill>
                    <a:schemeClr val="tx1"/>
                  </a:solidFill>
                  <a:cs typeface="Times New Roman" panose="02020603050405020304" pitchFamily="18" charset="0"/>
                </a:endParaRPr>
              </a:p>
              <a:p>
                <a:pPr marL="274320" lvl="1" indent="0">
                  <a:buNone/>
                </a:pPr>
                <a:r>
                  <a:rPr lang="en-US" sz="2400" dirty="0">
                    <a:solidFill>
                      <a:schemeClr val="tx1"/>
                    </a:solidFill>
                    <a:cs typeface="Times New Roman" panose="02020603050405020304" pitchFamily="18" charset="0"/>
                  </a:rPr>
                  <a:t>What could be captured in </a:t>
                </a:r>
                <a14:m>
                  <m:oMath xmlns:m="http://schemas.openxmlformats.org/officeDocument/2006/math">
                    <m:r>
                      <a:rPr lang="en-US" sz="2400" b="0" i="1" smtClean="0">
                        <a:solidFill>
                          <a:schemeClr val="tx1"/>
                        </a:solidFill>
                        <a:latin typeface="Cambria Math" panose="02040503050406030204" pitchFamily="18" charset="0"/>
                        <a:cs typeface="Times New Roman" panose="02020603050405020304" pitchFamily="18" charset="0"/>
                      </a:rPr>
                      <m:t>𝜀</m:t>
                    </m:r>
                    <m:r>
                      <a:rPr lang="en-US" sz="2400" b="0" i="1" smtClean="0">
                        <a:solidFill>
                          <a:schemeClr val="tx1"/>
                        </a:solidFill>
                        <a:latin typeface="Cambria Math" panose="02040503050406030204" pitchFamily="18" charset="0"/>
                        <a:cs typeface="Times New Roman" panose="02020603050405020304" pitchFamily="18" charset="0"/>
                      </a:rPr>
                      <m:t>?</m:t>
                    </m:r>
                  </m:oMath>
                </a14:m>
                <a:endParaRPr lang="en-US" sz="2400" dirty="0">
                  <a:solidFill>
                    <a:schemeClr val="tx1"/>
                  </a:solidFill>
                  <a:cs typeface="Times New Roman" panose="02020603050405020304" pitchFamily="18" charset="0"/>
                </a:endParaRPr>
              </a:p>
              <a:p>
                <a:pPr lvl="1"/>
                <a:endParaRPr lang="en-US" sz="2400" dirty="0">
                  <a:solidFill>
                    <a:schemeClr val="tx1"/>
                  </a:solidFill>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896918"/>
                <a:ext cx="10439400" cy="5283220"/>
              </a:xfrm>
              <a:blipFill>
                <a:blip r:embed="rId3"/>
                <a:stretch>
                  <a:fillRect t="-1615"/>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normAutofit lnSpcReduction="10000"/>
          </a:bodyPr>
          <a:lstStyle/>
          <a:p>
            <a:fld id="{3DAF9783-BC0E-C649-838D-61F838C67253}" type="slidenum">
              <a:rPr lang="en-US" smtClean="0"/>
              <a:t>33</a:t>
            </a:fld>
            <a:endParaRPr lang="en-US"/>
          </a:p>
        </p:txBody>
      </p:sp>
      <p:sp>
        <p:nvSpPr>
          <p:cNvPr id="5" name="Title 1">
            <a:extLst>
              <a:ext uri="{FF2B5EF4-FFF2-40B4-BE49-F238E27FC236}">
                <a16:creationId xmlns:a16="http://schemas.microsoft.com/office/drawing/2014/main" id="{3AC41146-1857-1400-EE30-AE66F64DCE11}"/>
              </a:ext>
            </a:extLst>
          </p:cNvPr>
          <p:cNvSpPr txBox="1">
            <a:spLocks/>
          </p:cNvSpPr>
          <p:nvPr/>
        </p:nvSpPr>
        <p:spPr>
          <a:xfrm>
            <a:off x="609600" y="272077"/>
            <a:ext cx="10439400" cy="6248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r>
              <a:rPr lang="en-US" sz="3600" dirty="0">
                <a:cs typeface="Times New Roman" panose="02020603050405020304" pitchFamily="18" charset="0"/>
              </a:rPr>
              <a:t>What about behavioral economics of patient choices?</a:t>
            </a:r>
          </a:p>
        </p:txBody>
      </p:sp>
    </p:spTree>
    <p:extLst>
      <p:ext uri="{BB962C8B-B14F-4D97-AF65-F5344CB8AC3E}">
        <p14:creationId xmlns:p14="http://schemas.microsoft.com/office/powerpoint/2010/main" val="35801622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896918"/>
                <a:ext cx="10439400" cy="5283220"/>
              </a:xfrm>
            </p:spPr>
            <p:txBody>
              <a:bodyPr>
                <a:noAutofit/>
              </a:bodyPr>
              <a:lstStyle/>
              <a:p>
                <a:pPr lvl="1"/>
                <a:r>
                  <a:rPr lang="en-US" sz="2400" dirty="0">
                    <a:solidFill>
                      <a:schemeClr val="tx1"/>
                    </a:solidFill>
                    <a:cs typeface="Times New Roman" panose="02020603050405020304" pitchFamily="18" charset="0"/>
                  </a:rPr>
                  <a:t>Our models of patient choices have basically been do </a:t>
                </a:r>
                <a14:m>
                  <m:oMath xmlns:m="http://schemas.openxmlformats.org/officeDocument/2006/math">
                    <m:r>
                      <a:rPr lang="en-US" sz="2400" b="0" i="1" smtClean="0">
                        <a:solidFill>
                          <a:schemeClr val="tx1"/>
                        </a:solidFill>
                        <a:latin typeface="Cambria Math" panose="02040503050406030204" pitchFamily="18" charset="0"/>
                        <a:cs typeface="Times New Roman" panose="02020603050405020304" pitchFamily="18" charset="0"/>
                      </a:rPr>
                      <m:t>𝑥</m:t>
                    </m:r>
                  </m:oMath>
                </a14:m>
                <a:r>
                  <a:rPr lang="en-US" sz="2400" dirty="0">
                    <a:solidFill>
                      <a:schemeClr val="tx1"/>
                    </a:solidFill>
                    <a:cs typeface="Times New Roman" panose="02020603050405020304" pitchFamily="18" charset="0"/>
                  </a:rPr>
                  <a:t> if and only if </a:t>
                </a:r>
              </a:p>
              <a:p>
                <a:pPr marL="274320" lvl="1" indent="0">
                  <a:buNone/>
                </a:pP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cs typeface="Times New Roman" panose="02020603050405020304" pitchFamily="18" charset="0"/>
                        </a:rPr>
                        <m:t>𝑏</m:t>
                      </m:r>
                      <m:d>
                        <m:dPr>
                          <m:ctrlPr>
                            <a:rPr lang="en-US" sz="2400" b="0" i="1" smtClean="0">
                              <a:solidFill>
                                <a:schemeClr val="tx1"/>
                              </a:solidFill>
                              <a:latin typeface="Cambria Math" panose="02040503050406030204" pitchFamily="18" charset="0"/>
                              <a:cs typeface="Times New Roman" panose="02020603050405020304" pitchFamily="18" charset="0"/>
                            </a:rPr>
                          </m:ctrlPr>
                        </m:dPr>
                        <m:e>
                          <m:r>
                            <a:rPr lang="en-US" sz="2400" b="0" i="1" smtClean="0">
                              <a:solidFill>
                                <a:schemeClr val="tx1"/>
                              </a:solidFill>
                              <a:latin typeface="Cambria Math" panose="02040503050406030204" pitchFamily="18" charset="0"/>
                              <a:cs typeface="Times New Roman" panose="02020603050405020304" pitchFamily="18" charset="0"/>
                            </a:rPr>
                            <m:t>𝑥</m:t>
                          </m:r>
                        </m:e>
                      </m:d>
                      <m:r>
                        <a:rPr lang="en-US" sz="2400" b="0" i="1" smtClean="0">
                          <a:solidFill>
                            <a:schemeClr val="tx1"/>
                          </a:solidFill>
                          <a:latin typeface="Cambria Math" panose="02040503050406030204" pitchFamily="18" charset="0"/>
                          <a:cs typeface="Times New Roman" panose="02020603050405020304" pitchFamily="18" charset="0"/>
                        </a:rPr>
                        <m:t>≥</m:t>
                      </m:r>
                      <m:r>
                        <a:rPr lang="en-US" sz="2400" b="0" i="1" smtClean="0">
                          <a:solidFill>
                            <a:schemeClr val="tx1"/>
                          </a:solidFill>
                          <a:latin typeface="Cambria Math" panose="02040503050406030204" pitchFamily="18" charset="0"/>
                          <a:cs typeface="Times New Roman" panose="02020603050405020304" pitchFamily="18" charset="0"/>
                        </a:rPr>
                        <m:t>𝑐</m:t>
                      </m:r>
                      <m:r>
                        <a:rPr lang="en-US" sz="2400" b="0" i="1" smtClean="0">
                          <a:solidFill>
                            <a:schemeClr val="tx1"/>
                          </a:solidFill>
                          <a:latin typeface="Cambria Math" panose="02040503050406030204" pitchFamily="18" charset="0"/>
                          <a:cs typeface="Times New Roman" panose="02020603050405020304" pitchFamily="18" charset="0"/>
                        </a:rPr>
                        <m:t>(</m:t>
                      </m:r>
                      <m:r>
                        <a:rPr lang="en-US" sz="2400" b="0" i="1" smtClean="0">
                          <a:solidFill>
                            <a:schemeClr val="tx1"/>
                          </a:solidFill>
                          <a:latin typeface="Cambria Math" panose="02040503050406030204" pitchFamily="18" charset="0"/>
                          <a:cs typeface="Times New Roman" panose="02020603050405020304" pitchFamily="18" charset="0"/>
                        </a:rPr>
                        <m:t>𝑥</m:t>
                      </m:r>
                      <m:r>
                        <a:rPr lang="en-US" sz="2400" b="0" i="1" smtClean="0">
                          <a:solidFill>
                            <a:schemeClr val="tx1"/>
                          </a:solidFill>
                          <a:latin typeface="Cambria Math" panose="02040503050406030204" pitchFamily="18" charset="0"/>
                          <a:cs typeface="Times New Roman" panose="02020603050405020304" pitchFamily="18" charset="0"/>
                        </a:rPr>
                        <m:t>)</m:t>
                      </m:r>
                    </m:oMath>
                  </m:oMathPara>
                </a14:m>
                <a:endParaRPr lang="en-US" sz="2400" dirty="0">
                  <a:solidFill>
                    <a:schemeClr val="tx1"/>
                  </a:solidFill>
                  <a:cs typeface="Times New Roman" panose="02020603050405020304" pitchFamily="18" charset="0"/>
                </a:endParaRPr>
              </a:p>
              <a:p>
                <a:pPr lvl="1"/>
                <a:r>
                  <a:rPr lang="en-US" sz="2400" dirty="0">
                    <a:solidFill>
                      <a:schemeClr val="tx1"/>
                    </a:solidFill>
                    <a:cs typeface="Times New Roman" panose="02020603050405020304" pitchFamily="18" charset="0"/>
                  </a:rPr>
                  <a:t>Does this match the data? (Why is that a hard question to know?) </a:t>
                </a:r>
              </a:p>
              <a:p>
                <a:pPr lvl="1"/>
                <a:r>
                  <a:rPr lang="en-US" sz="2400" dirty="0">
                    <a:solidFill>
                      <a:schemeClr val="tx1"/>
                    </a:solidFill>
                    <a:cs typeface="Times New Roman" panose="02020603050405020304" pitchFamily="18" charset="0"/>
                  </a:rPr>
                  <a:t>Are there situations where the choice is really </a:t>
                </a:r>
              </a:p>
              <a:p>
                <a:pPr marL="274320" lvl="1" indent="0">
                  <a:buNone/>
                </a:pP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cs typeface="Times New Roman" panose="02020603050405020304" pitchFamily="18" charset="0"/>
                        </a:rPr>
                        <m:t>𝑏</m:t>
                      </m:r>
                      <m:d>
                        <m:dPr>
                          <m:ctrlPr>
                            <a:rPr lang="en-US" sz="2400" b="0" i="1" smtClean="0">
                              <a:solidFill>
                                <a:schemeClr val="tx1"/>
                              </a:solidFill>
                              <a:latin typeface="Cambria Math" panose="02040503050406030204" pitchFamily="18" charset="0"/>
                              <a:cs typeface="Times New Roman" panose="02020603050405020304" pitchFamily="18" charset="0"/>
                            </a:rPr>
                          </m:ctrlPr>
                        </m:dPr>
                        <m:e>
                          <m:r>
                            <a:rPr lang="en-US" sz="2400" b="0" i="1" smtClean="0">
                              <a:solidFill>
                                <a:schemeClr val="tx1"/>
                              </a:solidFill>
                              <a:latin typeface="Cambria Math" panose="02040503050406030204" pitchFamily="18" charset="0"/>
                              <a:cs typeface="Times New Roman" panose="02020603050405020304" pitchFamily="18" charset="0"/>
                            </a:rPr>
                            <m:t>𝑥</m:t>
                          </m:r>
                        </m:e>
                      </m:d>
                      <m:r>
                        <a:rPr lang="en-US" sz="2400" b="0" i="1" smtClean="0">
                          <a:solidFill>
                            <a:schemeClr val="tx1"/>
                          </a:solidFill>
                          <a:latin typeface="Cambria Math" panose="02040503050406030204" pitchFamily="18" charset="0"/>
                          <a:cs typeface="Times New Roman" panose="02020603050405020304" pitchFamily="18" charset="0"/>
                        </a:rPr>
                        <m:t>+</m:t>
                      </m:r>
                      <m:r>
                        <a:rPr lang="en-US" sz="2400" b="0" i="1" smtClean="0">
                          <a:solidFill>
                            <a:schemeClr val="tx1"/>
                          </a:solidFill>
                          <a:latin typeface="Cambria Math" panose="02040503050406030204" pitchFamily="18" charset="0"/>
                          <a:cs typeface="Times New Roman" panose="02020603050405020304" pitchFamily="18" charset="0"/>
                        </a:rPr>
                        <m:t>𝜀</m:t>
                      </m:r>
                      <m:r>
                        <a:rPr lang="en-US" sz="2400" b="0" i="1" smtClean="0">
                          <a:solidFill>
                            <a:schemeClr val="tx1"/>
                          </a:solidFill>
                          <a:latin typeface="Cambria Math" panose="02040503050406030204" pitchFamily="18" charset="0"/>
                          <a:cs typeface="Times New Roman" panose="02020603050405020304" pitchFamily="18" charset="0"/>
                        </a:rPr>
                        <m:t>≥</m:t>
                      </m:r>
                      <m:r>
                        <a:rPr lang="en-US" sz="2400" b="0" i="1" smtClean="0">
                          <a:solidFill>
                            <a:schemeClr val="tx1"/>
                          </a:solidFill>
                          <a:latin typeface="Cambria Math" panose="02040503050406030204" pitchFamily="18" charset="0"/>
                          <a:cs typeface="Times New Roman" panose="02020603050405020304" pitchFamily="18" charset="0"/>
                        </a:rPr>
                        <m:t>𝑐</m:t>
                      </m:r>
                      <m:d>
                        <m:dPr>
                          <m:ctrlPr>
                            <a:rPr lang="en-US" sz="2400" b="0" i="1" smtClean="0">
                              <a:solidFill>
                                <a:schemeClr val="tx1"/>
                              </a:solidFill>
                              <a:latin typeface="Cambria Math" panose="02040503050406030204" pitchFamily="18" charset="0"/>
                              <a:cs typeface="Times New Roman" panose="02020603050405020304" pitchFamily="18" charset="0"/>
                            </a:rPr>
                          </m:ctrlPr>
                        </m:dPr>
                        <m:e>
                          <m:r>
                            <a:rPr lang="en-US" sz="2400" b="0" i="1" smtClean="0">
                              <a:solidFill>
                                <a:schemeClr val="tx1"/>
                              </a:solidFill>
                              <a:latin typeface="Cambria Math" panose="02040503050406030204" pitchFamily="18" charset="0"/>
                              <a:cs typeface="Times New Roman" panose="02020603050405020304" pitchFamily="18" charset="0"/>
                            </a:rPr>
                            <m:t>𝑥</m:t>
                          </m:r>
                        </m:e>
                      </m:d>
                      <m:r>
                        <a:rPr lang="en-US" sz="2400" b="0" i="0" smtClean="0">
                          <a:solidFill>
                            <a:schemeClr val="tx1"/>
                          </a:solidFill>
                          <a:latin typeface="Cambria Math" panose="02040503050406030204" pitchFamily="18" charset="0"/>
                          <a:cs typeface="Times New Roman" panose="02020603050405020304" pitchFamily="18" charset="0"/>
                        </a:rPr>
                        <m:t>?</m:t>
                      </m:r>
                    </m:oMath>
                  </m:oMathPara>
                </a14:m>
                <a:endParaRPr lang="en-US" sz="2400" dirty="0">
                  <a:solidFill>
                    <a:schemeClr val="tx1"/>
                  </a:solidFill>
                  <a:cs typeface="Times New Roman" panose="02020603050405020304" pitchFamily="18" charset="0"/>
                </a:endParaRPr>
              </a:p>
              <a:p>
                <a:pPr marL="274320" lvl="1" indent="0">
                  <a:buNone/>
                </a:pPr>
                <a:r>
                  <a:rPr lang="en-US" sz="2400" dirty="0">
                    <a:solidFill>
                      <a:schemeClr val="tx1"/>
                    </a:solidFill>
                    <a:cs typeface="Times New Roman" panose="02020603050405020304" pitchFamily="18" charset="0"/>
                  </a:rPr>
                  <a:t>What could be captured in </a:t>
                </a:r>
                <a14:m>
                  <m:oMath xmlns:m="http://schemas.openxmlformats.org/officeDocument/2006/math">
                    <m:r>
                      <a:rPr lang="en-US" sz="2400" b="0" i="1" smtClean="0">
                        <a:solidFill>
                          <a:schemeClr val="tx1"/>
                        </a:solidFill>
                        <a:latin typeface="Cambria Math" panose="02040503050406030204" pitchFamily="18" charset="0"/>
                        <a:cs typeface="Times New Roman" panose="02020603050405020304" pitchFamily="18" charset="0"/>
                      </a:rPr>
                      <m:t>𝜀</m:t>
                    </m:r>
                    <m:r>
                      <a:rPr lang="en-US" sz="2400" b="0" i="1" smtClean="0">
                        <a:solidFill>
                          <a:schemeClr val="tx1"/>
                        </a:solidFill>
                        <a:latin typeface="Cambria Math" panose="02040503050406030204" pitchFamily="18" charset="0"/>
                        <a:cs typeface="Times New Roman" panose="02020603050405020304" pitchFamily="18" charset="0"/>
                      </a:rPr>
                      <m:t>?</m:t>
                    </m:r>
                  </m:oMath>
                </a14:m>
                <a:r>
                  <a:rPr lang="en-US" sz="2400" dirty="0">
                    <a:solidFill>
                      <a:schemeClr val="tx1"/>
                    </a:solidFill>
                    <a:cs typeface="Times New Roman" panose="02020603050405020304" pitchFamily="18" charset="0"/>
                  </a:rPr>
                  <a:t> </a:t>
                </a:r>
                <a:r>
                  <a:rPr lang="en-US" sz="2400" b="1" u="sng" dirty="0">
                    <a:solidFill>
                      <a:schemeClr val="accent3">
                        <a:lumMod val="75000"/>
                      </a:schemeClr>
                    </a:solidFill>
                    <a:cs typeface="Times New Roman" panose="02020603050405020304" pitchFamily="18" charset="0"/>
                  </a:rPr>
                  <a:t>“Behavioral hazard”</a:t>
                </a:r>
              </a:p>
              <a:p>
                <a:pPr marL="731520" lvl="1" indent="-457200">
                  <a:buFont typeface="+mj-lt"/>
                  <a:buAutoNum type="arabicPeriod"/>
                </a:pPr>
                <a:r>
                  <a:rPr lang="en-US" sz="2400" dirty="0">
                    <a:solidFill>
                      <a:schemeClr val="tx1"/>
                    </a:solidFill>
                    <a:cs typeface="Times New Roman" panose="02020603050405020304" pitchFamily="18" charset="0"/>
                  </a:rPr>
                  <a:t>Present bias: what if treatment benefits don’t appear immediately? </a:t>
                </a:r>
              </a:p>
              <a:p>
                <a:pPr marL="731520" lvl="1" indent="-457200">
                  <a:buFont typeface="+mj-lt"/>
                  <a:buAutoNum type="arabicPeriod"/>
                </a:pPr>
                <a:r>
                  <a:rPr lang="en-US" sz="2400" dirty="0">
                    <a:solidFill>
                      <a:schemeClr val="tx1"/>
                    </a:solidFill>
                    <a:cs typeface="Times New Roman" panose="02020603050405020304" pitchFamily="18" charset="0"/>
                  </a:rPr>
                  <a:t>Inattention: how salient are my symptoms? </a:t>
                </a:r>
              </a:p>
              <a:p>
                <a:pPr marL="731520" lvl="1" indent="-457200">
                  <a:buFont typeface="+mj-lt"/>
                  <a:buAutoNum type="arabicPeriod"/>
                </a:pPr>
                <a:r>
                  <a:rPr lang="en-US" sz="2400" dirty="0">
                    <a:solidFill>
                      <a:schemeClr val="tx1"/>
                    </a:solidFill>
                    <a:cs typeface="Times New Roman" panose="02020603050405020304" pitchFamily="18" charset="0"/>
                  </a:rPr>
                  <a:t>False beliefs:</a:t>
                </a:r>
              </a:p>
              <a:p>
                <a:pPr marL="731520" lvl="1" indent="-457200">
                  <a:buFont typeface="+mj-lt"/>
                  <a:buAutoNum type="arabicPeriod"/>
                </a:pPr>
                <a:endParaRPr lang="en-US" sz="2400" dirty="0">
                  <a:solidFill>
                    <a:schemeClr val="tx1"/>
                  </a:solidFill>
                  <a:cs typeface="Times New Roman" panose="02020603050405020304" pitchFamily="18" charset="0"/>
                </a:endParaRPr>
              </a:p>
              <a:p>
                <a:pPr marL="274320" lvl="1" indent="0">
                  <a:buNone/>
                </a:pPr>
                <a:endParaRPr lang="en-US" sz="2400" dirty="0">
                  <a:solidFill>
                    <a:schemeClr val="tx1"/>
                  </a:solidFill>
                  <a:cs typeface="Times New Roman" panose="02020603050405020304" pitchFamily="18" charset="0"/>
                </a:endParaRPr>
              </a:p>
              <a:p>
                <a:pPr marL="274320" lvl="1" indent="0">
                  <a:buNone/>
                </a:pPr>
                <a:r>
                  <a:rPr lang="en-US" sz="2400" dirty="0">
                    <a:solidFill>
                      <a:schemeClr val="tx1"/>
                    </a:solidFill>
                    <a:cs typeface="Times New Roman" panose="02020603050405020304" pitchFamily="18" charset="0"/>
                  </a:rPr>
                  <a:t>What does it mean when </a:t>
                </a:r>
                <a14:m>
                  <m:oMath xmlns:m="http://schemas.openxmlformats.org/officeDocument/2006/math">
                    <m:r>
                      <a:rPr lang="en-US" sz="2400" b="0" i="1" smtClean="0">
                        <a:solidFill>
                          <a:schemeClr val="tx1"/>
                        </a:solidFill>
                        <a:latin typeface="Cambria Math" panose="02040503050406030204" pitchFamily="18" charset="0"/>
                        <a:cs typeface="Times New Roman" panose="02020603050405020304" pitchFamily="18" charset="0"/>
                      </a:rPr>
                      <m:t>𝜀</m:t>
                    </m:r>
                    <m:r>
                      <a:rPr lang="en-US" sz="2400" b="0" i="1" smtClean="0">
                        <a:solidFill>
                          <a:schemeClr val="tx1"/>
                        </a:solidFill>
                        <a:latin typeface="Cambria Math" panose="02040503050406030204" pitchFamily="18" charset="0"/>
                        <a:cs typeface="Times New Roman" panose="02020603050405020304" pitchFamily="18" charset="0"/>
                      </a:rPr>
                      <m:t>≥0?</m:t>
                    </m:r>
                  </m:oMath>
                </a14:m>
                <a:r>
                  <a:rPr lang="en-US" sz="2400" dirty="0">
                    <a:solidFill>
                      <a:schemeClr val="tx1"/>
                    </a:solidFill>
                    <a:cs typeface="Times New Roman" panose="02020603050405020304" pitchFamily="18" charset="0"/>
                  </a:rPr>
                  <a:t>  </a:t>
                </a:r>
                <a14:m>
                  <m:oMath xmlns:m="http://schemas.openxmlformats.org/officeDocument/2006/math">
                    <m:r>
                      <a:rPr lang="en-US" sz="2400" b="0" i="1" dirty="0" smtClean="0">
                        <a:solidFill>
                          <a:schemeClr val="tx1"/>
                        </a:solidFill>
                        <a:latin typeface="Cambria Math" panose="02040503050406030204" pitchFamily="18" charset="0"/>
                        <a:cs typeface="Times New Roman" panose="02020603050405020304" pitchFamily="18" charset="0"/>
                      </a:rPr>
                      <m:t>𝜀</m:t>
                    </m:r>
                    <m:r>
                      <a:rPr lang="en-US" sz="2400" b="0" i="1" dirty="0" smtClean="0">
                        <a:solidFill>
                          <a:schemeClr val="tx1"/>
                        </a:solidFill>
                        <a:latin typeface="Cambria Math" panose="02040503050406030204" pitchFamily="18" charset="0"/>
                        <a:cs typeface="Times New Roman" panose="02020603050405020304" pitchFamily="18" charset="0"/>
                      </a:rPr>
                      <m:t>≤0</m:t>
                    </m:r>
                  </m:oMath>
                </a14:m>
                <a:r>
                  <a:rPr lang="en-US" sz="2400" dirty="0">
                    <a:solidFill>
                      <a:schemeClr val="tx1"/>
                    </a:solidFill>
                    <a:cs typeface="Times New Roman" panose="02020603050405020304" pitchFamily="18" charset="0"/>
                  </a:rPr>
                  <a:t>?</a:t>
                </a:r>
              </a:p>
              <a:p>
                <a:pPr lvl="1"/>
                <a:endParaRPr lang="en-US" sz="2400" dirty="0">
                  <a:solidFill>
                    <a:schemeClr val="tx1"/>
                  </a:solidFill>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896918"/>
                <a:ext cx="10439400" cy="5283220"/>
              </a:xfrm>
              <a:blipFill>
                <a:blip r:embed="rId3"/>
                <a:stretch>
                  <a:fillRect t="-1615"/>
                </a:stretch>
              </a:blipFill>
            </p:spPr>
            <p:txBody>
              <a:bodyPr/>
              <a:lstStyle/>
              <a:p>
                <a:r>
                  <a:rPr lang="en-CA">
                    <a:noFill/>
                  </a:rPr>
                  <a:t> </a:t>
                </a:r>
              </a:p>
            </p:txBody>
          </p:sp>
        </mc:Fallback>
      </mc:AlternateContent>
      <p:sp>
        <p:nvSpPr>
          <p:cNvPr id="4" name="Slide Number Placeholder 3"/>
          <p:cNvSpPr>
            <a:spLocks noGrp="1"/>
          </p:cNvSpPr>
          <p:nvPr>
            <p:ph type="sldNum" sz="quarter" idx="12"/>
          </p:nvPr>
        </p:nvSpPr>
        <p:spPr/>
        <p:txBody>
          <a:bodyPr>
            <a:normAutofit lnSpcReduction="10000"/>
          </a:bodyPr>
          <a:lstStyle/>
          <a:p>
            <a:fld id="{3DAF9783-BC0E-C649-838D-61F838C67253}" type="slidenum">
              <a:rPr lang="en-US" smtClean="0"/>
              <a:t>34</a:t>
            </a:fld>
            <a:endParaRPr lang="en-US"/>
          </a:p>
        </p:txBody>
      </p:sp>
      <p:sp>
        <p:nvSpPr>
          <p:cNvPr id="5" name="Title 1">
            <a:extLst>
              <a:ext uri="{FF2B5EF4-FFF2-40B4-BE49-F238E27FC236}">
                <a16:creationId xmlns:a16="http://schemas.microsoft.com/office/drawing/2014/main" id="{3AC41146-1857-1400-EE30-AE66F64DCE11}"/>
              </a:ext>
            </a:extLst>
          </p:cNvPr>
          <p:cNvSpPr txBox="1">
            <a:spLocks/>
          </p:cNvSpPr>
          <p:nvPr/>
        </p:nvSpPr>
        <p:spPr>
          <a:xfrm>
            <a:off x="609600" y="272077"/>
            <a:ext cx="10439400" cy="6248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r>
              <a:rPr lang="en-US" sz="3600" dirty="0">
                <a:cs typeface="Times New Roman" panose="02020603050405020304" pitchFamily="18" charset="0"/>
              </a:rPr>
              <a:t>What about behavioral economics of patient choices?</a:t>
            </a:r>
          </a:p>
        </p:txBody>
      </p:sp>
    </p:spTree>
    <p:extLst>
      <p:ext uri="{BB962C8B-B14F-4D97-AF65-F5344CB8AC3E}">
        <p14:creationId xmlns:p14="http://schemas.microsoft.com/office/powerpoint/2010/main" val="21055714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EC6F70C7-D1A3-6A09-3527-BA12DDE3D158}"/>
              </a:ext>
            </a:extLst>
          </p:cNvPr>
          <p:cNvPicPr>
            <a:picLocks noGrp="1" noChangeAspect="1"/>
          </p:cNvPicPr>
          <p:nvPr>
            <p:ph idx="1"/>
          </p:nvPr>
        </p:nvPicPr>
        <p:blipFill>
          <a:blip r:embed="rId3"/>
          <a:stretch>
            <a:fillRect/>
          </a:stretch>
        </p:blipFill>
        <p:spPr>
          <a:xfrm>
            <a:off x="2209800" y="881259"/>
            <a:ext cx="7227802" cy="5916122"/>
          </a:xfrm>
        </p:spPr>
      </p:pic>
      <p:sp>
        <p:nvSpPr>
          <p:cNvPr id="4" name="Slide Number Placeholder 3"/>
          <p:cNvSpPr>
            <a:spLocks noGrp="1"/>
          </p:cNvSpPr>
          <p:nvPr>
            <p:ph type="sldNum" sz="quarter" idx="12"/>
          </p:nvPr>
        </p:nvSpPr>
        <p:spPr/>
        <p:txBody>
          <a:bodyPr>
            <a:normAutofit lnSpcReduction="10000"/>
          </a:bodyPr>
          <a:lstStyle/>
          <a:p>
            <a:fld id="{3DAF9783-BC0E-C649-838D-61F838C67253}" type="slidenum">
              <a:rPr lang="en-US" smtClean="0"/>
              <a:t>35</a:t>
            </a:fld>
            <a:endParaRPr lang="en-US"/>
          </a:p>
        </p:txBody>
      </p:sp>
      <p:sp>
        <p:nvSpPr>
          <p:cNvPr id="5" name="Title 1">
            <a:extLst>
              <a:ext uri="{FF2B5EF4-FFF2-40B4-BE49-F238E27FC236}">
                <a16:creationId xmlns:a16="http://schemas.microsoft.com/office/drawing/2014/main" id="{3AC41146-1857-1400-EE30-AE66F64DCE11}"/>
              </a:ext>
            </a:extLst>
          </p:cNvPr>
          <p:cNvSpPr txBox="1">
            <a:spLocks/>
          </p:cNvSpPr>
          <p:nvPr/>
        </p:nvSpPr>
        <p:spPr>
          <a:xfrm>
            <a:off x="609600" y="272077"/>
            <a:ext cx="10439400" cy="6248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r>
              <a:rPr lang="en-US" sz="3600" dirty="0">
                <a:cs typeface="Times New Roman" panose="02020603050405020304" pitchFamily="18" charset="0"/>
              </a:rPr>
              <a:t>Behavioral Hazard: Under-utilization</a:t>
            </a:r>
          </a:p>
        </p:txBody>
      </p:sp>
    </p:spTree>
    <p:extLst>
      <p:ext uri="{BB962C8B-B14F-4D97-AF65-F5344CB8AC3E}">
        <p14:creationId xmlns:p14="http://schemas.microsoft.com/office/powerpoint/2010/main" val="8771692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normAutofit lnSpcReduction="10000"/>
          </a:bodyPr>
          <a:lstStyle/>
          <a:p>
            <a:fld id="{3DAF9783-BC0E-C649-838D-61F838C67253}" type="slidenum">
              <a:rPr lang="en-US" smtClean="0"/>
              <a:t>36</a:t>
            </a:fld>
            <a:endParaRPr lang="en-US"/>
          </a:p>
        </p:txBody>
      </p:sp>
      <p:sp>
        <p:nvSpPr>
          <p:cNvPr id="5" name="Title 1">
            <a:extLst>
              <a:ext uri="{FF2B5EF4-FFF2-40B4-BE49-F238E27FC236}">
                <a16:creationId xmlns:a16="http://schemas.microsoft.com/office/drawing/2014/main" id="{3AC41146-1857-1400-EE30-AE66F64DCE11}"/>
              </a:ext>
            </a:extLst>
          </p:cNvPr>
          <p:cNvSpPr txBox="1">
            <a:spLocks/>
          </p:cNvSpPr>
          <p:nvPr/>
        </p:nvSpPr>
        <p:spPr>
          <a:xfrm>
            <a:off x="609600" y="272077"/>
            <a:ext cx="10439400" cy="6248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r>
              <a:rPr lang="en-US" sz="3600" dirty="0">
                <a:cs typeface="Times New Roman" panose="02020603050405020304" pitchFamily="18" charset="0"/>
              </a:rPr>
              <a:t>Behavioral Hazard: Over-utilization</a:t>
            </a:r>
          </a:p>
        </p:txBody>
      </p:sp>
      <p:sp>
        <p:nvSpPr>
          <p:cNvPr id="3" name="Content Placeholder 2">
            <a:extLst>
              <a:ext uri="{FF2B5EF4-FFF2-40B4-BE49-F238E27FC236}">
                <a16:creationId xmlns:a16="http://schemas.microsoft.com/office/drawing/2014/main" id="{46961F7F-3C5C-23ED-DAAD-C22498C3DDCC}"/>
              </a:ext>
            </a:extLst>
          </p:cNvPr>
          <p:cNvSpPr>
            <a:spLocks noGrp="1"/>
          </p:cNvSpPr>
          <p:nvPr>
            <p:ph idx="1"/>
          </p:nvPr>
        </p:nvSpPr>
        <p:spPr/>
        <p:txBody>
          <a:bodyPr/>
          <a:lstStyle/>
          <a:p>
            <a:endParaRPr lang="en-US"/>
          </a:p>
        </p:txBody>
      </p:sp>
      <p:pic>
        <p:nvPicPr>
          <p:cNvPr id="8" name="Picture 7">
            <a:extLst>
              <a:ext uri="{FF2B5EF4-FFF2-40B4-BE49-F238E27FC236}">
                <a16:creationId xmlns:a16="http://schemas.microsoft.com/office/drawing/2014/main" id="{AB86ECFF-927A-67E9-7B8B-9A73CABE124D}"/>
              </a:ext>
            </a:extLst>
          </p:cNvPr>
          <p:cNvPicPr>
            <a:picLocks noChangeAspect="1"/>
          </p:cNvPicPr>
          <p:nvPr/>
        </p:nvPicPr>
        <p:blipFill>
          <a:blip r:embed="rId3"/>
          <a:stretch>
            <a:fillRect/>
          </a:stretch>
        </p:blipFill>
        <p:spPr>
          <a:xfrm>
            <a:off x="1905000" y="1143606"/>
            <a:ext cx="7162800" cy="5622319"/>
          </a:xfrm>
          <a:prstGeom prst="rect">
            <a:avLst/>
          </a:prstGeom>
        </p:spPr>
      </p:pic>
    </p:spTree>
    <p:extLst>
      <p:ext uri="{BB962C8B-B14F-4D97-AF65-F5344CB8AC3E}">
        <p14:creationId xmlns:p14="http://schemas.microsoft.com/office/powerpoint/2010/main" val="42464308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normAutofit lnSpcReduction="10000"/>
          </a:bodyPr>
          <a:lstStyle/>
          <a:p>
            <a:fld id="{3DAF9783-BC0E-C649-838D-61F838C67253}" type="slidenum">
              <a:rPr lang="en-US" smtClean="0"/>
              <a:t>37</a:t>
            </a:fld>
            <a:endParaRPr lang="en-US"/>
          </a:p>
        </p:txBody>
      </p:sp>
      <p:sp>
        <p:nvSpPr>
          <p:cNvPr id="5" name="Title 1">
            <a:extLst>
              <a:ext uri="{FF2B5EF4-FFF2-40B4-BE49-F238E27FC236}">
                <a16:creationId xmlns:a16="http://schemas.microsoft.com/office/drawing/2014/main" id="{3AC41146-1857-1400-EE30-AE66F64DCE11}"/>
              </a:ext>
            </a:extLst>
          </p:cNvPr>
          <p:cNvSpPr txBox="1">
            <a:spLocks/>
          </p:cNvSpPr>
          <p:nvPr/>
        </p:nvSpPr>
        <p:spPr>
          <a:xfrm>
            <a:off x="609600" y="272077"/>
            <a:ext cx="10439400" cy="6248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r>
              <a:rPr lang="en-US" sz="3600" dirty="0">
                <a:cs typeface="Times New Roman" panose="02020603050405020304" pitchFamily="18" charset="0"/>
              </a:rPr>
              <a:t>Behavioral Hazard Summarized</a:t>
            </a:r>
          </a:p>
        </p:txBody>
      </p:sp>
      <p:sp>
        <p:nvSpPr>
          <p:cNvPr id="3" name="Content Placeholder 2">
            <a:extLst>
              <a:ext uri="{FF2B5EF4-FFF2-40B4-BE49-F238E27FC236}">
                <a16:creationId xmlns:a16="http://schemas.microsoft.com/office/drawing/2014/main" id="{46961F7F-3C5C-23ED-DAAD-C22498C3DDCC}"/>
              </a:ext>
            </a:extLst>
          </p:cNvPr>
          <p:cNvSpPr>
            <a:spLocks noGrp="1"/>
          </p:cNvSpPr>
          <p:nvPr>
            <p:ph idx="1"/>
          </p:nvPr>
        </p:nvSpPr>
        <p:spPr/>
        <p:txBody>
          <a:bodyPr/>
          <a:lstStyle/>
          <a:p>
            <a:endParaRPr lang="en-US"/>
          </a:p>
        </p:txBody>
      </p:sp>
      <p:pic>
        <p:nvPicPr>
          <p:cNvPr id="6" name="Picture 5">
            <a:extLst>
              <a:ext uri="{FF2B5EF4-FFF2-40B4-BE49-F238E27FC236}">
                <a16:creationId xmlns:a16="http://schemas.microsoft.com/office/drawing/2014/main" id="{3C12B70F-17BB-4200-AA4F-5DE750D27A13}"/>
              </a:ext>
            </a:extLst>
          </p:cNvPr>
          <p:cNvPicPr>
            <a:picLocks noChangeAspect="1"/>
          </p:cNvPicPr>
          <p:nvPr/>
        </p:nvPicPr>
        <p:blipFill>
          <a:blip r:embed="rId3"/>
          <a:stretch>
            <a:fillRect/>
          </a:stretch>
        </p:blipFill>
        <p:spPr>
          <a:xfrm>
            <a:off x="685800" y="762000"/>
            <a:ext cx="6400800" cy="6139898"/>
          </a:xfrm>
          <a:prstGeom prst="rect">
            <a:avLst/>
          </a:prstGeom>
        </p:spPr>
      </p:pic>
    </p:spTree>
    <p:extLst>
      <p:ext uri="{BB962C8B-B14F-4D97-AF65-F5344CB8AC3E}">
        <p14:creationId xmlns:p14="http://schemas.microsoft.com/office/powerpoint/2010/main" val="35949055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AC41146-1857-1400-EE30-AE66F64DCE11}"/>
              </a:ext>
            </a:extLst>
          </p:cNvPr>
          <p:cNvSpPr txBox="1">
            <a:spLocks/>
          </p:cNvSpPr>
          <p:nvPr/>
        </p:nvSpPr>
        <p:spPr>
          <a:xfrm>
            <a:off x="609600" y="272077"/>
            <a:ext cx="10439400" cy="6248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r>
              <a:rPr lang="en-US" sz="3600" dirty="0">
                <a:cs typeface="Times New Roman" panose="02020603050405020304" pitchFamily="18" charset="0"/>
              </a:rPr>
              <a:t>Behavioral Hazard Summarized</a:t>
            </a:r>
          </a:p>
        </p:txBody>
      </p:sp>
      <p:pic>
        <p:nvPicPr>
          <p:cNvPr id="7" name="Picture 6">
            <a:extLst>
              <a:ext uri="{FF2B5EF4-FFF2-40B4-BE49-F238E27FC236}">
                <a16:creationId xmlns:a16="http://schemas.microsoft.com/office/drawing/2014/main" id="{5159E0C4-2B4E-A61F-1ABE-E1947BE48B0F}"/>
              </a:ext>
            </a:extLst>
          </p:cNvPr>
          <p:cNvPicPr>
            <a:picLocks noChangeAspect="1"/>
          </p:cNvPicPr>
          <p:nvPr/>
        </p:nvPicPr>
        <p:blipFill>
          <a:blip r:embed="rId3"/>
          <a:stretch>
            <a:fillRect/>
          </a:stretch>
        </p:blipFill>
        <p:spPr>
          <a:xfrm>
            <a:off x="304800" y="934495"/>
            <a:ext cx="7162800" cy="5695629"/>
          </a:xfrm>
          <a:prstGeom prst="rect">
            <a:avLst/>
          </a:prstGeom>
        </p:spPr>
      </p:pic>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6961F7F-3C5C-23ED-DAAD-C22498C3DDCC}"/>
                  </a:ext>
                </a:extLst>
              </p:cNvPr>
              <p:cNvSpPr>
                <a:spLocks noGrp="1"/>
              </p:cNvSpPr>
              <p:nvPr>
                <p:ph idx="1"/>
              </p:nvPr>
            </p:nvSpPr>
            <p:spPr>
              <a:xfrm>
                <a:off x="6858000" y="484508"/>
                <a:ext cx="4267200" cy="5992492"/>
              </a:xfrm>
            </p:spPr>
            <p:txBody>
              <a:bodyPr>
                <a:normAutofit/>
              </a:bodyPr>
              <a:lstStyle/>
              <a:p>
                <a:pPr marL="0" indent="0">
                  <a:buNone/>
                </a:pPr>
                <a:r>
                  <a:rPr lang="en-US" sz="2400" dirty="0"/>
                  <a:t>With behavioral hazard: </a:t>
                </a:r>
              </a:p>
              <a:p>
                <a:pPr marL="457200" indent="-457200">
                  <a:buFont typeface="+mj-lt"/>
                  <a:buAutoNum type="arabicPeriod"/>
                </a:pPr>
                <a:r>
                  <a:rPr lang="en-US" sz="2400" dirty="0"/>
                  <a:t>The marginal patient doesn’t value treatment at copay (</a:t>
                </a:r>
                <a14:m>
                  <m:oMath xmlns:m="http://schemas.openxmlformats.org/officeDocument/2006/math">
                    <m:r>
                      <a:rPr lang="en-US" sz="2400" b="0" i="1" smtClean="0">
                        <a:latin typeface="Cambria Math" panose="02040503050406030204" pitchFamily="18" charset="0"/>
                      </a:rPr>
                      <m:t>𝑀𝐵</m:t>
                    </m:r>
                    <m:r>
                      <a:rPr lang="en-US" sz="2400" b="0" i="1" smtClean="0">
                        <a:latin typeface="Cambria Math" panose="02040503050406030204" pitchFamily="18" charset="0"/>
                      </a:rPr>
                      <m:t>≠</m:t>
                    </m:r>
                    <m:r>
                      <a:rPr lang="en-US" sz="2400" b="0" i="1" smtClean="0">
                        <a:latin typeface="Cambria Math" panose="02040503050406030204" pitchFamily="18" charset="0"/>
                      </a:rPr>
                      <m:t>𝑀𝐶</m:t>
                    </m:r>
                    <m:r>
                      <a:rPr lang="en-US" sz="2400" b="0" i="1" smtClean="0">
                        <a:latin typeface="Cambria Math" panose="02040503050406030204" pitchFamily="18" charset="0"/>
                      </a:rPr>
                      <m:t>)</m:t>
                    </m:r>
                  </m:oMath>
                </a14:m>
                <a:endParaRPr lang="en-US" sz="2400" dirty="0"/>
              </a:p>
              <a:p>
                <a:pPr marL="457200" indent="-457200">
                  <a:buFont typeface="+mj-lt"/>
                  <a:buAutoNum type="arabicPeriod"/>
                </a:pPr>
                <a:r>
                  <a:rPr lang="en-US" sz="2400" dirty="0"/>
                  <a:t>Demand responses are not just made up of moral hazard responses</a:t>
                </a:r>
              </a:p>
              <a:p>
                <a:pPr marL="457200" indent="-457200">
                  <a:buFont typeface="+mj-lt"/>
                  <a:buAutoNum type="arabicPeriod"/>
                </a:pPr>
                <a:r>
                  <a:rPr lang="en-US" sz="2400" dirty="0"/>
                  <a:t>Measuring health responses characterizes who is at the margin. </a:t>
                </a:r>
              </a:p>
            </p:txBody>
          </p:sp>
        </mc:Choice>
        <mc:Fallback xmlns="">
          <p:sp>
            <p:nvSpPr>
              <p:cNvPr id="3" name="Content Placeholder 2">
                <a:extLst>
                  <a:ext uri="{FF2B5EF4-FFF2-40B4-BE49-F238E27FC236}">
                    <a16:creationId xmlns:a16="http://schemas.microsoft.com/office/drawing/2014/main" id="{46961F7F-3C5C-23ED-DAAD-C22498C3DDCC}"/>
                  </a:ext>
                </a:extLst>
              </p:cNvPr>
              <p:cNvSpPr>
                <a:spLocks noGrp="1" noRot="1" noChangeAspect="1" noMove="1" noResize="1" noEditPoints="1" noAdjustHandles="1" noChangeArrowheads="1" noChangeShapeType="1" noTextEdit="1"/>
              </p:cNvSpPr>
              <p:nvPr>
                <p:ph idx="1"/>
              </p:nvPr>
            </p:nvSpPr>
            <p:spPr>
              <a:xfrm>
                <a:off x="6858000" y="484508"/>
                <a:ext cx="4267200" cy="5992492"/>
              </a:xfrm>
              <a:blipFill>
                <a:blip r:embed="rId4"/>
                <a:stretch>
                  <a:fillRect l="-2143" t="-1118" r="-3143"/>
                </a:stretch>
              </a:blipFill>
            </p:spPr>
            <p:txBody>
              <a:bodyPr/>
              <a:lstStyle/>
              <a:p>
                <a:r>
                  <a:rPr lang="en-US">
                    <a:noFill/>
                  </a:rPr>
                  <a:t> </a:t>
                </a:r>
              </a:p>
            </p:txBody>
          </p:sp>
        </mc:Fallback>
      </mc:AlternateContent>
    </p:spTree>
    <p:extLst>
      <p:ext uri="{BB962C8B-B14F-4D97-AF65-F5344CB8AC3E}">
        <p14:creationId xmlns:p14="http://schemas.microsoft.com/office/powerpoint/2010/main" val="7229028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959A64B-5C9A-4A9B-BA45-ADECED2E51D9}"/>
              </a:ext>
            </a:extLst>
          </p:cNvPr>
          <p:cNvSpPr>
            <a:spLocks noGrp="1"/>
          </p:cNvSpPr>
          <p:nvPr>
            <p:ph type="ctrTitle"/>
          </p:nvPr>
        </p:nvSpPr>
        <p:spPr>
          <a:xfrm>
            <a:off x="1261872" y="758952"/>
            <a:ext cx="10625328" cy="4041648"/>
          </a:xfrm>
        </p:spPr>
        <p:txBody>
          <a:bodyPr>
            <a:noAutofit/>
          </a:bodyPr>
          <a:lstStyle/>
          <a:p>
            <a:r>
              <a:rPr lang="en-US" sz="5400" dirty="0"/>
              <a:t>When Incentives Aren't Enough: Evidence on Inattention and Imperfect Memory from HIV Medication Adherence</a:t>
            </a:r>
          </a:p>
        </p:txBody>
      </p:sp>
      <p:sp>
        <p:nvSpPr>
          <p:cNvPr id="5" name="Subtitle 4">
            <a:extLst>
              <a:ext uri="{FF2B5EF4-FFF2-40B4-BE49-F238E27FC236}">
                <a16:creationId xmlns:a16="http://schemas.microsoft.com/office/drawing/2014/main" id="{D52D9252-3DD8-4D35-8070-32332FBE25E4}"/>
              </a:ext>
            </a:extLst>
          </p:cNvPr>
          <p:cNvSpPr>
            <a:spLocks noGrp="1"/>
          </p:cNvSpPr>
          <p:nvPr>
            <p:ph type="subTitle" idx="1"/>
          </p:nvPr>
        </p:nvSpPr>
        <p:spPr/>
        <p:txBody>
          <a:bodyPr/>
          <a:lstStyle/>
          <a:p>
            <a:r>
              <a:rPr lang="en-US" dirty="0"/>
              <a:t>Hang Yu ⓡ Jared </a:t>
            </a:r>
            <a:r>
              <a:rPr lang="en-US" dirty="0" err="1"/>
              <a:t>Stolove</a:t>
            </a:r>
            <a:r>
              <a:rPr lang="en-US" dirty="0"/>
              <a:t> ⓡ Dean Yang ⓡ James Riddell IV ⓡ Arlete </a:t>
            </a:r>
            <a:r>
              <a:rPr lang="en-US" dirty="0" err="1"/>
              <a:t>Mahumane</a:t>
            </a:r>
            <a:endParaRPr lang="en-US" dirty="0"/>
          </a:p>
        </p:txBody>
      </p:sp>
    </p:spTree>
    <p:extLst>
      <p:ext uri="{BB962C8B-B14F-4D97-AF65-F5344CB8AC3E}">
        <p14:creationId xmlns:p14="http://schemas.microsoft.com/office/powerpoint/2010/main" val="19059637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2B1D3B-A971-8366-6C5C-452851E4062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3349E8-0E40-D312-E5FD-49C2F558BD84}"/>
              </a:ext>
            </a:extLst>
          </p:cNvPr>
          <p:cNvSpPr>
            <a:spLocks noGrp="1"/>
          </p:cNvSpPr>
          <p:nvPr>
            <p:ph idx="1"/>
          </p:nvPr>
        </p:nvSpPr>
        <p:spPr>
          <a:xfrm>
            <a:off x="609600" y="896918"/>
            <a:ext cx="10439400" cy="5283220"/>
          </a:xfrm>
        </p:spPr>
        <p:txBody>
          <a:bodyPr>
            <a:noAutofit/>
          </a:bodyPr>
          <a:lstStyle/>
          <a:p>
            <a:pPr lvl="1"/>
            <a:r>
              <a:rPr lang="en-US" sz="2400" dirty="0">
                <a:solidFill>
                  <a:schemeClr val="tx1"/>
                </a:solidFill>
                <a:cs typeface="Times New Roman" panose="02020603050405020304" pitchFamily="18" charset="0"/>
              </a:rPr>
              <a:t>A common question, answer is sometimes yes!</a:t>
            </a:r>
          </a:p>
          <a:p>
            <a:pPr lvl="1"/>
            <a:r>
              <a:rPr lang="en-US" sz="2400" dirty="0">
                <a:solidFill>
                  <a:schemeClr val="tx1"/>
                </a:solidFill>
                <a:cs typeface="Times New Roman" panose="02020603050405020304" pitchFamily="18" charset="0"/>
              </a:rPr>
              <a:t>These authors investigate it in the context of HIV medication adherence in Mozambique (why Mozambique?)</a:t>
            </a:r>
          </a:p>
          <a:p>
            <a:pPr lvl="1"/>
            <a:r>
              <a:rPr lang="en-US" sz="2400" dirty="0">
                <a:solidFill>
                  <a:schemeClr val="tx1"/>
                </a:solidFill>
                <a:cs typeface="Times New Roman" panose="02020603050405020304" pitchFamily="18" charset="0"/>
              </a:rPr>
              <a:t>What are the behaviors they’re testing for? </a:t>
            </a:r>
          </a:p>
          <a:p>
            <a:pPr lvl="1"/>
            <a:endParaRPr lang="en-US" sz="2400" dirty="0">
              <a:solidFill>
                <a:schemeClr val="tx1"/>
              </a:solidFill>
              <a:cs typeface="Times New Roman" panose="02020603050405020304" pitchFamily="18" charset="0"/>
            </a:endParaRPr>
          </a:p>
          <a:p>
            <a:pPr lvl="1"/>
            <a:endParaRPr lang="en-US" sz="2400" dirty="0">
              <a:solidFill>
                <a:schemeClr val="tx1"/>
              </a:solidFill>
              <a:cs typeface="Times New Roman" panose="02020603050405020304" pitchFamily="18" charset="0"/>
            </a:endParaRPr>
          </a:p>
        </p:txBody>
      </p:sp>
      <p:sp>
        <p:nvSpPr>
          <p:cNvPr id="5" name="Title 1">
            <a:extLst>
              <a:ext uri="{FF2B5EF4-FFF2-40B4-BE49-F238E27FC236}">
                <a16:creationId xmlns:a16="http://schemas.microsoft.com/office/drawing/2014/main" id="{324DD098-EE79-97C6-B232-A2560AC442B5}"/>
              </a:ext>
            </a:extLst>
          </p:cNvPr>
          <p:cNvSpPr txBox="1">
            <a:spLocks/>
          </p:cNvSpPr>
          <p:nvPr/>
        </p:nvSpPr>
        <p:spPr>
          <a:xfrm>
            <a:off x="609600" y="272077"/>
            <a:ext cx="10439400" cy="6248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r>
              <a:rPr lang="en-US" sz="3600" dirty="0">
                <a:cs typeface="Times New Roman" panose="02020603050405020304" pitchFamily="18" charset="0"/>
              </a:rPr>
              <a:t>Can we pay people to make better choices? </a:t>
            </a:r>
          </a:p>
        </p:txBody>
      </p:sp>
    </p:spTree>
    <p:extLst>
      <p:ext uri="{BB962C8B-B14F-4D97-AF65-F5344CB8AC3E}">
        <p14:creationId xmlns:p14="http://schemas.microsoft.com/office/powerpoint/2010/main" val="21273561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A1572-E40C-9362-FC51-BF77B06173A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D94FE0-6E3D-F8D8-1B7D-EB0D0205A4DE}"/>
              </a:ext>
            </a:extLst>
          </p:cNvPr>
          <p:cNvSpPr>
            <a:spLocks noGrp="1"/>
          </p:cNvSpPr>
          <p:nvPr>
            <p:ph idx="1"/>
          </p:nvPr>
        </p:nvSpPr>
        <p:spPr>
          <a:xfrm>
            <a:off x="609600" y="896918"/>
            <a:ext cx="10439400" cy="5283220"/>
          </a:xfrm>
        </p:spPr>
        <p:txBody>
          <a:bodyPr>
            <a:noAutofit/>
          </a:bodyPr>
          <a:lstStyle/>
          <a:p>
            <a:pPr marL="274320" lvl="1" indent="0">
              <a:buNone/>
            </a:pPr>
            <a:r>
              <a:rPr lang="en-US" sz="2400" dirty="0">
                <a:solidFill>
                  <a:schemeClr val="tx1"/>
                </a:solidFill>
                <a:cs typeface="Times New Roman" panose="02020603050405020304" pitchFamily="18" charset="0"/>
              </a:rPr>
              <a:t>Randomly assign 800 patients to receive</a:t>
            </a:r>
          </a:p>
          <a:p>
            <a:pPr marL="731520" lvl="1" indent="-457200">
              <a:buFont typeface="+mj-lt"/>
              <a:buAutoNum type="arabicPeriod"/>
            </a:pPr>
            <a:r>
              <a:rPr lang="en-US" sz="2400" dirty="0">
                <a:solidFill>
                  <a:schemeClr val="tx1"/>
                </a:solidFill>
                <a:cs typeface="Times New Roman" panose="02020603050405020304" pitchFamily="18" charset="0"/>
              </a:rPr>
              <a:t>Financial incentives for timely refills</a:t>
            </a:r>
          </a:p>
          <a:p>
            <a:pPr marL="731520" lvl="1" indent="-457200">
              <a:buFont typeface="+mj-lt"/>
              <a:buAutoNum type="arabicPeriod"/>
            </a:pPr>
            <a:r>
              <a:rPr lang="en-US" sz="2400" dirty="0">
                <a:solidFill>
                  <a:schemeClr val="tx1"/>
                </a:solidFill>
                <a:cs typeface="Times New Roman" panose="02020603050405020304" pitchFamily="18" charset="0"/>
              </a:rPr>
              <a:t>Reminder phone calls</a:t>
            </a:r>
          </a:p>
          <a:p>
            <a:pPr marL="731520" lvl="1" indent="-457200">
              <a:buFont typeface="+mj-lt"/>
              <a:buAutoNum type="arabicPeriod"/>
            </a:pPr>
            <a:r>
              <a:rPr lang="en-US" sz="2400" dirty="0">
                <a:solidFill>
                  <a:schemeClr val="tx1"/>
                </a:solidFill>
                <a:cs typeface="Times New Roman" panose="02020603050405020304" pitchFamily="18" charset="0"/>
              </a:rPr>
              <a:t>Both </a:t>
            </a:r>
          </a:p>
          <a:p>
            <a:pPr marL="731520" lvl="1" indent="-457200">
              <a:buFont typeface="+mj-lt"/>
              <a:buAutoNum type="arabicPeriod"/>
            </a:pPr>
            <a:r>
              <a:rPr lang="en-US" sz="2400" dirty="0">
                <a:solidFill>
                  <a:schemeClr val="tx1"/>
                </a:solidFill>
                <a:cs typeface="Times New Roman" panose="02020603050405020304" pitchFamily="18" charset="0"/>
              </a:rPr>
              <a:t>Neither </a:t>
            </a:r>
          </a:p>
          <a:p>
            <a:pPr marL="731520" lvl="1" indent="-457200">
              <a:buFont typeface="+mj-lt"/>
              <a:buAutoNum type="arabicPeriod"/>
            </a:pPr>
            <a:endParaRPr lang="en-US" sz="2400" dirty="0">
              <a:solidFill>
                <a:schemeClr val="tx1"/>
              </a:solidFill>
              <a:cs typeface="Times New Roman" panose="02020603050405020304" pitchFamily="18" charset="0"/>
            </a:endParaRPr>
          </a:p>
          <a:p>
            <a:pPr marL="274320" lvl="1" indent="0">
              <a:buNone/>
            </a:pPr>
            <a:r>
              <a:rPr lang="en-US" sz="2400" dirty="0">
                <a:solidFill>
                  <a:schemeClr val="tx1"/>
                </a:solidFill>
                <a:cs typeface="Times New Roman" panose="02020603050405020304" pitchFamily="18" charset="0"/>
              </a:rPr>
              <a:t>What does this design get you? </a:t>
            </a:r>
          </a:p>
        </p:txBody>
      </p:sp>
      <p:sp>
        <p:nvSpPr>
          <p:cNvPr id="5" name="Title 1">
            <a:extLst>
              <a:ext uri="{FF2B5EF4-FFF2-40B4-BE49-F238E27FC236}">
                <a16:creationId xmlns:a16="http://schemas.microsoft.com/office/drawing/2014/main" id="{B51E4E14-A45B-EB1C-D5CC-B6F6E6B7F608}"/>
              </a:ext>
            </a:extLst>
          </p:cNvPr>
          <p:cNvSpPr txBox="1">
            <a:spLocks/>
          </p:cNvSpPr>
          <p:nvPr/>
        </p:nvSpPr>
        <p:spPr>
          <a:xfrm>
            <a:off x="609600" y="272077"/>
            <a:ext cx="10439400" cy="6248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r>
              <a:rPr lang="en-US" sz="3600" dirty="0">
                <a:cs typeface="Times New Roman" panose="02020603050405020304" pitchFamily="18" charset="0"/>
              </a:rPr>
              <a:t>Research Design</a:t>
            </a:r>
          </a:p>
        </p:txBody>
      </p:sp>
      <p:pic>
        <p:nvPicPr>
          <p:cNvPr id="4" name="Picture 3">
            <a:extLst>
              <a:ext uri="{FF2B5EF4-FFF2-40B4-BE49-F238E27FC236}">
                <a16:creationId xmlns:a16="http://schemas.microsoft.com/office/drawing/2014/main" id="{9C63F4B0-50B9-56DA-AA68-5BEF8057C38B}"/>
              </a:ext>
            </a:extLst>
          </p:cNvPr>
          <p:cNvPicPr>
            <a:picLocks noChangeAspect="1"/>
          </p:cNvPicPr>
          <p:nvPr/>
        </p:nvPicPr>
        <p:blipFill>
          <a:blip r:embed="rId3"/>
          <a:stretch>
            <a:fillRect/>
          </a:stretch>
        </p:blipFill>
        <p:spPr>
          <a:xfrm>
            <a:off x="4876800" y="3166115"/>
            <a:ext cx="7154103" cy="3691885"/>
          </a:xfrm>
          <a:prstGeom prst="rect">
            <a:avLst/>
          </a:prstGeom>
        </p:spPr>
      </p:pic>
    </p:spTree>
    <p:extLst>
      <p:ext uri="{BB962C8B-B14F-4D97-AF65-F5344CB8AC3E}">
        <p14:creationId xmlns:p14="http://schemas.microsoft.com/office/powerpoint/2010/main" val="30144888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186E0D-B159-F445-CE44-3EE71094DE3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6C8885-8968-2B37-61BA-974D6039C77B}"/>
              </a:ext>
            </a:extLst>
          </p:cNvPr>
          <p:cNvSpPr>
            <a:spLocks noGrp="1"/>
          </p:cNvSpPr>
          <p:nvPr>
            <p:ph idx="1"/>
          </p:nvPr>
        </p:nvSpPr>
        <p:spPr>
          <a:xfrm>
            <a:off x="609600" y="896918"/>
            <a:ext cx="10439400" cy="5283220"/>
          </a:xfrm>
        </p:spPr>
        <p:txBody>
          <a:bodyPr>
            <a:noAutofit/>
          </a:bodyPr>
          <a:lstStyle/>
          <a:p>
            <a:pPr marL="274320" lvl="1" indent="0">
              <a:buNone/>
            </a:pPr>
            <a:r>
              <a:rPr lang="en-US" sz="2400" dirty="0">
                <a:solidFill>
                  <a:schemeClr val="tx1"/>
                </a:solidFill>
                <a:cs typeface="Times New Roman" panose="02020603050405020304" pitchFamily="18" charset="0"/>
              </a:rPr>
              <a:t>Do you find these arguments convincing? Why or why not?</a:t>
            </a:r>
          </a:p>
          <a:p>
            <a:pPr lvl="1"/>
            <a:r>
              <a:rPr lang="en-US" sz="2400" dirty="0">
                <a:solidFill>
                  <a:schemeClr val="tx1"/>
                </a:solidFill>
                <a:cs typeface="Times New Roman" panose="02020603050405020304" pitchFamily="18" charset="0"/>
              </a:rPr>
              <a:t>“The stakes are high: imperfect adherence worsens health outcomes, increases transmission, and promotes drug resistance.”</a:t>
            </a:r>
          </a:p>
          <a:p>
            <a:pPr lvl="1"/>
            <a:r>
              <a:rPr lang="en-US" sz="2400" dirty="0">
                <a:solidFill>
                  <a:schemeClr val="tx1"/>
                </a:solidFill>
                <a:cs typeface="Times New Roman" panose="02020603050405020304" pitchFamily="18" charset="0"/>
              </a:rPr>
              <a:t>“The behavior is precisely measurable through pharmacy refill records, avoiding self-reporting biases.”</a:t>
            </a:r>
          </a:p>
          <a:p>
            <a:pPr lvl="1"/>
            <a:r>
              <a:rPr lang="en-US" sz="2400" dirty="0">
                <a:solidFill>
                  <a:schemeClr val="tx1"/>
                </a:solidFill>
                <a:cs typeface="Times New Roman" panose="02020603050405020304" pitchFamily="18" charset="0"/>
              </a:rPr>
              <a:t> “Adherence requires both daily pill-taking (where inattention matters) and timely refills at 30-day intervals (where memory of due dates matters).”</a:t>
            </a:r>
          </a:p>
          <a:p>
            <a:pPr lvl="1"/>
            <a:r>
              <a:rPr lang="en-US" sz="2400" dirty="0">
                <a:solidFill>
                  <a:schemeClr val="tx1"/>
                </a:solidFill>
                <a:cs typeface="Times New Roman" panose="02020603050405020304" pitchFamily="18" charset="0"/>
              </a:rPr>
              <a:t>“Despite widespread availability of free ART in Mozambique, adherence rates remain low– only 23% of our control group achieved the recommended 95% threshold.”</a:t>
            </a:r>
          </a:p>
        </p:txBody>
      </p:sp>
      <p:sp>
        <p:nvSpPr>
          <p:cNvPr id="5" name="Title 1">
            <a:extLst>
              <a:ext uri="{FF2B5EF4-FFF2-40B4-BE49-F238E27FC236}">
                <a16:creationId xmlns:a16="http://schemas.microsoft.com/office/drawing/2014/main" id="{E810C1DF-A50B-02D6-4C88-552591149902}"/>
              </a:ext>
            </a:extLst>
          </p:cNvPr>
          <p:cNvSpPr txBox="1">
            <a:spLocks/>
          </p:cNvSpPr>
          <p:nvPr/>
        </p:nvSpPr>
        <p:spPr>
          <a:xfrm>
            <a:off x="609600" y="272077"/>
            <a:ext cx="10439400" cy="6248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r>
              <a:rPr lang="en-US" sz="3600" dirty="0">
                <a:cs typeface="Times New Roman" panose="02020603050405020304" pitchFamily="18" charset="0"/>
              </a:rPr>
              <a:t>Setting</a:t>
            </a:r>
          </a:p>
        </p:txBody>
      </p:sp>
    </p:spTree>
    <p:extLst>
      <p:ext uri="{BB962C8B-B14F-4D97-AF65-F5344CB8AC3E}">
        <p14:creationId xmlns:p14="http://schemas.microsoft.com/office/powerpoint/2010/main" val="270942853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EA0D7-C924-7B01-7423-16CAD04347E9}"/>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C0A8B07-46E0-86B2-800E-4009ADB4DF91}"/>
              </a:ext>
            </a:extLst>
          </p:cNvPr>
          <p:cNvPicPr>
            <a:picLocks noGrp="1" noChangeAspect="1"/>
          </p:cNvPicPr>
          <p:nvPr>
            <p:ph idx="1"/>
          </p:nvPr>
        </p:nvPicPr>
        <p:blipFill>
          <a:blip r:embed="rId3"/>
          <a:stretch>
            <a:fillRect/>
          </a:stretch>
        </p:blipFill>
        <p:spPr>
          <a:xfrm>
            <a:off x="1259525" y="896938"/>
            <a:ext cx="9139549" cy="5283200"/>
          </a:xfrm>
          <a:prstGeom prst="rect">
            <a:avLst/>
          </a:prstGeom>
        </p:spPr>
      </p:pic>
      <p:sp>
        <p:nvSpPr>
          <p:cNvPr id="5" name="Title 1">
            <a:extLst>
              <a:ext uri="{FF2B5EF4-FFF2-40B4-BE49-F238E27FC236}">
                <a16:creationId xmlns:a16="http://schemas.microsoft.com/office/drawing/2014/main" id="{7CAFCE00-AC6A-BBD9-A3BD-193A3EBD506F}"/>
              </a:ext>
            </a:extLst>
          </p:cNvPr>
          <p:cNvSpPr txBox="1">
            <a:spLocks/>
          </p:cNvSpPr>
          <p:nvPr/>
        </p:nvSpPr>
        <p:spPr>
          <a:xfrm>
            <a:off x="609600" y="272077"/>
            <a:ext cx="10439400" cy="6248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r>
              <a:rPr lang="en-US" sz="3600" dirty="0">
                <a:cs typeface="Times New Roman" panose="02020603050405020304" pitchFamily="18" charset="0"/>
              </a:rPr>
              <a:t>Empirical Evidence</a:t>
            </a:r>
          </a:p>
        </p:txBody>
      </p:sp>
    </p:spTree>
    <p:extLst>
      <p:ext uri="{BB962C8B-B14F-4D97-AF65-F5344CB8AC3E}">
        <p14:creationId xmlns:p14="http://schemas.microsoft.com/office/powerpoint/2010/main" val="35452634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0DB64B-61F8-9B0A-CFEB-C2B8BAE996AA}"/>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4C97345F-1ED6-B653-6F9D-A6BF18D4208E}"/>
              </a:ext>
            </a:extLst>
          </p:cNvPr>
          <p:cNvSpPr txBox="1">
            <a:spLocks/>
          </p:cNvSpPr>
          <p:nvPr/>
        </p:nvSpPr>
        <p:spPr>
          <a:xfrm>
            <a:off x="609600" y="272077"/>
            <a:ext cx="10439400" cy="6248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r>
              <a:rPr lang="en-US" sz="3600" dirty="0">
                <a:cs typeface="Times New Roman" panose="02020603050405020304" pitchFamily="18" charset="0"/>
              </a:rPr>
              <a:t>Empirical Evidence</a:t>
            </a:r>
          </a:p>
        </p:txBody>
      </p:sp>
      <p:sp>
        <p:nvSpPr>
          <p:cNvPr id="3" name="Content Placeholder 2">
            <a:extLst>
              <a:ext uri="{FF2B5EF4-FFF2-40B4-BE49-F238E27FC236}">
                <a16:creationId xmlns:a16="http://schemas.microsoft.com/office/drawing/2014/main" id="{4A043C1A-A1D5-84B1-88BB-ACEC5128097C}"/>
              </a:ext>
            </a:extLst>
          </p:cNvPr>
          <p:cNvSpPr>
            <a:spLocks noGrp="1"/>
          </p:cNvSpPr>
          <p:nvPr>
            <p:ph idx="1"/>
          </p:nvPr>
        </p:nvSpPr>
        <p:spPr/>
        <p:txBody>
          <a:bodyPr/>
          <a:lstStyle/>
          <a:p>
            <a:endParaRPr lang="en-CA"/>
          </a:p>
        </p:txBody>
      </p:sp>
      <p:pic>
        <p:nvPicPr>
          <p:cNvPr id="7" name="Picture 6">
            <a:extLst>
              <a:ext uri="{FF2B5EF4-FFF2-40B4-BE49-F238E27FC236}">
                <a16:creationId xmlns:a16="http://schemas.microsoft.com/office/drawing/2014/main" id="{16D42D50-7BD1-EEEC-3343-CBE162ABB8D1}"/>
              </a:ext>
            </a:extLst>
          </p:cNvPr>
          <p:cNvPicPr>
            <a:picLocks noChangeAspect="1"/>
          </p:cNvPicPr>
          <p:nvPr/>
        </p:nvPicPr>
        <p:blipFill>
          <a:blip r:embed="rId3"/>
          <a:stretch>
            <a:fillRect/>
          </a:stretch>
        </p:blipFill>
        <p:spPr>
          <a:xfrm>
            <a:off x="6165873" y="21265"/>
            <a:ext cx="4897304" cy="6858000"/>
          </a:xfrm>
          <a:prstGeom prst="rect">
            <a:avLst/>
          </a:prstGeom>
        </p:spPr>
      </p:pic>
    </p:spTree>
    <p:extLst>
      <p:ext uri="{BB962C8B-B14F-4D97-AF65-F5344CB8AC3E}">
        <p14:creationId xmlns:p14="http://schemas.microsoft.com/office/powerpoint/2010/main" val="8843619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E24E7C-E4CA-7FD0-CA08-75CE07A6B879}"/>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F2DD51CF-0965-BE2B-0FA0-A4BF5F9B8739}"/>
              </a:ext>
            </a:extLst>
          </p:cNvPr>
          <p:cNvSpPr txBox="1">
            <a:spLocks/>
          </p:cNvSpPr>
          <p:nvPr/>
        </p:nvSpPr>
        <p:spPr>
          <a:xfrm>
            <a:off x="609600" y="272077"/>
            <a:ext cx="10439400" cy="6248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r>
              <a:rPr lang="en-US" sz="3600" dirty="0">
                <a:cs typeface="Times New Roman" panose="02020603050405020304" pitchFamily="18" charset="0"/>
              </a:rPr>
              <a:t>Building the Model</a:t>
            </a:r>
          </a:p>
        </p:txBody>
      </p:sp>
      <p:sp>
        <p:nvSpPr>
          <p:cNvPr id="3" name="Content Placeholder 2">
            <a:extLst>
              <a:ext uri="{FF2B5EF4-FFF2-40B4-BE49-F238E27FC236}">
                <a16:creationId xmlns:a16="http://schemas.microsoft.com/office/drawing/2014/main" id="{64EBDAB8-0E2E-6DCF-B15F-9D34B422667C}"/>
              </a:ext>
            </a:extLst>
          </p:cNvPr>
          <p:cNvSpPr>
            <a:spLocks noGrp="1"/>
          </p:cNvSpPr>
          <p:nvPr>
            <p:ph idx="1"/>
          </p:nvPr>
        </p:nvSpPr>
        <p:spPr>
          <a:xfrm>
            <a:off x="609600" y="896918"/>
            <a:ext cx="9247632" cy="5283220"/>
          </a:xfrm>
        </p:spPr>
        <p:txBody>
          <a:bodyPr/>
          <a:lstStyle/>
          <a:p>
            <a:r>
              <a:rPr lang="en-US" dirty="0"/>
              <a:t>Just focus on a single refill window [4-period model]</a:t>
            </a:r>
          </a:p>
          <a:p>
            <a:r>
              <a:rPr lang="en-US" dirty="0"/>
              <a:t>Patients start with just 2 periods worth of pills</a:t>
            </a:r>
          </a:p>
          <a:p>
            <a:endParaRPr lang="en-CA" dirty="0"/>
          </a:p>
        </p:txBody>
      </p:sp>
      <p:pic>
        <p:nvPicPr>
          <p:cNvPr id="4" name="Picture 3">
            <a:extLst>
              <a:ext uri="{FF2B5EF4-FFF2-40B4-BE49-F238E27FC236}">
                <a16:creationId xmlns:a16="http://schemas.microsoft.com/office/drawing/2014/main" id="{B6297DF7-AD22-903E-9FAA-84D094FFE402}"/>
              </a:ext>
            </a:extLst>
          </p:cNvPr>
          <p:cNvPicPr>
            <a:picLocks noChangeAspect="1"/>
          </p:cNvPicPr>
          <p:nvPr/>
        </p:nvPicPr>
        <p:blipFill>
          <a:blip r:embed="rId3"/>
          <a:stretch>
            <a:fillRect/>
          </a:stretch>
        </p:blipFill>
        <p:spPr>
          <a:xfrm>
            <a:off x="457200" y="2209800"/>
            <a:ext cx="8249801" cy="3858163"/>
          </a:xfrm>
          <a:prstGeom prst="rect">
            <a:avLst/>
          </a:prstGeom>
        </p:spPr>
      </p:pic>
      <p:sp>
        <p:nvSpPr>
          <p:cNvPr id="6" name="TextBox 5">
            <a:extLst>
              <a:ext uri="{FF2B5EF4-FFF2-40B4-BE49-F238E27FC236}">
                <a16:creationId xmlns:a16="http://schemas.microsoft.com/office/drawing/2014/main" id="{8E36483B-BEAE-A006-53F3-3BAC4A22DBBA}"/>
              </a:ext>
            </a:extLst>
          </p:cNvPr>
          <p:cNvSpPr txBox="1"/>
          <p:nvPr/>
        </p:nvSpPr>
        <p:spPr>
          <a:xfrm>
            <a:off x="7924800" y="2895600"/>
            <a:ext cx="2819400" cy="646331"/>
          </a:xfrm>
          <a:prstGeom prst="rect">
            <a:avLst/>
          </a:prstGeom>
          <a:solidFill>
            <a:schemeClr val="accent3">
              <a:lumMod val="40000"/>
              <a:lumOff val="60000"/>
            </a:schemeClr>
          </a:solidFill>
        </p:spPr>
        <p:txBody>
          <a:bodyPr wrap="square" rtlCol="0">
            <a:spAutoFit/>
          </a:bodyPr>
          <a:lstStyle/>
          <a:p>
            <a:r>
              <a:rPr lang="en-US" dirty="0"/>
              <a:t>Cost shock associated with refills</a:t>
            </a:r>
            <a:endParaRPr lang="en-CA" dirty="0"/>
          </a:p>
        </p:txBody>
      </p:sp>
      <p:cxnSp>
        <p:nvCxnSpPr>
          <p:cNvPr id="9" name="Straight Arrow Connector 8">
            <a:extLst>
              <a:ext uri="{FF2B5EF4-FFF2-40B4-BE49-F238E27FC236}">
                <a16:creationId xmlns:a16="http://schemas.microsoft.com/office/drawing/2014/main" id="{504CAB10-6AA4-CD2E-1306-E983BAA8F7E5}"/>
              </a:ext>
            </a:extLst>
          </p:cNvPr>
          <p:cNvCxnSpPr/>
          <p:nvPr/>
        </p:nvCxnSpPr>
        <p:spPr>
          <a:xfrm flipH="1">
            <a:off x="7772400" y="3200400"/>
            <a:ext cx="1524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80D9641F-F27A-BC74-131D-161D9CBC8EC8}"/>
              </a:ext>
            </a:extLst>
          </p:cNvPr>
          <p:cNvCxnSpPr/>
          <p:nvPr/>
        </p:nvCxnSpPr>
        <p:spPr>
          <a:xfrm flipH="1">
            <a:off x="7010400" y="3200400"/>
            <a:ext cx="914400" cy="685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F083D96C-7902-4FF2-0A85-D510FE1A82DB}"/>
              </a:ext>
            </a:extLst>
          </p:cNvPr>
          <p:cNvSpPr txBox="1"/>
          <p:nvPr/>
        </p:nvSpPr>
        <p:spPr>
          <a:xfrm>
            <a:off x="8109948" y="4208482"/>
            <a:ext cx="2819400" cy="646331"/>
          </a:xfrm>
          <a:prstGeom prst="rect">
            <a:avLst/>
          </a:prstGeom>
          <a:solidFill>
            <a:schemeClr val="accent5">
              <a:lumMod val="40000"/>
              <a:lumOff val="60000"/>
            </a:schemeClr>
          </a:solidFill>
        </p:spPr>
        <p:txBody>
          <a:bodyPr wrap="square" rtlCol="0">
            <a:spAutoFit/>
          </a:bodyPr>
          <a:lstStyle/>
          <a:p>
            <a:r>
              <a:rPr lang="en-US" dirty="0"/>
              <a:t>Health shock associated with no pills left</a:t>
            </a:r>
            <a:endParaRPr lang="en-CA" dirty="0"/>
          </a:p>
        </p:txBody>
      </p:sp>
      <p:cxnSp>
        <p:nvCxnSpPr>
          <p:cNvPr id="14" name="Straight Arrow Connector 13">
            <a:extLst>
              <a:ext uri="{FF2B5EF4-FFF2-40B4-BE49-F238E27FC236}">
                <a16:creationId xmlns:a16="http://schemas.microsoft.com/office/drawing/2014/main" id="{4225915A-9EC6-5CFA-94E2-3611E21A1E5C}"/>
              </a:ext>
            </a:extLst>
          </p:cNvPr>
          <p:cNvCxnSpPr>
            <a:cxnSpLocks/>
          </p:cNvCxnSpPr>
          <p:nvPr/>
        </p:nvCxnSpPr>
        <p:spPr>
          <a:xfrm flipH="1">
            <a:off x="4419600" y="4495800"/>
            <a:ext cx="3657600" cy="609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051029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B3287-C641-E911-48F2-18737B5E3258}"/>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1A91843C-F854-2664-2E18-E434D1B1E9F6}"/>
              </a:ext>
            </a:extLst>
          </p:cNvPr>
          <p:cNvSpPr txBox="1">
            <a:spLocks/>
          </p:cNvSpPr>
          <p:nvPr/>
        </p:nvSpPr>
        <p:spPr>
          <a:xfrm>
            <a:off x="609600" y="272077"/>
            <a:ext cx="10439400" cy="6248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r>
              <a:rPr lang="en-US" sz="3600" dirty="0">
                <a:cs typeface="Times New Roman" panose="02020603050405020304" pitchFamily="18" charset="0"/>
              </a:rPr>
              <a:t>Building the Model: Behavioral Frictions</a:t>
            </a:r>
          </a:p>
        </p:txBody>
      </p:sp>
      <p:sp>
        <p:nvSpPr>
          <p:cNvPr id="3" name="Content Placeholder 2">
            <a:extLst>
              <a:ext uri="{FF2B5EF4-FFF2-40B4-BE49-F238E27FC236}">
                <a16:creationId xmlns:a16="http://schemas.microsoft.com/office/drawing/2014/main" id="{8AC31069-2846-F9C7-69B7-9F14B332C332}"/>
              </a:ext>
            </a:extLst>
          </p:cNvPr>
          <p:cNvSpPr>
            <a:spLocks noGrp="1"/>
          </p:cNvSpPr>
          <p:nvPr>
            <p:ph idx="1"/>
          </p:nvPr>
        </p:nvSpPr>
        <p:spPr>
          <a:xfrm>
            <a:off x="609600" y="896918"/>
            <a:ext cx="9247632" cy="5283220"/>
          </a:xfrm>
        </p:spPr>
        <p:txBody>
          <a:bodyPr/>
          <a:lstStyle/>
          <a:p>
            <a:r>
              <a:rPr lang="en-US" dirty="0"/>
              <a:t>Just focus on a single refill window [4-period model]</a:t>
            </a:r>
          </a:p>
          <a:p>
            <a:r>
              <a:rPr lang="en-US" dirty="0"/>
              <a:t>Patients start with just 2 periods worth of pills</a:t>
            </a:r>
          </a:p>
          <a:p>
            <a:endParaRPr lang="en-US" dirty="0"/>
          </a:p>
          <a:p>
            <a:endParaRPr lang="en-US" dirty="0"/>
          </a:p>
          <a:p>
            <a:endParaRPr lang="en-US" dirty="0"/>
          </a:p>
          <a:p>
            <a:endParaRPr lang="en-US" dirty="0"/>
          </a:p>
          <a:p>
            <a:endParaRPr lang="en-US" dirty="0"/>
          </a:p>
          <a:p>
            <a:r>
              <a:rPr lang="en-US" dirty="0"/>
              <a:t>What do you think about these? Plausible? Separable in the data? </a:t>
            </a:r>
          </a:p>
          <a:p>
            <a:endParaRPr lang="en-US" dirty="0"/>
          </a:p>
          <a:p>
            <a:endParaRPr lang="en-US" dirty="0"/>
          </a:p>
          <a:p>
            <a:endParaRPr lang="en-US" dirty="0"/>
          </a:p>
          <a:p>
            <a:endParaRPr lang="en-CA" dirty="0"/>
          </a:p>
        </p:txBody>
      </p:sp>
      <p:pic>
        <p:nvPicPr>
          <p:cNvPr id="7" name="Picture 6">
            <a:extLst>
              <a:ext uri="{FF2B5EF4-FFF2-40B4-BE49-F238E27FC236}">
                <a16:creationId xmlns:a16="http://schemas.microsoft.com/office/drawing/2014/main" id="{AD5BE9F2-139D-9C1E-8B22-F8148343E6F2}"/>
              </a:ext>
            </a:extLst>
          </p:cNvPr>
          <p:cNvPicPr>
            <a:picLocks noChangeAspect="1"/>
          </p:cNvPicPr>
          <p:nvPr/>
        </p:nvPicPr>
        <p:blipFill>
          <a:blip r:embed="rId3"/>
          <a:stretch>
            <a:fillRect/>
          </a:stretch>
        </p:blipFill>
        <p:spPr>
          <a:xfrm>
            <a:off x="381000" y="872108"/>
            <a:ext cx="9116697" cy="2876951"/>
          </a:xfrm>
          <a:prstGeom prst="rect">
            <a:avLst/>
          </a:prstGeom>
        </p:spPr>
      </p:pic>
    </p:spTree>
    <p:extLst>
      <p:ext uri="{BB962C8B-B14F-4D97-AF65-F5344CB8AC3E}">
        <p14:creationId xmlns:p14="http://schemas.microsoft.com/office/powerpoint/2010/main" val="109586366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B99DC0-42D0-2A9C-06C7-7D25179CB915}"/>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3A893CBE-5AD6-F52C-A9A0-FA93CCA221B9}"/>
              </a:ext>
            </a:extLst>
          </p:cNvPr>
          <p:cNvSpPr txBox="1">
            <a:spLocks/>
          </p:cNvSpPr>
          <p:nvPr/>
        </p:nvSpPr>
        <p:spPr>
          <a:xfrm>
            <a:off x="609600" y="272077"/>
            <a:ext cx="10439400" cy="6248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r>
              <a:rPr lang="en-US" sz="3600" dirty="0">
                <a:cs typeface="Times New Roman" panose="02020603050405020304" pitchFamily="18" charset="0"/>
              </a:rPr>
              <a:t>Testing the model: key moments</a:t>
            </a:r>
          </a:p>
        </p:txBody>
      </p:sp>
      <p:sp>
        <p:nvSpPr>
          <p:cNvPr id="3" name="Content Placeholder 2">
            <a:extLst>
              <a:ext uri="{FF2B5EF4-FFF2-40B4-BE49-F238E27FC236}">
                <a16:creationId xmlns:a16="http://schemas.microsoft.com/office/drawing/2014/main" id="{79A9C177-789F-816B-AA9A-829898C6E8DB}"/>
              </a:ext>
            </a:extLst>
          </p:cNvPr>
          <p:cNvSpPr>
            <a:spLocks noGrp="1"/>
          </p:cNvSpPr>
          <p:nvPr>
            <p:ph idx="1"/>
          </p:nvPr>
        </p:nvSpPr>
        <p:spPr>
          <a:xfrm>
            <a:off x="609600" y="896918"/>
            <a:ext cx="6019800" cy="5283220"/>
          </a:xfrm>
        </p:spPr>
        <p:txBody>
          <a:bodyPr/>
          <a:lstStyle/>
          <a:p>
            <a:pPr marL="0" indent="0">
              <a:buNone/>
            </a:pPr>
            <a:r>
              <a:rPr lang="en-US" dirty="0"/>
              <a:t>Why would reminders matter? </a:t>
            </a:r>
          </a:p>
          <a:p>
            <a:r>
              <a:rPr lang="en-US" dirty="0"/>
              <a:t>In the financial incentives + reminder group, reminders tell people </a:t>
            </a:r>
            <a:r>
              <a:rPr lang="en-US" b="1" dirty="0"/>
              <a:t>which period </a:t>
            </a:r>
            <a:r>
              <a:rPr lang="en-US" dirty="0"/>
              <a:t>they are in</a:t>
            </a:r>
          </a:p>
          <a:p>
            <a:pPr lvl="1"/>
            <a:r>
              <a:rPr lang="en-US" sz="1800" dirty="0"/>
              <a:t>Since reminders are only in period 2, this means periods 1 and 2 have perfect knowledge. </a:t>
            </a:r>
          </a:p>
          <a:p>
            <a:pPr lvl="1"/>
            <a:r>
              <a:rPr lang="en-US" sz="1800" dirty="0"/>
              <a:t>This would imply that compared to the financial incentives group, refilling in period 1 goes down (you know you have one period left) while refilling in period 2 should go up (patients know they are almost out)</a:t>
            </a:r>
          </a:p>
          <a:p>
            <a:pPr lvl="1"/>
            <a:endParaRPr lang="en-US" dirty="0"/>
          </a:p>
          <a:p>
            <a:endParaRPr lang="en-US" dirty="0"/>
          </a:p>
          <a:p>
            <a:endParaRPr lang="en-US" dirty="0"/>
          </a:p>
          <a:p>
            <a:endParaRPr lang="en-CA" dirty="0"/>
          </a:p>
        </p:txBody>
      </p:sp>
      <p:pic>
        <p:nvPicPr>
          <p:cNvPr id="4" name="Picture 3">
            <a:extLst>
              <a:ext uri="{FF2B5EF4-FFF2-40B4-BE49-F238E27FC236}">
                <a16:creationId xmlns:a16="http://schemas.microsoft.com/office/drawing/2014/main" id="{1D4497C0-564F-8A51-918B-ECFEE5672799}"/>
              </a:ext>
            </a:extLst>
          </p:cNvPr>
          <p:cNvPicPr>
            <a:picLocks noChangeAspect="1"/>
          </p:cNvPicPr>
          <p:nvPr/>
        </p:nvPicPr>
        <p:blipFill>
          <a:blip r:embed="rId3"/>
          <a:stretch>
            <a:fillRect/>
          </a:stretch>
        </p:blipFill>
        <p:spPr>
          <a:xfrm>
            <a:off x="6858000" y="0"/>
            <a:ext cx="5228283" cy="6858000"/>
          </a:xfrm>
          <a:prstGeom prst="rect">
            <a:avLst/>
          </a:prstGeom>
        </p:spPr>
      </p:pic>
      <p:sp>
        <p:nvSpPr>
          <p:cNvPr id="6" name="Rectangle 5">
            <a:extLst>
              <a:ext uri="{FF2B5EF4-FFF2-40B4-BE49-F238E27FC236}">
                <a16:creationId xmlns:a16="http://schemas.microsoft.com/office/drawing/2014/main" id="{1A144D50-D960-B572-02C0-2200A727FEBD}"/>
              </a:ext>
            </a:extLst>
          </p:cNvPr>
          <p:cNvSpPr/>
          <p:nvPr/>
        </p:nvSpPr>
        <p:spPr>
          <a:xfrm>
            <a:off x="11201400" y="4572000"/>
            <a:ext cx="762000" cy="2133600"/>
          </a:xfrm>
          <a:prstGeom prst="rect">
            <a:avLst/>
          </a:prstGeom>
          <a:noFill/>
          <a:ln w="57150">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192418871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1A5AF-5AD4-A0BA-8967-8F5510741560}"/>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3750ACE1-0DEC-0169-705F-57B8493ECB47}"/>
              </a:ext>
            </a:extLst>
          </p:cNvPr>
          <p:cNvSpPr txBox="1">
            <a:spLocks/>
          </p:cNvSpPr>
          <p:nvPr/>
        </p:nvSpPr>
        <p:spPr>
          <a:xfrm>
            <a:off x="609600" y="272077"/>
            <a:ext cx="10439400" cy="6248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r>
              <a:rPr lang="en-US" sz="3600" dirty="0">
                <a:cs typeface="Times New Roman" panose="02020603050405020304" pitchFamily="18" charset="0"/>
              </a:rPr>
              <a:t>Testing the model: key moments</a:t>
            </a:r>
          </a:p>
        </p:txBody>
      </p:sp>
      <p:sp>
        <p:nvSpPr>
          <p:cNvPr id="3" name="Content Placeholder 2">
            <a:extLst>
              <a:ext uri="{FF2B5EF4-FFF2-40B4-BE49-F238E27FC236}">
                <a16:creationId xmlns:a16="http://schemas.microsoft.com/office/drawing/2014/main" id="{1F855546-B95F-BF9A-5142-84C771516210}"/>
              </a:ext>
            </a:extLst>
          </p:cNvPr>
          <p:cNvSpPr>
            <a:spLocks noGrp="1"/>
          </p:cNvSpPr>
          <p:nvPr>
            <p:ph idx="1"/>
          </p:nvPr>
        </p:nvSpPr>
        <p:spPr>
          <a:xfrm>
            <a:off x="609600" y="896918"/>
            <a:ext cx="6019800" cy="5283220"/>
          </a:xfrm>
        </p:spPr>
        <p:txBody>
          <a:bodyPr/>
          <a:lstStyle/>
          <a:p>
            <a:pPr marL="0" indent="0">
              <a:buNone/>
            </a:pPr>
            <a:r>
              <a:rPr lang="en-US" dirty="0"/>
              <a:t>Why would reminders matter? </a:t>
            </a:r>
          </a:p>
          <a:p>
            <a:r>
              <a:rPr lang="en-US" dirty="0"/>
              <a:t>In the financial incentives + reminder group, reminders tell people </a:t>
            </a:r>
            <a:r>
              <a:rPr lang="en-US" b="1" dirty="0"/>
              <a:t>which period </a:t>
            </a:r>
            <a:r>
              <a:rPr lang="en-US" dirty="0"/>
              <a:t>they are in</a:t>
            </a:r>
          </a:p>
          <a:p>
            <a:pPr lvl="1"/>
            <a:r>
              <a:rPr lang="en-US" sz="1800" dirty="0"/>
              <a:t>Since reminders are only in period 2, this means periods 1 and 2 have perfect knowledge. </a:t>
            </a:r>
          </a:p>
          <a:p>
            <a:pPr lvl="1"/>
            <a:r>
              <a:rPr lang="en-US" sz="1800" dirty="0"/>
              <a:t>This would imply that compared to the financial incentives group, refilling in period 1 goes down (you know you have one period left) while refilling in period 2 should go up (patients know they are almost out)</a:t>
            </a:r>
          </a:p>
          <a:p>
            <a:r>
              <a:rPr lang="en-US" sz="2000" dirty="0"/>
              <a:t>Reminders on their own indicate that there are effects other than information since, without financial incentives, the information in the reminder is irrelevant </a:t>
            </a:r>
          </a:p>
          <a:p>
            <a:pPr lvl="1"/>
            <a:endParaRPr lang="en-US" dirty="0"/>
          </a:p>
          <a:p>
            <a:endParaRPr lang="en-US" dirty="0"/>
          </a:p>
          <a:p>
            <a:endParaRPr lang="en-US" dirty="0"/>
          </a:p>
          <a:p>
            <a:endParaRPr lang="en-CA" dirty="0"/>
          </a:p>
        </p:txBody>
      </p:sp>
      <p:pic>
        <p:nvPicPr>
          <p:cNvPr id="4" name="Picture 3">
            <a:extLst>
              <a:ext uri="{FF2B5EF4-FFF2-40B4-BE49-F238E27FC236}">
                <a16:creationId xmlns:a16="http://schemas.microsoft.com/office/drawing/2014/main" id="{19283EF7-F710-2DA5-8FFD-A2AA0F5FC97B}"/>
              </a:ext>
            </a:extLst>
          </p:cNvPr>
          <p:cNvPicPr>
            <a:picLocks noChangeAspect="1"/>
          </p:cNvPicPr>
          <p:nvPr/>
        </p:nvPicPr>
        <p:blipFill>
          <a:blip r:embed="rId3"/>
          <a:stretch>
            <a:fillRect/>
          </a:stretch>
        </p:blipFill>
        <p:spPr>
          <a:xfrm>
            <a:off x="6858000" y="0"/>
            <a:ext cx="5228283" cy="6858000"/>
          </a:xfrm>
          <a:prstGeom prst="rect">
            <a:avLst/>
          </a:prstGeom>
        </p:spPr>
      </p:pic>
      <p:sp>
        <p:nvSpPr>
          <p:cNvPr id="6" name="Rectangle 5">
            <a:extLst>
              <a:ext uri="{FF2B5EF4-FFF2-40B4-BE49-F238E27FC236}">
                <a16:creationId xmlns:a16="http://schemas.microsoft.com/office/drawing/2014/main" id="{918E18E7-4F0D-CF80-F142-42DDF219CDDF}"/>
              </a:ext>
            </a:extLst>
          </p:cNvPr>
          <p:cNvSpPr/>
          <p:nvPr/>
        </p:nvSpPr>
        <p:spPr>
          <a:xfrm>
            <a:off x="8915400" y="272076"/>
            <a:ext cx="762000" cy="2527949"/>
          </a:xfrm>
          <a:prstGeom prst="rect">
            <a:avLst/>
          </a:prstGeom>
          <a:noFill/>
          <a:ln w="5715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382574543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EBAFE-6A69-C267-5E71-59ABDE83D465}"/>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39C456C5-8383-4493-2B08-C7B171E04FF9}"/>
              </a:ext>
            </a:extLst>
          </p:cNvPr>
          <p:cNvSpPr txBox="1">
            <a:spLocks/>
          </p:cNvSpPr>
          <p:nvPr/>
        </p:nvSpPr>
        <p:spPr>
          <a:xfrm>
            <a:off x="609600" y="272077"/>
            <a:ext cx="10439400" cy="6248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r>
              <a:rPr lang="en-US" sz="3600" dirty="0">
                <a:cs typeface="Times New Roman" panose="02020603050405020304" pitchFamily="18" charset="0"/>
              </a:rPr>
              <a:t>What are model implications?</a:t>
            </a:r>
          </a:p>
        </p:txBody>
      </p:sp>
      <p:sp>
        <p:nvSpPr>
          <p:cNvPr id="3" name="Content Placeholder 2">
            <a:extLst>
              <a:ext uri="{FF2B5EF4-FFF2-40B4-BE49-F238E27FC236}">
                <a16:creationId xmlns:a16="http://schemas.microsoft.com/office/drawing/2014/main" id="{FE1F4616-D7A7-7F0B-6F67-E5994A1BE1D0}"/>
              </a:ext>
            </a:extLst>
          </p:cNvPr>
          <p:cNvSpPr>
            <a:spLocks noGrp="1"/>
          </p:cNvSpPr>
          <p:nvPr>
            <p:ph idx="1"/>
          </p:nvPr>
        </p:nvSpPr>
        <p:spPr>
          <a:xfrm>
            <a:off x="609600" y="896918"/>
            <a:ext cx="10591800" cy="5283220"/>
          </a:xfrm>
        </p:spPr>
        <p:txBody>
          <a:bodyPr>
            <a:normAutofit/>
          </a:bodyPr>
          <a:lstStyle/>
          <a:p>
            <a:r>
              <a:rPr lang="en-US" dirty="0"/>
              <a:t>Reminders and financial incentives have a </a:t>
            </a:r>
            <a:r>
              <a:rPr lang="en-US" b="1" dirty="0"/>
              <a:t>strong interaction effect</a:t>
            </a:r>
          </a:p>
          <a:p>
            <a:pPr lvl="1"/>
            <a:r>
              <a:rPr lang="en-US" sz="1800" dirty="0"/>
              <a:t>Low-cost reminders ($0.20 per call) more than double the impact of incentives</a:t>
            </a:r>
            <a:endParaRPr lang="en-US" sz="1800" b="1" dirty="0"/>
          </a:p>
          <a:p>
            <a:r>
              <a:rPr lang="en-US" dirty="0"/>
              <a:t>Behavioral frictions reduce the impact of incentives alone</a:t>
            </a:r>
          </a:p>
          <a:p>
            <a:pPr lvl="1"/>
            <a:r>
              <a:rPr lang="en-US" sz="1800" dirty="0"/>
              <a:t>Inattention to daily pill-taking</a:t>
            </a:r>
          </a:p>
          <a:p>
            <a:pPr lvl="1"/>
            <a:r>
              <a:rPr lang="en-US" sz="1800" dirty="0"/>
              <a:t>Imperfect memory of refill due dates</a:t>
            </a:r>
          </a:p>
          <a:p>
            <a:r>
              <a:rPr lang="en-US" dirty="0"/>
              <a:t>Reminders address </a:t>
            </a:r>
            <a:r>
              <a:rPr lang="en-US" b="1" dirty="0"/>
              <a:t>both frictions</a:t>
            </a:r>
          </a:p>
          <a:p>
            <a:pPr lvl="1"/>
            <a:r>
              <a:rPr lang="en-US" sz="1800" dirty="0"/>
              <a:t>Reduce inattention (memory effect)</a:t>
            </a:r>
          </a:p>
          <a:p>
            <a:pPr lvl="1"/>
            <a:r>
              <a:rPr lang="en-US" sz="1800" dirty="0"/>
              <a:t>Correct imperfect recall (information effect)</a:t>
            </a:r>
          </a:p>
          <a:p>
            <a:endParaRPr lang="en-US" dirty="0"/>
          </a:p>
          <a:p>
            <a:pPr marL="0" indent="0">
              <a:buNone/>
            </a:pPr>
            <a:r>
              <a:rPr lang="en-US" dirty="0"/>
              <a:t>Programs that ignore behavioral frictions may miss large effectiveness gains</a:t>
            </a:r>
            <a:endParaRPr lang="en-CA" dirty="0"/>
          </a:p>
        </p:txBody>
      </p:sp>
    </p:spTree>
    <p:extLst>
      <p:ext uri="{BB962C8B-B14F-4D97-AF65-F5344CB8AC3E}">
        <p14:creationId xmlns:p14="http://schemas.microsoft.com/office/powerpoint/2010/main" val="142800662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EBBB4A-2CB7-BBAF-4D99-A6512351353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C0C1B56-E43D-EAF9-2739-79CFED8E7612}"/>
              </a:ext>
            </a:extLst>
          </p:cNvPr>
          <p:cNvSpPr>
            <a:spLocks noGrp="1"/>
          </p:cNvSpPr>
          <p:nvPr>
            <p:ph type="ctrTitle"/>
          </p:nvPr>
        </p:nvSpPr>
        <p:spPr>
          <a:xfrm>
            <a:off x="1261872" y="758952"/>
            <a:ext cx="10625328" cy="4041648"/>
          </a:xfrm>
        </p:spPr>
        <p:txBody>
          <a:bodyPr/>
          <a:lstStyle/>
          <a:p>
            <a:r>
              <a:rPr lang="en-US" dirty="0"/>
              <a:t>Presentations</a:t>
            </a:r>
          </a:p>
        </p:txBody>
      </p:sp>
      <p:sp>
        <p:nvSpPr>
          <p:cNvPr id="5" name="Subtitle 4">
            <a:extLst>
              <a:ext uri="{FF2B5EF4-FFF2-40B4-BE49-F238E27FC236}">
                <a16:creationId xmlns:a16="http://schemas.microsoft.com/office/drawing/2014/main" id="{B8B885F9-68C6-9863-E656-394FE5CE6DF4}"/>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847753676"/>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View</Template>
  <TotalTime>2426</TotalTime>
  <Words>3848</Words>
  <Application>Microsoft Office PowerPoint</Application>
  <PresentationFormat>Widescreen</PresentationFormat>
  <Paragraphs>418</Paragraphs>
  <Slides>50</Slides>
  <Notes>49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50</vt:i4>
      </vt:variant>
    </vt:vector>
  </HeadingPairs>
  <TitlesOfParts>
    <vt:vector size="60" baseType="lpstr">
      <vt:lpstr>Aptos</vt:lpstr>
      <vt:lpstr>Arial</vt:lpstr>
      <vt:lpstr>Calibri</vt:lpstr>
      <vt:lpstr>Cambria Math</vt:lpstr>
      <vt:lpstr>Century Schoolbook</vt:lpstr>
      <vt:lpstr>Symbol</vt:lpstr>
      <vt:lpstr>Times New Roman</vt:lpstr>
      <vt:lpstr>Times-Roman</vt:lpstr>
      <vt:lpstr>Wingdings 2</vt:lpstr>
      <vt:lpstr>View</vt:lpstr>
      <vt:lpstr>Advanced Health Economics</vt:lpstr>
      <vt:lpstr>Last time: Individual Health Behaviors</vt:lpstr>
      <vt:lpstr>Last time: Individual Health Behaviors</vt:lpstr>
      <vt:lpstr>Last time: Individual Health Behaviors</vt:lpstr>
      <vt:lpstr>What makes a model “Behavioral”?</vt:lpstr>
      <vt:lpstr>What makes a model “Behavioral”?</vt:lpstr>
      <vt:lpstr>What makes a model “Behavioral”?</vt:lpstr>
      <vt:lpstr>PowerPoint Presentation</vt:lpstr>
      <vt:lpstr>PowerPoint Presentation</vt:lpstr>
      <vt:lpstr>PowerPoint Presentation</vt:lpstr>
      <vt:lpstr>PowerPoint Presentation</vt:lpstr>
      <vt:lpstr>Summary of Behavioral Econ</vt:lpstr>
      <vt:lpstr>Behavioral vs. Neoclassical – where’s the line?</vt:lpstr>
      <vt:lpstr>Behavioral vs. Neoclassical – where’s the line?</vt:lpstr>
      <vt:lpstr>PowerPoint Presentation</vt:lpstr>
      <vt:lpstr>Handel and Kolstad (2015)</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Baicker, Mullainathan, &amp; Schwartzstein (2015)</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When Incentives Aren't Enough: Evidence on Inattention and Imperfect Memory from HIV Medication Adherence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Presentations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Econometrics I:</dc:title>
  <dc:creator>Audrey Laporte</dc:creator>
  <cp:lastModifiedBy>Alexander Hoagland</cp:lastModifiedBy>
  <cp:revision>184</cp:revision>
  <dcterms:created xsi:type="dcterms:W3CDTF">2011-01-10T00:42:42Z</dcterms:created>
  <dcterms:modified xsi:type="dcterms:W3CDTF">2026-03-09T17:42:38Z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34a106e-6316-442c-ad35-738afd673d2b_Enabled">
    <vt:lpwstr>True</vt:lpwstr>
  </property>
  <property fmtid="{D5CDD505-2E9C-101B-9397-08002B2CF9AE}" pid="3" name="MSIP_Label_034a106e-6316-442c-ad35-738afd673d2b_SiteId">
    <vt:lpwstr>cddc1229-ac2a-4b97-b78a-0e5cacb5865c</vt:lpwstr>
  </property>
  <property fmtid="{D5CDD505-2E9C-101B-9397-08002B2CF9AE}" pid="4" name="MSIP_Label_034a106e-6316-442c-ad35-738afd673d2b_Owner">
    <vt:lpwstr>Eric.Nauenberg@ontario.ca</vt:lpwstr>
  </property>
  <property fmtid="{D5CDD505-2E9C-101B-9397-08002B2CF9AE}" pid="5" name="MSIP_Label_034a106e-6316-442c-ad35-738afd673d2b_SetDate">
    <vt:lpwstr>2020-08-28T20:23:07.5369310Z</vt:lpwstr>
  </property>
  <property fmtid="{D5CDD505-2E9C-101B-9397-08002B2CF9AE}" pid="6" name="MSIP_Label_034a106e-6316-442c-ad35-738afd673d2b_Name">
    <vt:lpwstr>OPS - Unclassified Information</vt:lpwstr>
  </property>
  <property fmtid="{D5CDD505-2E9C-101B-9397-08002B2CF9AE}" pid="7" name="MSIP_Label_034a106e-6316-442c-ad35-738afd673d2b_Application">
    <vt:lpwstr>Microsoft Azure Information Protection</vt:lpwstr>
  </property>
  <property fmtid="{D5CDD505-2E9C-101B-9397-08002B2CF9AE}" pid="8" name="MSIP_Label_034a106e-6316-442c-ad35-738afd673d2b_ActionId">
    <vt:lpwstr>e0d92f5a-28a2-4725-917b-84a82b221364</vt:lpwstr>
  </property>
  <property fmtid="{D5CDD505-2E9C-101B-9397-08002B2CF9AE}" pid="9" name="MSIP_Label_034a106e-6316-442c-ad35-738afd673d2b_Extended_MSFT_Method">
    <vt:lpwstr>Automatic</vt:lpwstr>
  </property>
  <property fmtid="{D5CDD505-2E9C-101B-9397-08002B2CF9AE}" pid="10" name="Sensitivity">
    <vt:lpwstr>OPS - Unclassified Information</vt:lpwstr>
  </property>
</Properties>
</file>