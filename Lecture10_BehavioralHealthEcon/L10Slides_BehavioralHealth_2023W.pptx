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42"/>
  </p:notesMasterIdLst>
  <p:sldIdLst>
    <p:sldId id="256" r:id="rId2"/>
    <p:sldId id="492" r:id="rId3"/>
    <p:sldId id="357" r:id="rId4"/>
    <p:sldId id="493" r:id="rId5"/>
    <p:sldId id="476" r:id="rId6"/>
    <p:sldId id="487" r:id="rId7"/>
    <p:sldId id="494" r:id="rId8"/>
    <p:sldId id="491" r:id="rId9"/>
    <p:sldId id="261" r:id="rId10"/>
    <p:sldId id="495" r:id="rId11"/>
    <p:sldId id="496" r:id="rId12"/>
    <p:sldId id="259" r:id="rId13"/>
    <p:sldId id="490" r:id="rId14"/>
    <p:sldId id="488" r:id="rId15"/>
    <p:sldId id="498" r:id="rId16"/>
    <p:sldId id="497" r:id="rId17"/>
    <p:sldId id="486" r:id="rId18"/>
    <p:sldId id="499" r:id="rId19"/>
    <p:sldId id="500" r:id="rId20"/>
    <p:sldId id="501" r:id="rId21"/>
    <p:sldId id="502" r:id="rId22"/>
    <p:sldId id="503" r:id="rId23"/>
    <p:sldId id="518" r:id="rId24"/>
    <p:sldId id="517" r:id="rId25"/>
    <p:sldId id="505" r:id="rId26"/>
    <p:sldId id="504" r:id="rId27"/>
    <p:sldId id="506" r:id="rId28"/>
    <p:sldId id="519" r:id="rId29"/>
    <p:sldId id="508" r:id="rId30"/>
    <p:sldId id="509" r:id="rId31"/>
    <p:sldId id="520" r:id="rId32"/>
    <p:sldId id="341" r:id="rId33"/>
    <p:sldId id="510" r:id="rId34"/>
    <p:sldId id="511" r:id="rId35"/>
    <p:sldId id="512" r:id="rId36"/>
    <p:sldId id="513" r:id="rId37"/>
    <p:sldId id="514" r:id="rId38"/>
    <p:sldId id="515" r:id="rId39"/>
    <p:sldId id="516" r:id="rId40"/>
    <p:sldId id="414" r:id="rId41"/>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81766" autoAdjust="0"/>
  </p:normalViewPr>
  <p:slideViewPr>
    <p:cSldViewPr>
      <p:cViewPr varScale="1">
        <p:scale>
          <a:sx n="90" d="100"/>
          <a:sy n="90" d="100"/>
        </p:scale>
        <p:origin x="1356" y="6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3/21/2025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Today, two papers: one on healthcare and one on health behaviors.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35143028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2499140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AER 2020: </a:t>
            </a:r>
          </a:p>
          <a:p>
            <a:pPr marL="171450" indent="-171450">
              <a:buFont typeface="Arial" panose="020B0604020202020204" pitchFamily="34" charset="0"/>
              <a:buChar char="•"/>
            </a:pPr>
            <a:r>
              <a:rPr lang="en-US" dirty="0"/>
              <a:t>How should we think about modeling of screening behaviors? </a:t>
            </a:r>
          </a:p>
          <a:p>
            <a:pPr marL="171450" indent="-171450">
              <a:buFont typeface="Arial" panose="020B0604020202020204" pitchFamily="34" charset="0"/>
              <a:buChar char="•"/>
            </a:pPr>
            <a:r>
              <a:rPr lang="en-US" dirty="0"/>
              <a:t>What kind of weird behaviors exist?</a:t>
            </a:r>
          </a:p>
          <a:p>
            <a:pPr marL="171450" indent="-171450">
              <a:buFont typeface="Arial" panose="020B0604020202020204" pitchFamily="34" charset="0"/>
              <a:buChar char="•"/>
            </a:pPr>
            <a:r>
              <a:rPr lang="en-US" dirty="0"/>
              <a:t>This paper: selection -- responders to the age 40 recommendation have less cancer than do women who self-select into screening at earlier ages. </a:t>
            </a:r>
          </a:p>
          <a:p>
            <a:pPr marL="171450" indent="-171450">
              <a:buFont typeface="Arial" panose="020B0604020202020204" pitchFamily="34" charset="0"/>
              <a:buChar char="•"/>
            </a:pPr>
            <a:r>
              <a:rPr lang="en-US" dirty="0"/>
              <a:t>Combining these patterns with a </a:t>
            </a:r>
            <a:r>
              <a:rPr lang="en-US" b="1" u="sng" dirty="0"/>
              <a:t>clinical oncology model </a:t>
            </a:r>
            <a:r>
              <a:rPr lang="en-US" dirty="0"/>
              <a:t>allows us to infer that responders to the age 40 recommendation also have less cancer than women who never screen,</a:t>
            </a:r>
          </a:p>
          <a:p>
            <a:pPr marL="171450" indent="-171450">
              <a:buFont typeface="Arial" panose="020B0604020202020204" pitchFamily="34" charset="0"/>
              <a:buChar char="•"/>
            </a:pPr>
            <a:r>
              <a:rPr lang="en-US" dirty="0"/>
              <a:t>What does this mean for policy? Shifting the recommendation from age 40 to age 45 results in over three times as many deaths if responders were randomly drawn from the population than under the estimated patterns of selection.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9656590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one is new and another area for low-hanging fruit – not sure we will spend much time on it today.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Classic behavioral example: https://www.instagram.com/reel/Cx_YvsWsBBO/?igshid=YzE4YTliZjNlMA==</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886798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introduction</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1049421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introduction</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7679982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introduction</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3393985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lots of examples: here’s one.</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19991452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lots of examples: here’s one.</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3221223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models don’t currently have a way to deal with framing. How can we do this? </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2139650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introduction</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36009154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introduction</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299762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introduction</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20153894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28463225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Goal – how to minimally enrich a model to incorporate behavioral biases (something to mention – does a behavioral bias explain why a mistake is a mistake, or why it is </a:t>
            </a:r>
            <a:r>
              <a:rPr lang="en-CA" i="1" dirty="0"/>
              <a:t>not </a:t>
            </a:r>
            <a:r>
              <a:rPr lang="en-CA" i="0" dirty="0"/>
              <a:t>a mistake? Do we want to be robots?). Setting: insurance choice (again)</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2203240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2569074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3772626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Handel and Kolstad (2015). You should enrich a model for two reasons: </a:t>
            </a:r>
          </a:p>
          <a:p>
            <a:pPr marL="171450" indent="-171450">
              <a:buFontTx/>
              <a:buChar char="-"/>
            </a:pPr>
            <a:r>
              <a:rPr lang="en-US" dirty="0"/>
              <a:t>To capture a *primary* mechanism or narrative</a:t>
            </a:r>
          </a:p>
          <a:p>
            <a:pPr marL="171450" indent="-171450">
              <a:buFontTx/>
              <a:buChar char="-"/>
            </a:pPr>
            <a:r>
              <a:rPr lang="en-US" dirty="0"/>
              <a:t>To enable estimation</a:t>
            </a:r>
          </a:p>
          <a:p>
            <a:pPr marL="171450" indent="-171450">
              <a:buFontTx/>
              <a:buChar char="-"/>
            </a:pPr>
            <a:r>
              <a:rPr lang="en-US" dirty="0"/>
              <a:t>Remember, no model is fully realistic! And this is a bit of an art, so read other papers.</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765372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plan in choice set that maximizes U</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40844114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we don’t change f – why not? Is this a good idea? – this is not easily estimable, and may be second order?</a:t>
            </a:r>
          </a:p>
          <a:p>
            <a:r>
              <a:rPr lang="en-US" dirty="0"/>
              <a:t>What other stories might you think of besides information processing?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11538288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 </a:t>
            </a:r>
          </a:p>
          <a:p>
            <a:pPr marL="171450" indent="-171450">
              <a:buFont typeface="Arial" panose="020B0604020202020204" pitchFamily="34" charset="0"/>
              <a:buChar char="•"/>
            </a:pPr>
            <a:r>
              <a:rPr lang="en-US" dirty="0"/>
              <a:t>employees at the firm choose between two primary health insurance options a PPO option with generous first dollar coverage and a high-deductible health plan (HDHP) with a linked health savings account (HSA).</a:t>
            </a:r>
          </a:p>
          <a:p>
            <a:pPr marL="171450" indent="-171450">
              <a:buFont typeface="Arial" panose="020B0604020202020204" pitchFamily="34" charset="0"/>
              <a:buChar char="•"/>
            </a:pPr>
            <a:r>
              <a:rPr lang="en-US" dirty="0"/>
              <a:t>2009-2012 (HDHP introduced in 2009, PPO existed long before that)</a:t>
            </a:r>
          </a:p>
          <a:p>
            <a:pPr marL="171450" indent="-171450">
              <a:buFont typeface="Arial" panose="020B0604020202020204" pitchFamily="34" charset="0"/>
              <a:buChar char="•"/>
            </a:pPr>
            <a:r>
              <a:rPr lang="en-US" dirty="0"/>
              <a:t>The PPO plan charges no up front premium while the HDHP provides an up-front subsidy equal to $1500 for an individual, $3000 for a couple and $3750 for a family. This subsidy should be interpreted as the primary premium for the PPO relative to the HDHP. The HDHP subsidy is deposited into the health savings account (HSA) linked to that plan and, thus, can be used for medical expenditures on a pre-tax basis in both the short-run and the long-run.</a:t>
            </a:r>
          </a:p>
          <a:p>
            <a:r>
              <a:rPr lang="en-US" dirty="0"/>
              <a:t>Figure 1 depicts the financial returns to selecting the HDHP option relative to the PPO option for an employee in the family tier. Initial slope is 1 with the deductible, then the coinsurance rate, then 0. What should rational consumers choose?</a:t>
            </a:r>
          </a:p>
          <a:p>
            <a:pPr marL="171450" indent="-171450">
              <a:buFont typeface="Arial" panose="020B0604020202020204" pitchFamily="34" charset="0"/>
              <a:buChar char="•"/>
            </a:pPr>
            <a:r>
              <a:rPr lang="en-US" dirty="0"/>
              <a:t>Authors estimate between 35-60 % of employees should choose HDHP</a:t>
            </a:r>
          </a:p>
          <a:p>
            <a:pPr marL="171450" indent="-171450">
              <a:buFont typeface="Arial" panose="020B0604020202020204" pitchFamily="34" charset="0"/>
              <a:buChar char="•"/>
            </a:pPr>
            <a:r>
              <a:rPr lang="en-US" dirty="0"/>
              <a:t>Observed 11%</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41840855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Nice survey section – good descriptive evidence.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7923148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how we minimally enrich</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7375314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this happens after running a survey – Handel (2013) is the switching cost, Handel &amp; Kolstad (2015) is the HDHP dummy. </a:t>
            </a:r>
          </a:p>
          <a:p>
            <a:pPr marL="171450" indent="-171450">
              <a:buFont typeface="Arial" panose="020B0604020202020204" pitchFamily="34" charset="0"/>
              <a:buChar char="•"/>
            </a:pPr>
            <a:r>
              <a:rPr lang="en-US" dirty="0"/>
              <a:t>We include these variables as observable measures of consumer information and perceived hassle costs that imply shifts in value for the HDHP relative to the PPO. </a:t>
            </a:r>
          </a:p>
          <a:p>
            <a:pPr marL="171450" indent="-171450">
              <a:buFont typeface="Arial" panose="020B0604020202020204" pitchFamily="34" charset="0"/>
              <a:buChar char="•"/>
            </a:pPr>
            <a:r>
              <a:rPr lang="en-US" dirty="0"/>
              <a:t>For each friction, one category (corresponding to ‘no friction’, e.g., ‘informed’) is excluded so that the value shift for the HDHP plan is relative to a frictionless consumer for the measure in question. </a:t>
            </a:r>
          </a:p>
          <a:p>
            <a:pPr marL="171450" indent="-171450">
              <a:buFont typeface="Arial" panose="020B0604020202020204" pitchFamily="34" charset="0"/>
              <a:buChar char="•"/>
            </a:pPr>
            <a:r>
              <a:rPr lang="en-US" dirty="0"/>
              <a:t>Specifically, each included friction variable, denoted </a:t>
            </a:r>
            <a:r>
              <a:rPr lang="en-US" dirty="0" err="1"/>
              <a:t>Zf</a:t>
            </a:r>
            <a:r>
              <a:rPr lang="en-US" dirty="0"/>
              <a:t> from vector Z, shifts the money at stake for each plan, </a:t>
            </a:r>
            <a:r>
              <a:rPr lang="en-US" dirty="0" err="1"/>
              <a:t>xj</a:t>
            </a:r>
            <a:r>
              <a:rPr lang="en-US" dirty="0"/>
              <a:t> , by an amount β</a:t>
            </a:r>
            <a:r>
              <a:rPr lang="en-US" dirty="0" err="1"/>
              <a:t>fZf</a:t>
            </a:r>
            <a:r>
              <a:rPr lang="en-US" dirty="0"/>
              <a:t> that is assumed constant across all potential health state realizations s from Fj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5091186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this happens after running a survey – Handel (2013) is the switching cost, Handel &amp; Kolstad (2015) is the HDHP dummy</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2229022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Violations and impact: </a:t>
                </a:r>
              </a:p>
              <a:p>
                <a:pPr marL="228600" indent="-228600">
                  <a:buAutoNum type="arabicPeriod"/>
                </a:pPr>
                <a:r>
                  <a:rPr lang="en-US" dirty="0"/>
                  <a:t>If consumers that are more risk averse give more effort to acquire information, γ will be positively correlated with better information (If this assumption is violated, the risk aversion parameters for fully informed consumers will be appropriately identified, but they will be biased for consumers with frictions and that bias will be captured in the parameters β)</a:t>
                </a:r>
              </a:p>
              <a:p>
                <a:pPr marL="228600" indent="-228600">
                  <a:buAutoNum type="arabicPeriod"/>
                </a:pPr>
                <a:r>
                  <a:rPr lang="en-US" sz="1200" dirty="0"/>
                  <a:t>someone who believes the PPO plan grants access to more providers believes that lack of access in the HDHP will decrease utility specifically in states where he has a bad health shock (so should be captured in </a:t>
                </a:r>
                <a14:m>
                  <m:oMath xmlns:m="http://schemas.openxmlformats.org/officeDocument/2006/math">
                    <m:r>
                      <a:rPr lang="en-CA" sz="1200" b="0" i="1" smtClean="0">
                        <a:latin typeface="Cambria Math" panose="02040503050406030204" pitchFamily="18" charset="0"/>
                      </a:rPr>
                      <m:t>𝛽</m:t>
                    </m:r>
                    <m:r>
                      <a:rPr lang="en-CA" sz="1200" b="0" i="1" smtClean="0">
                        <a:latin typeface="Cambria Math" panose="02040503050406030204" pitchFamily="18" charset="0"/>
                      </a:rPr>
                      <m:t>)</m:t>
                    </m:r>
                  </m:oMath>
                </a14:m>
                <a:endParaRPr lang="en-US" dirty="0"/>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Why are they ignoring this one? Seems important. (</a:t>
                </a:r>
                <a:r>
                  <a:rPr lang="en-US" sz="1200" dirty="0"/>
                  <a:t>While prior work (e.g., Cohen and </a:t>
                </a:r>
                <a:r>
                  <a:rPr lang="en-US" sz="1200" dirty="0" err="1"/>
                  <a:t>Einav</a:t>
                </a:r>
                <a:r>
                  <a:rPr lang="en-US" sz="1200" dirty="0"/>
                  <a:t> (2007) and </a:t>
                </a:r>
                <a:r>
                  <a:rPr lang="en-US" sz="1200" dirty="0" err="1"/>
                  <a:t>Einav</a:t>
                </a:r>
                <a:r>
                  <a:rPr lang="en-US" sz="1200" dirty="0"/>
                  <a:t> et al. (2013)) has illustrated this can be important, especially when thinking about questions related to adverse selection, our primary objective is to estimate shifts in the level of risk preferences when additional frictions are incorporated)</a:t>
                </a:r>
                <a:endParaRPr lang="en-US" sz="1200" dirty="0">
                  <a:cs typeface="Times New Roman" panose="02020603050405020304" pitchFamily="18" charset="0"/>
                </a:endParaRPr>
              </a:p>
            </p:txBody>
          </p:sp>
        </mc:Choice>
        <mc:Fallback xmlns="">
          <p:sp>
            <p:nvSpPr>
              <p:cNvPr id="3" name="Notes Placeholder 2"/>
              <p:cNvSpPr>
                <a:spLocks noGrp="1"/>
              </p:cNvSpPr>
              <p:nvPr>
                <p:ph type="body" idx="1"/>
              </p:nvPr>
            </p:nvSpPr>
            <p:spPr/>
            <p:txBody>
              <a:bodyPr/>
              <a:lstStyle/>
              <a:p>
                <a:r>
                  <a:rPr lang="en-US" dirty="0"/>
                  <a:t>Violations and impact: </a:t>
                </a:r>
              </a:p>
              <a:p>
                <a:pPr marL="228600" indent="-228600">
                  <a:buAutoNum type="arabicPeriod"/>
                </a:pPr>
                <a:r>
                  <a:rPr lang="en-US" dirty="0"/>
                  <a:t>If consumers that are more risk averse give more effort to acquire information, γ will be positively correlated with better information (If this assumption is violated, the risk aversion parameters for fully informed consumers will be appropriately identified, but they will be biased for consumers with frictions and that bias will be captured in the parameters β)</a:t>
                </a:r>
              </a:p>
              <a:p>
                <a:pPr marL="228600" indent="-228600">
                  <a:buAutoNum type="arabicPeriod"/>
                </a:pPr>
                <a:r>
                  <a:rPr lang="en-US" sz="1200" dirty="0"/>
                  <a:t>someone who believes the PPO plan grants access to more providers believes that lack of access in the HDHP will decrease utility specifically in states where he has a bad health shock (so should be captured in </a:t>
                </a:r>
                <a:r>
                  <a:rPr lang="en-CA" sz="1200" b="0" i="0">
                    <a:latin typeface="Cambria Math" panose="02040503050406030204" pitchFamily="18" charset="0"/>
                  </a:rPr>
                  <a:t>𝛽)</a:t>
                </a:r>
                <a:endParaRPr lang="en-US" dirty="0"/>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Why are they ignoring this one? Seems important. (</a:t>
                </a:r>
                <a:r>
                  <a:rPr lang="en-US" sz="1200" dirty="0"/>
                  <a:t>While prior work (e.g., Cohen and </a:t>
                </a:r>
                <a:r>
                  <a:rPr lang="en-US" sz="1200" dirty="0" err="1"/>
                  <a:t>Einav</a:t>
                </a:r>
                <a:r>
                  <a:rPr lang="en-US" sz="1200" dirty="0"/>
                  <a:t> (2007) and </a:t>
                </a:r>
                <a:r>
                  <a:rPr lang="en-US" sz="1200" dirty="0" err="1"/>
                  <a:t>Einav</a:t>
                </a:r>
                <a:r>
                  <a:rPr lang="en-US" sz="1200" dirty="0"/>
                  <a:t> et al. (2013)) has illustrated this can be important, especially when thinking about questions related to adverse selection, our primary objective is to estimate shifts in the level of risk preferences when additional frictions are incorporated)</a:t>
                </a:r>
                <a:endParaRPr lang="en-US" sz="1200" dirty="0">
                  <a:cs typeface="Times New Roman" panose="02020603050405020304" pitchFamily="18" charset="0"/>
                </a:endParaRPr>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29765843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feel about this ethically? Does the framing matter? </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6431601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you take away from this figure? How did it change your reading of the paper? (Is it the right counterfactual?)</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19466950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you take away from this figure? How did it change your reading of the paper? (Is it the right counterfactual?)</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4101731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Now we’ll switch to thinking about patient choices!</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5279465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1683367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3789494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negative as non-adherence and positive as low-value care consumption </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6392595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negative as non-adherence (between 60% and 80% for Type II diabetics, not filling supplies, etc.)</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167918666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positive as low-value care consumption (over-treatment of back pain, etc.)</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57303351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one after going through the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38001576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differences between demand and MPB that lead to under-utilization (adherence). Vertical differences here are epsilon. Reducing copay to 0 might in a typical model lead to welfare loss from over-utilization, but here the behavioral hazard effects swamp that (and in this stylized example, would get welfare gain). 1. There’s a treatment wedge. 2. is the graph. 3. is like a LATE from an IV – who is the responder to a policy? Maybe that’s who is affected by behavioral hazard. </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5400302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591619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3/21/2025</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3/21/2025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3/21/2025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3/21/2025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3/21/2025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3/21/2025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3/21/2025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3/21/2025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3/21/2025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09600" y="2209800"/>
            <a:ext cx="11201400" cy="1894362"/>
          </a:xfrm>
        </p:spPr>
        <p:txBody>
          <a:bodyPr>
            <a:normAutofit/>
          </a:bodyPr>
          <a:lstStyle/>
          <a:p>
            <a:r>
              <a:rPr lang="en-US" dirty="0"/>
              <a:t>Advanced Health Economics</a:t>
            </a:r>
          </a:p>
        </p:txBody>
      </p:sp>
      <p:sp>
        <p:nvSpPr>
          <p:cNvPr id="3" name="Subtitle 2"/>
          <p:cNvSpPr>
            <a:spLocks noGrp="1"/>
          </p:cNvSpPr>
          <p:nvPr>
            <p:ph type="subTitle" idx="1"/>
          </p:nvPr>
        </p:nvSpPr>
        <p:spPr>
          <a:xfrm>
            <a:off x="760228" y="4191000"/>
            <a:ext cx="10593572" cy="1981200"/>
          </a:xfrm>
        </p:spPr>
        <p:txBody>
          <a:bodyPr>
            <a:noAutofit/>
          </a:bodyPr>
          <a:lstStyle/>
          <a:p>
            <a:r>
              <a:rPr lang="en-US" sz="2400" dirty="0"/>
              <a:t>Lecture 10: Behavioral Health Economics</a:t>
            </a:r>
          </a:p>
          <a:p>
            <a:r>
              <a:rPr lang="en-US" sz="2400" dirty="0"/>
              <a:t>March 27, 2024</a:t>
            </a:r>
          </a:p>
          <a:p>
            <a:endParaRPr lang="en-US" sz="2400" dirty="0"/>
          </a:p>
          <a:p>
            <a:r>
              <a:rPr lang="en-US" sz="2400" dirty="0"/>
              <a:t>HAD 6750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9220200" cy="624840"/>
          </a:xfrm>
        </p:spPr>
        <p:txBody>
          <a:bodyPr>
            <a:normAutofit fontScale="90000"/>
          </a:bodyPr>
          <a:lstStyle/>
          <a:p>
            <a:r>
              <a:rPr lang="en-US" dirty="0">
                <a:solidFill>
                  <a:schemeClr val="accent2">
                    <a:lumMod val="75000"/>
                  </a:schemeClr>
                </a:solidFill>
                <a:cs typeface="Times New Roman" panose="02020603050405020304" pitchFamily="18" charset="0"/>
              </a:rPr>
              <a:t>Last time: Individual Health Behaviors</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Patients act weird! How should we think about this positively? Normatively?</a:t>
            </a:r>
          </a:p>
        </p:txBody>
      </p:sp>
      <p:pic>
        <p:nvPicPr>
          <p:cNvPr id="3074" name="Picture 2" descr="WebMd irl : r/PrequelMemes">
            <a:extLst>
              <a:ext uri="{FF2B5EF4-FFF2-40B4-BE49-F238E27FC236}">
                <a16:creationId xmlns:a16="http://schemas.microsoft.com/office/drawing/2014/main" id="{0E6EE09D-5E9D-24F0-8C8E-2E55F3ABDFF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19700" y="1328569"/>
            <a:ext cx="5655468" cy="43434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Literally Just 14 Hilarious Tweets About Checking WebMD For Symptoms">
            <a:extLst>
              <a:ext uri="{FF2B5EF4-FFF2-40B4-BE49-F238E27FC236}">
                <a16:creationId xmlns:a16="http://schemas.microsoft.com/office/drawing/2014/main" id="{0358563B-8DB1-FE36-4664-8290F6BB02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599" y="1416426"/>
            <a:ext cx="4600879" cy="48319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7766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9220200" cy="624840"/>
          </a:xfrm>
        </p:spPr>
        <p:txBody>
          <a:bodyPr>
            <a:normAutofit fontScale="90000"/>
          </a:bodyPr>
          <a:lstStyle/>
          <a:p>
            <a:r>
              <a:rPr lang="en-US" dirty="0">
                <a:solidFill>
                  <a:schemeClr val="accent2">
                    <a:lumMod val="75000"/>
                  </a:schemeClr>
                </a:solidFill>
                <a:cs typeface="Times New Roman" panose="02020603050405020304" pitchFamily="18" charset="0"/>
              </a:rPr>
              <a:t>Last time: Individual Health Behaviors</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Patients act weird! How should we think about this positively? Normatively?</a:t>
            </a:r>
          </a:p>
          <a:p>
            <a:r>
              <a:rPr lang="en-US" sz="2400" dirty="0">
                <a:cs typeface="Times New Roman" panose="02020603050405020304" pitchFamily="18" charset="0"/>
              </a:rPr>
              <a:t>How to write a “niche” model </a:t>
            </a:r>
          </a:p>
          <a:p>
            <a:r>
              <a:rPr lang="en-US" sz="2400" dirty="0">
                <a:cs typeface="Times New Roman" panose="02020603050405020304" pitchFamily="18" charset="0"/>
              </a:rPr>
              <a:t>3 Core Examples:</a:t>
            </a:r>
          </a:p>
          <a:p>
            <a:pPr lvl="1"/>
            <a:r>
              <a:rPr lang="en-US" sz="2200" dirty="0">
                <a:cs typeface="Times New Roman" panose="02020603050405020304" pitchFamily="18" charset="0"/>
              </a:rPr>
              <a:t>Addiction (Becker and Murphy)</a:t>
            </a:r>
          </a:p>
          <a:p>
            <a:pPr lvl="1"/>
            <a:r>
              <a:rPr lang="en-US" sz="2200" dirty="0">
                <a:cs typeface="Times New Roman" panose="02020603050405020304" pitchFamily="18" charset="0"/>
              </a:rPr>
              <a:t>Screening/Preventive care decisions (Oster et al.) </a:t>
            </a:r>
          </a:p>
          <a:p>
            <a:pPr lvl="1"/>
            <a:r>
              <a:rPr lang="en-US" sz="2200" dirty="0">
                <a:cs typeface="Times New Roman" panose="02020603050405020304" pitchFamily="18" charset="0"/>
              </a:rPr>
              <a:t>Plan choices (Abaluck and Gruber)</a:t>
            </a:r>
          </a:p>
        </p:txBody>
      </p:sp>
    </p:spTree>
    <p:extLst>
      <p:ext uri="{BB962C8B-B14F-4D97-AF65-F5344CB8AC3E}">
        <p14:creationId xmlns:p14="http://schemas.microsoft.com/office/powerpoint/2010/main" val="3746653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9220200" cy="624840"/>
          </a:xfrm>
        </p:spPr>
        <p:txBody>
          <a:bodyPr>
            <a:normAutofit fontScale="90000"/>
          </a:bodyPr>
          <a:lstStyle/>
          <a:p>
            <a:r>
              <a:rPr lang="en-US" dirty="0">
                <a:solidFill>
                  <a:schemeClr val="accent2">
                    <a:lumMod val="75000"/>
                  </a:schemeClr>
                </a:solidFill>
                <a:cs typeface="Times New Roman" panose="02020603050405020304" pitchFamily="18" charset="0"/>
              </a:rPr>
              <a:t>Last time: Individual Health Behaviors</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Patients act weird! How should we think about this positively? Normatively?</a:t>
            </a:r>
          </a:p>
          <a:p>
            <a:r>
              <a:rPr lang="en-US" sz="2400" dirty="0">
                <a:cs typeface="Times New Roman" panose="02020603050405020304" pitchFamily="18" charset="0"/>
              </a:rPr>
              <a:t>How to write a “niche” model </a:t>
            </a:r>
          </a:p>
          <a:p>
            <a:r>
              <a:rPr lang="en-US" sz="2400" dirty="0">
                <a:cs typeface="Times New Roman" panose="02020603050405020304" pitchFamily="18" charset="0"/>
              </a:rPr>
              <a:t>3 Core Examples:</a:t>
            </a:r>
          </a:p>
          <a:p>
            <a:pPr lvl="1"/>
            <a:r>
              <a:rPr lang="en-US" sz="2200" dirty="0">
                <a:cs typeface="Times New Roman" panose="02020603050405020304" pitchFamily="18" charset="0"/>
              </a:rPr>
              <a:t>Addiction (Becker and Murphy)</a:t>
            </a:r>
          </a:p>
          <a:p>
            <a:pPr lvl="1"/>
            <a:r>
              <a:rPr lang="en-US" sz="2200" dirty="0">
                <a:cs typeface="Times New Roman" panose="02020603050405020304" pitchFamily="18" charset="0"/>
              </a:rPr>
              <a:t>Screening/Preventive care decisions (Oster et al.) </a:t>
            </a:r>
          </a:p>
          <a:p>
            <a:pPr lvl="1"/>
            <a:r>
              <a:rPr lang="en-US" sz="2200" dirty="0">
                <a:cs typeface="Times New Roman" panose="02020603050405020304" pitchFamily="18" charset="0"/>
              </a:rPr>
              <a:t>Plan choices (Abaluck and Gruber)</a:t>
            </a:r>
          </a:p>
        </p:txBody>
      </p:sp>
      <p:pic>
        <p:nvPicPr>
          <p:cNvPr id="9" name="Picture 8">
            <a:extLst>
              <a:ext uri="{FF2B5EF4-FFF2-40B4-BE49-F238E27FC236}">
                <a16:creationId xmlns:a16="http://schemas.microsoft.com/office/drawing/2014/main" id="{0723D9E2-E63B-4D97-CA90-C0A6FBB87030}"/>
              </a:ext>
            </a:extLst>
          </p:cNvPr>
          <p:cNvPicPr>
            <a:picLocks noChangeAspect="1"/>
          </p:cNvPicPr>
          <p:nvPr/>
        </p:nvPicPr>
        <p:blipFill>
          <a:blip r:embed="rId3"/>
          <a:stretch>
            <a:fillRect/>
          </a:stretch>
        </p:blipFill>
        <p:spPr>
          <a:xfrm>
            <a:off x="6477000" y="3402904"/>
            <a:ext cx="4368925" cy="3099419"/>
          </a:xfrm>
          <a:prstGeom prst="rect">
            <a:avLst/>
          </a:prstGeom>
        </p:spPr>
      </p:pic>
    </p:spTree>
    <p:extLst>
      <p:ext uri="{BB962C8B-B14F-4D97-AF65-F5344CB8AC3E}">
        <p14:creationId xmlns:p14="http://schemas.microsoft.com/office/powerpoint/2010/main" val="31250921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058400" cy="624840"/>
          </a:xfrm>
        </p:spPr>
        <p:txBody>
          <a:bodyPr>
            <a:normAutofit fontScale="90000"/>
          </a:bodyPr>
          <a:lstStyle/>
          <a:p>
            <a:r>
              <a:rPr lang="en-US" dirty="0">
                <a:solidFill>
                  <a:schemeClr val="accent2">
                    <a:lumMod val="75000"/>
                  </a:schemeClr>
                </a:solidFill>
                <a:cs typeface="Times New Roman" panose="02020603050405020304" pitchFamily="18" charset="0"/>
              </a:rPr>
              <a:t>Last time: Individual Health Behaviors</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215434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Patients act weird! How should we think about this positively? Normatively?</a:t>
            </a:r>
          </a:p>
          <a:p>
            <a:r>
              <a:rPr lang="en-US" sz="2400" dirty="0">
                <a:cs typeface="Times New Roman" panose="02020603050405020304" pitchFamily="18" charset="0"/>
              </a:rPr>
              <a:t>How to write a “niche” model </a:t>
            </a:r>
          </a:p>
          <a:p>
            <a:r>
              <a:rPr lang="en-US" sz="2400" dirty="0">
                <a:cs typeface="Times New Roman" panose="02020603050405020304" pitchFamily="18" charset="0"/>
              </a:rPr>
              <a:t>3 Core Examples:</a:t>
            </a:r>
          </a:p>
          <a:p>
            <a:pPr lvl="1"/>
            <a:r>
              <a:rPr lang="en-US" sz="2200" dirty="0">
                <a:cs typeface="Times New Roman" panose="02020603050405020304" pitchFamily="18" charset="0"/>
              </a:rPr>
              <a:t>Addiction (Becker and Murphy)</a:t>
            </a:r>
          </a:p>
          <a:p>
            <a:pPr lvl="1"/>
            <a:r>
              <a:rPr lang="en-US" sz="2200" dirty="0">
                <a:cs typeface="Times New Roman" panose="02020603050405020304" pitchFamily="18" charset="0"/>
              </a:rPr>
              <a:t>Screening/Preventive care decisions (Oster et al.) </a:t>
            </a:r>
          </a:p>
          <a:p>
            <a:pPr lvl="1"/>
            <a:r>
              <a:rPr lang="en-US" sz="2200" dirty="0">
                <a:cs typeface="Times New Roman" panose="02020603050405020304" pitchFamily="18" charset="0"/>
              </a:rPr>
              <a:t>Plan choices (Abaluck and Gruber)</a:t>
            </a:r>
          </a:p>
          <a:p>
            <a:endParaRPr lang="en-US" sz="2400" dirty="0">
              <a:cs typeface="Times New Roman" panose="02020603050405020304" pitchFamily="18" charset="0"/>
            </a:endParaRPr>
          </a:p>
        </p:txBody>
      </p:sp>
      <p:sp>
        <p:nvSpPr>
          <p:cNvPr id="3" name="Title 1">
            <a:extLst>
              <a:ext uri="{FF2B5EF4-FFF2-40B4-BE49-F238E27FC236}">
                <a16:creationId xmlns:a16="http://schemas.microsoft.com/office/drawing/2014/main" id="{8B00CFD6-47D4-A5ED-8B83-09DCEAB85E25}"/>
              </a:ext>
            </a:extLst>
          </p:cNvPr>
          <p:cNvSpPr txBox="1">
            <a:spLocks/>
          </p:cNvSpPr>
          <p:nvPr/>
        </p:nvSpPr>
        <p:spPr>
          <a:xfrm>
            <a:off x="597074" y="3581400"/>
            <a:ext cx="8851726" cy="624840"/>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dirty="0">
                <a:solidFill>
                  <a:schemeClr val="accent2">
                    <a:lumMod val="75000"/>
                  </a:schemeClr>
                </a:solidFill>
                <a:cs typeface="Times New Roman" panose="02020603050405020304" pitchFamily="18" charset="0"/>
              </a:rPr>
              <a:t>This time: Behavioral Health Economics</a:t>
            </a:r>
          </a:p>
        </p:txBody>
      </p:sp>
      <p:sp>
        <p:nvSpPr>
          <p:cNvPr id="4" name="Content Placeholder 2">
            <a:extLst>
              <a:ext uri="{FF2B5EF4-FFF2-40B4-BE49-F238E27FC236}">
                <a16:creationId xmlns:a16="http://schemas.microsoft.com/office/drawing/2014/main" id="{503F776D-A7DB-4AED-9B16-D81631B561AC}"/>
              </a:ext>
            </a:extLst>
          </p:cNvPr>
          <p:cNvSpPr txBox="1">
            <a:spLocks/>
          </p:cNvSpPr>
          <p:nvPr/>
        </p:nvSpPr>
        <p:spPr>
          <a:xfrm>
            <a:off x="609600" y="4114800"/>
            <a:ext cx="10439400" cy="1661225"/>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Departures from “rational agent” models</a:t>
            </a:r>
          </a:p>
          <a:p>
            <a:r>
              <a:rPr lang="en-US" sz="2400" dirty="0">
                <a:cs typeface="Times New Roman" panose="02020603050405020304" pitchFamily="18" charset="0"/>
              </a:rPr>
              <a:t>Applications to: </a:t>
            </a:r>
          </a:p>
          <a:p>
            <a:pPr lvl="1"/>
            <a:r>
              <a:rPr lang="en-US" sz="2000" dirty="0">
                <a:cs typeface="Times New Roman" panose="02020603050405020304" pitchFamily="18" charset="0"/>
              </a:rPr>
              <a:t>Health behaviors (diet, exercise, addiction)</a:t>
            </a:r>
          </a:p>
          <a:p>
            <a:pPr lvl="1"/>
            <a:r>
              <a:rPr lang="en-US" sz="2000" dirty="0">
                <a:cs typeface="Times New Roman" panose="02020603050405020304" pitchFamily="18" charset="0"/>
              </a:rPr>
              <a:t>End-of-life care and other treatments (as well as </a:t>
            </a:r>
            <a:r>
              <a:rPr lang="en-US" sz="2000" b="1" dirty="0">
                <a:cs typeface="Times New Roman" panose="02020603050405020304" pitchFamily="18" charset="0"/>
              </a:rPr>
              <a:t>adherence</a:t>
            </a:r>
            <a:r>
              <a:rPr lang="en-US" sz="2000" dirty="0">
                <a:cs typeface="Times New Roman" panose="02020603050405020304" pitchFamily="18" charset="0"/>
              </a:rPr>
              <a:t>)</a:t>
            </a:r>
          </a:p>
          <a:p>
            <a:pPr lvl="1"/>
            <a:r>
              <a:rPr lang="en-US" sz="2000" dirty="0">
                <a:cs typeface="Times New Roman" panose="02020603050405020304" pitchFamily="18" charset="0"/>
              </a:rPr>
              <a:t>Insurance choice</a:t>
            </a:r>
          </a:p>
          <a:p>
            <a:pPr lvl="1"/>
            <a:r>
              <a:rPr lang="en-US" sz="2000" b="1" u="sng" dirty="0">
                <a:cs typeface="Times New Roman" panose="02020603050405020304" pitchFamily="18" charset="0"/>
              </a:rPr>
              <a:t>Provider treatment decisions, responses to incentives (nudges), use of information </a:t>
            </a:r>
          </a:p>
          <a:p>
            <a:pPr lvl="1"/>
            <a:endParaRPr lang="en-US" sz="2000" dirty="0">
              <a:cs typeface="Times New Roman" panose="02020603050405020304" pitchFamily="18" charset="0"/>
            </a:endParaRPr>
          </a:p>
        </p:txBody>
      </p:sp>
    </p:spTree>
    <p:extLst>
      <p:ext uri="{BB962C8B-B14F-4D97-AF65-F5344CB8AC3E}">
        <p14:creationId xmlns:p14="http://schemas.microsoft.com/office/powerpoint/2010/main" val="565854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makes a model “Behavioral”?</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0" indent="0">
              <a:spcAft>
                <a:spcPts val="400"/>
              </a:spcAft>
              <a:buNone/>
              <a:defRPr/>
            </a:pPr>
            <a:r>
              <a:rPr lang="en-US" sz="2400" dirty="0"/>
              <a:t>Neoclassical models can be restrictive: </a:t>
            </a:r>
          </a:p>
          <a:p>
            <a:pPr marL="457200" indent="-457200">
              <a:spcAft>
                <a:spcPts val="400"/>
              </a:spcAft>
              <a:buFont typeface="+mj-lt"/>
              <a:buAutoNum type="arabicPeriod"/>
              <a:defRPr/>
            </a:pPr>
            <a:r>
              <a:rPr lang="en-US" sz="2400" dirty="0"/>
              <a:t>Economic agents are assumed to be perfectly rational</a:t>
            </a:r>
          </a:p>
          <a:p>
            <a:pPr marL="457200" indent="-457200">
              <a:spcAft>
                <a:spcPts val="400"/>
              </a:spcAft>
              <a:buFont typeface="+mj-lt"/>
              <a:buAutoNum type="arabicPeriod"/>
              <a:defRPr/>
            </a:pPr>
            <a:r>
              <a:rPr lang="en-US" sz="2400" dirty="0"/>
              <a:t>Agents are assumed to perfectly understand risk and uncertainty</a:t>
            </a:r>
          </a:p>
          <a:p>
            <a:pPr marL="457200" indent="-457200">
              <a:spcAft>
                <a:spcPts val="400"/>
              </a:spcAft>
              <a:buFont typeface="+mj-lt"/>
              <a:buAutoNum type="arabicPeriod"/>
              <a:defRPr/>
            </a:pPr>
            <a:r>
              <a:rPr lang="en-US" sz="2400" dirty="0"/>
              <a:t>Agents are assumed to be “self-interested”</a:t>
            </a:r>
          </a:p>
          <a:p>
            <a:pPr marL="0" indent="0">
              <a:spcAft>
                <a:spcPts val="400"/>
              </a:spcAft>
              <a:buNone/>
              <a:defRPr/>
            </a:pPr>
            <a:r>
              <a:rPr lang="en-US" sz="2400" dirty="0"/>
              <a:t>In reality, these are </a:t>
            </a:r>
            <a:r>
              <a:rPr lang="en-US" sz="2400" b="1" dirty="0">
                <a:solidFill>
                  <a:schemeClr val="accent2">
                    <a:lumMod val="75000"/>
                  </a:schemeClr>
                </a:solidFill>
              </a:rPr>
              <a:t>rarely true!</a:t>
            </a:r>
          </a:p>
          <a:p>
            <a:endParaRPr lang="en-US" sz="2400" dirty="0"/>
          </a:p>
          <a:p>
            <a:pPr lvl="1"/>
            <a:endParaRPr lang="en-US" sz="2200" dirty="0">
              <a:cs typeface="Times New Roman" panose="02020603050405020304" pitchFamily="18" charset="0"/>
            </a:endParaRPr>
          </a:p>
        </p:txBody>
      </p:sp>
    </p:spTree>
    <p:extLst>
      <p:ext uri="{BB962C8B-B14F-4D97-AF65-F5344CB8AC3E}">
        <p14:creationId xmlns:p14="http://schemas.microsoft.com/office/powerpoint/2010/main" val="3289047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makes a model “Behavioral”?</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0" indent="0">
              <a:spcAft>
                <a:spcPts val="400"/>
              </a:spcAft>
              <a:buNone/>
              <a:defRPr/>
            </a:pPr>
            <a:r>
              <a:rPr lang="en-US" sz="2400" dirty="0"/>
              <a:t>Neoclassical models can be restrictive: </a:t>
            </a:r>
          </a:p>
          <a:p>
            <a:pPr marL="457200" indent="-457200">
              <a:spcAft>
                <a:spcPts val="400"/>
              </a:spcAft>
              <a:buFont typeface="+mj-lt"/>
              <a:buAutoNum type="arabicPeriod"/>
              <a:defRPr/>
            </a:pPr>
            <a:r>
              <a:rPr lang="en-US" sz="2400" dirty="0"/>
              <a:t>Economic agents are assumed to be perfectly rational</a:t>
            </a:r>
          </a:p>
          <a:p>
            <a:pPr marL="457200" indent="-457200">
              <a:spcAft>
                <a:spcPts val="400"/>
              </a:spcAft>
              <a:buFont typeface="+mj-lt"/>
              <a:buAutoNum type="arabicPeriod"/>
              <a:defRPr/>
            </a:pPr>
            <a:r>
              <a:rPr lang="en-US" sz="2400" dirty="0"/>
              <a:t>Agents are assumed to perfectly understand risk and uncertainty</a:t>
            </a:r>
          </a:p>
          <a:p>
            <a:pPr marL="457200" indent="-457200">
              <a:spcAft>
                <a:spcPts val="400"/>
              </a:spcAft>
              <a:buFont typeface="+mj-lt"/>
              <a:buAutoNum type="arabicPeriod"/>
              <a:defRPr/>
            </a:pPr>
            <a:r>
              <a:rPr lang="en-US" sz="2400" dirty="0"/>
              <a:t>Agents are assumed to be “self-interested”</a:t>
            </a:r>
          </a:p>
          <a:p>
            <a:pPr marL="0" indent="0">
              <a:spcAft>
                <a:spcPts val="400"/>
              </a:spcAft>
              <a:buNone/>
              <a:defRPr/>
            </a:pPr>
            <a:r>
              <a:rPr lang="en-US" sz="2400" dirty="0"/>
              <a:t>In reality, these are </a:t>
            </a:r>
            <a:r>
              <a:rPr lang="en-US" sz="2400" b="1" dirty="0">
                <a:solidFill>
                  <a:schemeClr val="accent2">
                    <a:lumMod val="75000"/>
                  </a:schemeClr>
                </a:solidFill>
              </a:rPr>
              <a:t>rarely true!</a:t>
            </a:r>
          </a:p>
          <a:p>
            <a:pPr marL="0" indent="0">
              <a:spcAft>
                <a:spcPts val="400"/>
              </a:spcAft>
              <a:buNone/>
              <a:defRPr/>
            </a:pPr>
            <a:r>
              <a:rPr lang="en-US" sz="2400" b="1" dirty="0"/>
              <a:t>Behavioral economics</a:t>
            </a:r>
            <a:r>
              <a:rPr lang="en-US" sz="2400" dirty="0"/>
              <a:t> incorporates insights from human psychology into models of economic behavior</a:t>
            </a:r>
          </a:p>
          <a:p>
            <a:pPr lvl="1"/>
            <a:endParaRPr lang="en-US" sz="2200" dirty="0">
              <a:cs typeface="Times New Roman" panose="02020603050405020304" pitchFamily="18" charset="0"/>
            </a:endParaRPr>
          </a:p>
        </p:txBody>
      </p:sp>
    </p:spTree>
    <p:extLst>
      <p:ext uri="{BB962C8B-B14F-4D97-AF65-F5344CB8AC3E}">
        <p14:creationId xmlns:p14="http://schemas.microsoft.com/office/powerpoint/2010/main" val="13367153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What makes a model “Behavioral”?</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endParaRPr lang="en-US" sz="2200" dirty="0">
              <a:cs typeface="Times New Roman" panose="02020603050405020304" pitchFamily="18" charset="0"/>
            </a:endParaRPr>
          </a:p>
        </p:txBody>
      </p:sp>
      <p:pic>
        <p:nvPicPr>
          <p:cNvPr id="1026" name="Picture 2" descr="What is Behavioral Economics? - Irrational Labs">
            <a:extLst>
              <a:ext uri="{FF2B5EF4-FFF2-40B4-BE49-F238E27FC236}">
                <a16:creationId xmlns:a16="http://schemas.microsoft.com/office/drawing/2014/main" id="{1266B32B-0075-C05B-397B-C809B0B8A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 y="1066801"/>
            <a:ext cx="9365601" cy="48942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76528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62000" y="1066800"/>
            <a:ext cx="10134600" cy="5257800"/>
          </a:xfrm>
        </p:spPr>
        <p:txBody>
          <a:bodyPr>
            <a:normAutofit/>
          </a:bodyPr>
          <a:lstStyle/>
          <a:p>
            <a:r>
              <a:rPr lang="en-US" sz="2400" dirty="0"/>
              <a:t>You are in charge of a pandemic response: </a:t>
            </a:r>
          </a:p>
          <a:p>
            <a:pPr lvl="1"/>
            <a:r>
              <a:rPr lang="en-US" sz="2200" dirty="0"/>
              <a:t>Your best estimate is that 600 will die if no action is taken. </a:t>
            </a:r>
          </a:p>
          <a:p>
            <a:r>
              <a:rPr lang="en-US" sz="2400" dirty="0"/>
              <a:t>You are given a choice between 2 programs to address the crisis:</a:t>
            </a:r>
          </a:p>
          <a:p>
            <a:pPr lvl="1" indent="0">
              <a:buNone/>
            </a:pPr>
            <a:endParaRPr lang="en-US" sz="2400" dirty="0"/>
          </a:p>
        </p:txBody>
      </p:sp>
      <p:sp>
        <p:nvSpPr>
          <p:cNvPr id="5" name="Title 1">
            <a:extLst>
              <a:ext uri="{FF2B5EF4-FFF2-40B4-BE49-F238E27FC236}">
                <a16:creationId xmlns:a16="http://schemas.microsoft.com/office/drawing/2014/main" id="{2B89ED87-4843-2948-A235-EAE4FD63B58C}"/>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Example Exercise: Pandemic Responses</a:t>
            </a:r>
          </a:p>
        </p:txBody>
      </p:sp>
      <p:sp>
        <p:nvSpPr>
          <p:cNvPr id="7" name="TextBox 6">
            <a:extLst>
              <a:ext uri="{FF2B5EF4-FFF2-40B4-BE49-F238E27FC236}">
                <a16:creationId xmlns:a16="http://schemas.microsoft.com/office/drawing/2014/main" id="{83570AA9-FBAD-AFDD-B124-4B4471BAFAF8}"/>
              </a:ext>
            </a:extLst>
          </p:cNvPr>
          <p:cNvSpPr txBox="1"/>
          <p:nvPr/>
        </p:nvSpPr>
        <p:spPr>
          <a:xfrm>
            <a:off x="381000" y="2572663"/>
            <a:ext cx="6934200" cy="2031325"/>
          </a:xfrm>
          <a:prstGeom prst="rect">
            <a:avLst/>
          </a:prstGeom>
          <a:solidFill>
            <a:schemeClr val="accent2">
              <a:lumMod val="75000"/>
            </a:schemeClr>
          </a:solidFill>
          <a:ln>
            <a:solidFill>
              <a:schemeClr val="accent1">
                <a:lumMod val="75000"/>
              </a:schemeClr>
            </a:solidFill>
          </a:ln>
        </p:spPr>
        <p:txBody>
          <a:bodyPr wrap="square" rtlCol="0">
            <a:spAutoFit/>
          </a:bodyPr>
          <a:lstStyle/>
          <a:p>
            <a:pPr marL="0" indent="0">
              <a:buNone/>
            </a:pPr>
            <a:r>
              <a:rPr lang="en-US" b="1" dirty="0">
                <a:solidFill>
                  <a:schemeClr val="bg1"/>
                </a:solidFill>
              </a:rPr>
              <a:t>Program 1:</a:t>
            </a:r>
          </a:p>
          <a:p>
            <a:pPr marL="285750" indent="-285750">
              <a:buFont typeface="Arial" panose="020B0604020202020204" pitchFamily="34" charset="0"/>
              <a:buChar char="•"/>
            </a:pPr>
            <a:r>
              <a:rPr lang="en-US" dirty="0">
                <a:solidFill>
                  <a:schemeClr val="bg1"/>
                </a:solidFill>
              </a:rPr>
              <a:t>Response A will save 200 people.</a:t>
            </a:r>
          </a:p>
          <a:p>
            <a:pPr marL="285750" indent="-285750">
              <a:buFont typeface="Arial" panose="020B0604020202020204" pitchFamily="34" charset="0"/>
              <a:buChar char="•"/>
            </a:pPr>
            <a:r>
              <a:rPr lang="en-US" dirty="0">
                <a:solidFill>
                  <a:schemeClr val="bg1"/>
                </a:solidFill>
              </a:rPr>
              <a:t>Response B is risky. It has a 1/3 chance to save all 600 people but a 2/3 chance to save no one.</a:t>
            </a:r>
          </a:p>
          <a:p>
            <a:pPr marL="285750" indent="-285750">
              <a:buFont typeface="Arial" panose="020B0604020202020204" pitchFamily="34" charset="0"/>
              <a:buChar char="•"/>
            </a:pPr>
            <a:endParaRPr lang="en-US" dirty="0">
              <a:solidFill>
                <a:schemeClr val="bg1"/>
              </a:solidFill>
            </a:endParaRPr>
          </a:p>
          <a:p>
            <a:pPr marL="0" indent="0">
              <a:buNone/>
            </a:pPr>
            <a:r>
              <a:rPr lang="en-US" i="1" dirty="0">
                <a:solidFill>
                  <a:schemeClr val="bg1"/>
                </a:solidFill>
              </a:rPr>
              <a:t>Which do you choose?</a:t>
            </a:r>
          </a:p>
          <a:p>
            <a:endParaRPr lang="en-US" dirty="0">
              <a:solidFill>
                <a:schemeClr val="bg1"/>
              </a:solidFill>
            </a:endParaRPr>
          </a:p>
        </p:txBody>
      </p:sp>
    </p:spTree>
    <p:extLst>
      <p:ext uri="{BB962C8B-B14F-4D97-AF65-F5344CB8AC3E}">
        <p14:creationId xmlns:p14="http://schemas.microsoft.com/office/powerpoint/2010/main" val="19556996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62000" y="1066800"/>
            <a:ext cx="10134600" cy="5257800"/>
          </a:xfrm>
        </p:spPr>
        <p:txBody>
          <a:bodyPr>
            <a:normAutofit/>
          </a:bodyPr>
          <a:lstStyle/>
          <a:p>
            <a:r>
              <a:rPr lang="en-US" sz="2400" dirty="0"/>
              <a:t>You are in charge of a pandemic response: </a:t>
            </a:r>
          </a:p>
          <a:p>
            <a:pPr lvl="1"/>
            <a:r>
              <a:rPr lang="en-US" sz="2200" dirty="0"/>
              <a:t>Your best estimate is that 600 will die if no action is taken. </a:t>
            </a:r>
          </a:p>
          <a:p>
            <a:r>
              <a:rPr lang="en-US" sz="2400" dirty="0"/>
              <a:t>You are given a choice between 2 programs to address the crisis:</a:t>
            </a:r>
          </a:p>
          <a:p>
            <a:pPr lvl="1" indent="0">
              <a:buNone/>
            </a:pPr>
            <a:endParaRPr lang="en-US" sz="2400" dirty="0"/>
          </a:p>
        </p:txBody>
      </p:sp>
      <p:sp>
        <p:nvSpPr>
          <p:cNvPr id="5" name="Title 1">
            <a:extLst>
              <a:ext uri="{FF2B5EF4-FFF2-40B4-BE49-F238E27FC236}">
                <a16:creationId xmlns:a16="http://schemas.microsoft.com/office/drawing/2014/main" id="{2B89ED87-4843-2948-A235-EAE4FD63B58C}"/>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Example Exercise: Pandemic Responses</a:t>
            </a:r>
          </a:p>
        </p:txBody>
      </p:sp>
      <p:sp>
        <p:nvSpPr>
          <p:cNvPr id="9" name="TextBox 8">
            <a:extLst>
              <a:ext uri="{FF2B5EF4-FFF2-40B4-BE49-F238E27FC236}">
                <a16:creationId xmlns:a16="http://schemas.microsoft.com/office/drawing/2014/main" id="{F37FA88E-416E-8613-EFD8-6D0083542850}"/>
              </a:ext>
            </a:extLst>
          </p:cNvPr>
          <p:cNvSpPr txBox="1"/>
          <p:nvPr/>
        </p:nvSpPr>
        <p:spPr>
          <a:xfrm>
            <a:off x="5586608" y="4779384"/>
            <a:ext cx="5469699" cy="2023631"/>
          </a:xfrm>
          <a:prstGeom prst="rect">
            <a:avLst/>
          </a:prstGeom>
          <a:solidFill>
            <a:schemeClr val="accent3">
              <a:lumMod val="75000"/>
            </a:schemeClr>
          </a:solidFill>
          <a:ln>
            <a:solidFill>
              <a:schemeClr val="accent1">
                <a:lumMod val="75000"/>
              </a:schemeClr>
            </a:solidFill>
          </a:ln>
        </p:spPr>
        <p:txBody>
          <a:bodyPr wrap="square" rtlCol="0">
            <a:spAutoFit/>
          </a:bodyPr>
          <a:lstStyle/>
          <a:p>
            <a:pPr marL="0" marR="0" lvl="0" indent="0" algn="l" defTabSz="914400" rtl="0" eaLnBrk="1" fontAlgn="auto" latinLnBrk="0" hangingPunct="1">
              <a:lnSpc>
                <a:spcPct val="95000"/>
              </a:lnSpc>
              <a:spcBef>
                <a:spcPts val="1400"/>
              </a:spcBef>
              <a:spcAft>
                <a:spcPts val="200"/>
              </a:spcAft>
              <a:buClr>
                <a:srgbClr val="6F6F74"/>
              </a:buClr>
              <a:buSzPct val="80000"/>
              <a:buFont typeface="Arial" pitchFamily="34" charset="0"/>
              <a:buNone/>
              <a:tabLst/>
              <a:defRPr/>
            </a:pPr>
            <a:r>
              <a:rPr kumimoji="0" lang="en-US" sz="1800" b="1" i="0"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Program 2</a:t>
            </a:r>
          </a:p>
          <a:p>
            <a:pPr marL="285750" marR="0" lvl="0" indent="-285750" algn="l" defTabSz="914400" rtl="0" eaLnBrk="1" fontAlgn="auto" latinLnBrk="0" hangingPunct="1">
              <a:lnSpc>
                <a:spcPct val="95000"/>
              </a:lnSpc>
              <a:spcBef>
                <a:spcPts val="1400"/>
              </a:spcBef>
              <a:spcAft>
                <a:spcPts val="200"/>
              </a:spcAft>
              <a:buClr>
                <a:srgbClr val="6F6F74"/>
              </a:buClr>
              <a:buSzPct val="80000"/>
              <a:buFont typeface="Arial" panose="020B0604020202020204" pitchFamily="34" charset="0"/>
              <a:buChar char="•"/>
              <a:tabLst/>
              <a:defRPr/>
            </a:pPr>
            <a:r>
              <a:rPr kumimoji="0" lang="en-US" sz="1800" b="0" i="0"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Response C 400 people will die for certain.</a:t>
            </a:r>
          </a:p>
          <a:p>
            <a:pPr marL="285750" marR="0" lvl="0" indent="-285750" algn="l" defTabSz="914400" rtl="0" eaLnBrk="1" fontAlgn="auto" latinLnBrk="0" hangingPunct="1">
              <a:lnSpc>
                <a:spcPct val="95000"/>
              </a:lnSpc>
              <a:spcBef>
                <a:spcPts val="1400"/>
              </a:spcBef>
              <a:spcAft>
                <a:spcPts val="200"/>
              </a:spcAft>
              <a:buClr>
                <a:srgbClr val="6F6F74"/>
              </a:buClr>
              <a:buSzPct val="80000"/>
              <a:buFont typeface="Arial" panose="020B0604020202020204" pitchFamily="34" charset="0"/>
              <a:buChar char="•"/>
              <a:tabLst/>
              <a:defRPr/>
            </a:pPr>
            <a:r>
              <a:rPr kumimoji="0" lang="en-US" sz="1800" b="0" i="0"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Response D there is a 1/3 chance that no one will die and a 2/3 chance that everyone will die.  </a:t>
            </a:r>
          </a:p>
          <a:p>
            <a:pPr marL="0" marR="0" lvl="0" indent="0" algn="l" defTabSz="914400" rtl="0" eaLnBrk="1" fontAlgn="auto" latinLnBrk="0" hangingPunct="1">
              <a:lnSpc>
                <a:spcPct val="95000"/>
              </a:lnSpc>
              <a:spcBef>
                <a:spcPts val="1400"/>
              </a:spcBef>
              <a:spcAft>
                <a:spcPts val="200"/>
              </a:spcAft>
              <a:buClr>
                <a:srgbClr val="6F6F74"/>
              </a:buClr>
              <a:buSzPct val="80000"/>
              <a:buFont typeface="Arial" pitchFamily="34" charset="0"/>
              <a:buNone/>
              <a:tabLst/>
              <a:defRPr/>
            </a:pPr>
            <a:r>
              <a:rPr kumimoji="0" lang="en-US" sz="1800" b="0" i="1"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Which do you choose?</a:t>
            </a:r>
          </a:p>
        </p:txBody>
      </p:sp>
    </p:spTree>
    <p:extLst>
      <p:ext uri="{BB962C8B-B14F-4D97-AF65-F5344CB8AC3E}">
        <p14:creationId xmlns:p14="http://schemas.microsoft.com/office/powerpoint/2010/main" val="28137247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62000" y="1066800"/>
            <a:ext cx="10134600" cy="5257800"/>
          </a:xfrm>
        </p:spPr>
        <p:txBody>
          <a:bodyPr>
            <a:normAutofit/>
          </a:bodyPr>
          <a:lstStyle/>
          <a:p>
            <a:r>
              <a:rPr lang="en-US" sz="2400" dirty="0"/>
              <a:t>Consistent response was A and C, or B and D (only </a:t>
            </a:r>
            <a:r>
              <a:rPr lang="en-US" sz="2400" b="1" dirty="0">
                <a:solidFill>
                  <a:schemeClr val="accent3">
                    <a:lumMod val="75000"/>
                  </a:schemeClr>
                </a:solidFill>
              </a:rPr>
              <a:t>framing</a:t>
            </a:r>
            <a:r>
              <a:rPr lang="en-US" sz="2400" b="1" dirty="0"/>
              <a:t> </a:t>
            </a:r>
            <a:r>
              <a:rPr lang="en-US" sz="2400" dirty="0"/>
              <a:t>is different)</a:t>
            </a:r>
          </a:p>
          <a:p>
            <a:r>
              <a:rPr lang="en-US" sz="2400" dirty="0"/>
              <a:t>Experimental responses: 73% picked response A for program 1 while 78% choose response D for program 2. </a:t>
            </a:r>
            <a:r>
              <a:rPr lang="en-US" sz="2400" b="1" u="sng" dirty="0">
                <a:solidFill>
                  <a:schemeClr val="accent3">
                    <a:lumMod val="75000"/>
                  </a:schemeClr>
                </a:solidFill>
              </a:rPr>
              <a:t>Why?</a:t>
            </a:r>
          </a:p>
          <a:p>
            <a:pPr lvl="1" indent="0">
              <a:buNone/>
            </a:pPr>
            <a:endParaRPr lang="en-US" sz="2400" dirty="0"/>
          </a:p>
        </p:txBody>
      </p:sp>
      <p:sp>
        <p:nvSpPr>
          <p:cNvPr id="5" name="Title 1">
            <a:extLst>
              <a:ext uri="{FF2B5EF4-FFF2-40B4-BE49-F238E27FC236}">
                <a16:creationId xmlns:a16="http://schemas.microsoft.com/office/drawing/2014/main" id="{2B89ED87-4843-2948-A235-EAE4FD63B58C}"/>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Example Exercise: Pandemic Responses</a:t>
            </a:r>
          </a:p>
        </p:txBody>
      </p:sp>
      <p:sp>
        <p:nvSpPr>
          <p:cNvPr id="7" name="TextBox 6">
            <a:extLst>
              <a:ext uri="{FF2B5EF4-FFF2-40B4-BE49-F238E27FC236}">
                <a16:creationId xmlns:a16="http://schemas.microsoft.com/office/drawing/2014/main" id="{83570AA9-FBAD-AFDD-B124-4B4471BAFAF8}"/>
              </a:ext>
            </a:extLst>
          </p:cNvPr>
          <p:cNvSpPr txBox="1"/>
          <p:nvPr/>
        </p:nvSpPr>
        <p:spPr>
          <a:xfrm>
            <a:off x="381000" y="2590800"/>
            <a:ext cx="6934200" cy="2031325"/>
          </a:xfrm>
          <a:prstGeom prst="rect">
            <a:avLst/>
          </a:prstGeom>
          <a:solidFill>
            <a:schemeClr val="accent2">
              <a:lumMod val="75000"/>
            </a:schemeClr>
          </a:solidFill>
          <a:ln>
            <a:solidFill>
              <a:schemeClr val="accent1">
                <a:lumMod val="75000"/>
              </a:schemeClr>
            </a:solidFill>
          </a:ln>
        </p:spPr>
        <p:txBody>
          <a:bodyPr wrap="square" rtlCol="0">
            <a:spAutoFit/>
          </a:bodyPr>
          <a:lstStyle/>
          <a:p>
            <a:pPr marL="0" indent="0">
              <a:buNone/>
            </a:pPr>
            <a:r>
              <a:rPr lang="en-US" b="1" dirty="0">
                <a:solidFill>
                  <a:schemeClr val="bg1"/>
                </a:solidFill>
              </a:rPr>
              <a:t>Program 1:</a:t>
            </a:r>
          </a:p>
          <a:p>
            <a:pPr marL="285750" indent="-285750">
              <a:buFont typeface="Arial" panose="020B0604020202020204" pitchFamily="34" charset="0"/>
              <a:buChar char="•"/>
            </a:pPr>
            <a:r>
              <a:rPr lang="en-US" dirty="0">
                <a:solidFill>
                  <a:schemeClr val="bg1"/>
                </a:solidFill>
              </a:rPr>
              <a:t>Response A will save 200 people.</a:t>
            </a:r>
          </a:p>
          <a:p>
            <a:pPr marL="285750" indent="-285750">
              <a:buFont typeface="Arial" panose="020B0604020202020204" pitchFamily="34" charset="0"/>
              <a:buChar char="•"/>
            </a:pPr>
            <a:r>
              <a:rPr lang="en-US" dirty="0">
                <a:solidFill>
                  <a:schemeClr val="bg1"/>
                </a:solidFill>
              </a:rPr>
              <a:t>Response B is risky. It has a 1/3 chance to save all 600 people but a 2/3 chance to save no one.</a:t>
            </a:r>
          </a:p>
          <a:p>
            <a:pPr marL="285750" indent="-285750">
              <a:buFont typeface="Arial" panose="020B0604020202020204" pitchFamily="34" charset="0"/>
              <a:buChar char="•"/>
            </a:pPr>
            <a:endParaRPr lang="en-US" dirty="0">
              <a:solidFill>
                <a:schemeClr val="bg1"/>
              </a:solidFill>
            </a:endParaRPr>
          </a:p>
          <a:p>
            <a:pPr marL="0" indent="0">
              <a:buNone/>
            </a:pPr>
            <a:r>
              <a:rPr lang="en-US" i="1" dirty="0">
                <a:solidFill>
                  <a:schemeClr val="bg1"/>
                </a:solidFill>
              </a:rPr>
              <a:t>Which do you choose?</a:t>
            </a:r>
          </a:p>
          <a:p>
            <a:endParaRPr lang="en-US" dirty="0">
              <a:solidFill>
                <a:schemeClr val="bg1"/>
              </a:solidFill>
            </a:endParaRPr>
          </a:p>
        </p:txBody>
      </p:sp>
      <p:sp>
        <p:nvSpPr>
          <p:cNvPr id="9" name="TextBox 8">
            <a:extLst>
              <a:ext uri="{FF2B5EF4-FFF2-40B4-BE49-F238E27FC236}">
                <a16:creationId xmlns:a16="http://schemas.microsoft.com/office/drawing/2014/main" id="{F37FA88E-416E-8613-EFD8-6D0083542850}"/>
              </a:ext>
            </a:extLst>
          </p:cNvPr>
          <p:cNvSpPr txBox="1"/>
          <p:nvPr/>
        </p:nvSpPr>
        <p:spPr>
          <a:xfrm>
            <a:off x="5586608" y="4779384"/>
            <a:ext cx="5469699" cy="2023631"/>
          </a:xfrm>
          <a:prstGeom prst="rect">
            <a:avLst/>
          </a:prstGeom>
          <a:solidFill>
            <a:schemeClr val="accent3">
              <a:lumMod val="75000"/>
            </a:schemeClr>
          </a:solidFill>
          <a:ln>
            <a:solidFill>
              <a:schemeClr val="accent1">
                <a:lumMod val="75000"/>
              </a:schemeClr>
            </a:solidFill>
          </a:ln>
        </p:spPr>
        <p:txBody>
          <a:bodyPr wrap="square" rtlCol="0">
            <a:spAutoFit/>
          </a:bodyPr>
          <a:lstStyle/>
          <a:p>
            <a:pPr marL="0" marR="0" lvl="0" indent="0" algn="l" defTabSz="914400" rtl="0" eaLnBrk="1" fontAlgn="auto" latinLnBrk="0" hangingPunct="1">
              <a:lnSpc>
                <a:spcPct val="95000"/>
              </a:lnSpc>
              <a:spcBef>
                <a:spcPts val="1400"/>
              </a:spcBef>
              <a:spcAft>
                <a:spcPts val="200"/>
              </a:spcAft>
              <a:buClr>
                <a:srgbClr val="6F6F74"/>
              </a:buClr>
              <a:buSzPct val="80000"/>
              <a:buFont typeface="Arial" pitchFamily="34" charset="0"/>
              <a:buNone/>
              <a:tabLst/>
              <a:defRPr/>
            </a:pPr>
            <a:r>
              <a:rPr kumimoji="0" lang="en-US" sz="1800" b="1" i="0"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Program 2</a:t>
            </a:r>
          </a:p>
          <a:p>
            <a:pPr marL="285750" marR="0" lvl="0" indent="-285750" algn="l" defTabSz="914400" rtl="0" eaLnBrk="1" fontAlgn="auto" latinLnBrk="0" hangingPunct="1">
              <a:lnSpc>
                <a:spcPct val="95000"/>
              </a:lnSpc>
              <a:spcBef>
                <a:spcPts val="1400"/>
              </a:spcBef>
              <a:spcAft>
                <a:spcPts val="200"/>
              </a:spcAft>
              <a:buClr>
                <a:srgbClr val="6F6F74"/>
              </a:buClr>
              <a:buSzPct val="80000"/>
              <a:buFont typeface="Arial" panose="020B0604020202020204" pitchFamily="34" charset="0"/>
              <a:buChar char="•"/>
              <a:tabLst/>
              <a:defRPr/>
            </a:pPr>
            <a:r>
              <a:rPr kumimoji="0" lang="en-US" sz="1800" b="0" i="0"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Response C 400 people will die for certain.</a:t>
            </a:r>
          </a:p>
          <a:p>
            <a:pPr marL="285750" marR="0" lvl="0" indent="-285750" algn="l" defTabSz="914400" rtl="0" eaLnBrk="1" fontAlgn="auto" latinLnBrk="0" hangingPunct="1">
              <a:lnSpc>
                <a:spcPct val="95000"/>
              </a:lnSpc>
              <a:spcBef>
                <a:spcPts val="1400"/>
              </a:spcBef>
              <a:spcAft>
                <a:spcPts val="200"/>
              </a:spcAft>
              <a:buClr>
                <a:srgbClr val="6F6F74"/>
              </a:buClr>
              <a:buSzPct val="80000"/>
              <a:buFont typeface="Arial" panose="020B0604020202020204" pitchFamily="34" charset="0"/>
              <a:buChar char="•"/>
              <a:tabLst/>
              <a:defRPr/>
            </a:pPr>
            <a:r>
              <a:rPr kumimoji="0" lang="en-US" sz="1800" b="0" i="0"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Response D there is a 1/3 chance that no one will die and a 2/3 chance that everyone will die.  </a:t>
            </a:r>
          </a:p>
          <a:p>
            <a:pPr marL="0" marR="0" lvl="0" indent="0" algn="l" defTabSz="914400" rtl="0" eaLnBrk="1" fontAlgn="auto" latinLnBrk="0" hangingPunct="1">
              <a:lnSpc>
                <a:spcPct val="95000"/>
              </a:lnSpc>
              <a:spcBef>
                <a:spcPts val="1400"/>
              </a:spcBef>
              <a:spcAft>
                <a:spcPts val="200"/>
              </a:spcAft>
              <a:buClr>
                <a:srgbClr val="6F6F74"/>
              </a:buClr>
              <a:buSzPct val="80000"/>
              <a:buFont typeface="Arial" pitchFamily="34" charset="0"/>
              <a:buNone/>
              <a:tabLst/>
              <a:defRPr/>
            </a:pPr>
            <a:r>
              <a:rPr kumimoji="0" lang="en-US" sz="1800" b="0" i="1" u="none" strike="noStrike" kern="1200" cap="none" spc="10" normalizeH="0" baseline="0" noProof="0" dirty="0">
                <a:ln>
                  <a:noFill/>
                </a:ln>
                <a:solidFill>
                  <a:schemeClr val="bg1"/>
                </a:solidFill>
                <a:effectLst/>
                <a:uLnTx/>
                <a:uFillTx/>
                <a:latin typeface="Times New Roman" panose="02020603050405020304" pitchFamily="18" charset="0"/>
                <a:ea typeface="+mn-ea"/>
                <a:cs typeface="+mn-cs"/>
              </a:rPr>
              <a:t>Which do you choose?</a:t>
            </a:r>
          </a:p>
        </p:txBody>
      </p:sp>
    </p:spTree>
    <p:extLst>
      <p:ext uri="{BB962C8B-B14F-4D97-AF65-F5344CB8AC3E}">
        <p14:creationId xmlns:p14="http://schemas.microsoft.com/office/powerpoint/2010/main" val="18404212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96918"/>
            <a:ext cx="9247632" cy="5283220"/>
          </a:xfrm>
        </p:spPr>
        <p:txBody>
          <a:bodyPr>
            <a:normAutofit/>
          </a:bodyPr>
          <a:lstStyle/>
          <a:p>
            <a:r>
              <a:rPr lang="en-US" sz="2400" dirty="0">
                <a:cs typeface="Times New Roman" panose="02020603050405020304" pitchFamily="18" charset="0"/>
              </a:rPr>
              <a:t>Bias 1: Generosity and Selflessness</a:t>
            </a:r>
          </a:p>
          <a:p>
            <a:r>
              <a:rPr lang="en-US" sz="2400" dirty="0">
                <a:cs typeface="Times New Roman" panose="02020603050405020304" pitchFamily="18" charset="0"/>
              </a:rPr>
              <a:t>Bias 2: Paying Attention to Sunk Costs</a:t>
            </a:r>
          </a:p>
          <a:p>
            <a:r>
              <a:rPr lang="en-US" sz="2400" dirty="0">
                <a:cs typeface="Times New Roman" panose="02020603050405020304" pitchFamily="18" charset="0"/>
              </a:rPr>
              <a:t>Bias 3: Overconfidence</a:t>
            </a:r>
          </a:p>
          <a:p>
            <a:r>
              <a:rPr lang="en-US" sz="2400" dirty="0">
                <a:cs typeface="Times New Roman" panose="02020603050405020304" pitchFamily="18" charset="0"/>
              </a:rPr>
              <a:t>Bias 4: Self-Control Problems and Hyperbolic Discounting</a:t>
            </a:r>
          </a:p>
          <a:p>
            <a:r>
              <a:rPr lang="en-US" sz="2400" dirty="0">
                <a:cs typeface="Times New Roman" panose="02020603050405020304" pitchFamily="18" charset="0"/>
              </a:rPr>
              <a:t>Bias 5: Falling Prey to Framing – introduction example</a:t>
            </a:r>
          </a:p>
          <a:p>
            <a:pPr>
              <a:spcAft>
                <a:spcPts val="400"/>
              </a:spcAft>
              <a:defRPr/>
            </a:pPr>
            <a:endParaRPr lang="en-US" sz="2400" dirty="0">
              <a:cs typeface="Times New Roman" panose="02020603050405020304" pitchFamily="18" charset="0"/>
            </a:endParaRPr>
          </a:p>
          <a:p>
            <a:endParaRPr lang="en-US" sz="2400" dirty="0">
              <a:cs typeface="Times New Roman" panose="02020603050405020304" pitchFamily="18" charset="0"/>
            </a:endParaRPr>
          </a:p>
        </p:txBody>
      </p:sp>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12</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Biases Abound!</a:t>
            </a:r>
          </a:p>
        </p:txBody>
      </p:sp>
    </p:spTree>
    <p:extLst>
      <p:ext uri="{BB962C8B-B14F-4D97-AF65-F5344CB8AC3E}">
        <p14:creationId xmlns:p14="http://schemas.microsoft.com/office/powerpoint/2010/main" val="4047725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Summary of Behavioral Econ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endParaRPr lang="en-US" sz="2400" dirty="0">
              <a:cs typeface="Times New Roman" panose="02020603050405020304" pitchFamily="18" charset="0"/>
            </a:endParaRPr>
          </a:p>
        </p:txBody>
      </p:sp>
      <p:pic>
        <p:nvPicPr>
          <p:cNvPr id="1026" name="Picture 2" descr="What is Behavioral Economics? - Irrational Labs">
            <a:extLst>
              <a:ext uri="{FF2B5EF4-FFF2-40B4-BE49-F238E27FC236}">
                <a16:creationId xmlns:a16="http://schemas.microsoft.com/office/drawing/2014/main" id="{1266B32B-0075-C05B-397B-C809B0B8A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19625" y="2657475"/>
            <a:ext cx="2952750" cy="154305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The Cognitive Bias Codex, an overstuffed infographic categorizing over 100 cognitive biases">
            <a:extLst>
              <a:ext uri="{FF2B5EF4-FFF2-40B4-BE49-F238E27FC236}">
                <a16:creationId xmlns:a16="http://schemas.microsoft.com/office/drawing/2014/main" id="{A892C1CF-297C-D3A7-58A2-F7CDCC6966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2400" y="0"/>
            <a:ext cx="869156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9855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Behavioral vs. Neoclassical – where’s the line?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endParaRPr lang="en-US" sz="2400" dirty="0">
              <a:cs typeface="Times New Roman" panose="02020603050405020304" pitchFamily="18" charset="0"/>
            </a:endParaRPr>
          </a:p>
        </p:txBody>
      </p:sp>
      <p:pic>
        <p:nvPicPr>
          <p:cNvPr id="1026" name="Picture 2" descr="Image">
            <a:extLst>
              <a:ext uri="{FF2B5EF4-FFF2-40B4-BE49-F238E27FC236}">
                <a16:creationId xmlns:a16="http://schemas.microsoft.com/office/drawing/2014/main" id="{B363C441-5FF5-A04C-20B0-C750FD7FC0E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 b="51899"/>
          <a:stretch/>
        </p:blipFill>
        <p:spPr bwMode="auto">
          <a:xfrm>
            <a:off x="152400" y="306911"/>
            <a:ext cx="11814496" cy="61700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29330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Behavioral vs. Neoclassical – where’s the line?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endParaRPr lang="en-US" sz="2400" dirty="0">
              <a:cs typeface="Times New Roman" panose="02020603050405020304" pitchFamily="18" charset="0"/>
            </a:endParaRPr>
          </a:p>
        </p:txBody>
      </p:sp>
      <p:pic>
        <p:nvPicPr>
          <p:cNvPr id="1026" name="Picture 2" descr="Image">
            <a:extLst>
              <a:ext uri="{FF2B5EF4-FFF2-40B4-BE49-F238E27FC236}">
                <a16:creationId xmlns:a16="http://schemas.microsoft.com/office/drawing/2014/main" id="{B363C441-5FF5-A04C-20B0-C750FD7FC0E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7778"/>
          <a:stretch/>
        </p:blipFill>
        <p:spPr bwMode="auto">
          <a:xfrm>
            <a:off x="381000" y="70708"/>
            <a:ext cx="11702231" cy="66348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3640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96918"/>
            <a:ext cx="10439400" cy="5283220"/>
          </a:xfrm>
        </p:spPr>
        <p:txBody>
          <a:bodyPr>
            <a:noAutofit/>
          </a:bodyPr>
          <a:lstStyle/>
          <a:p>
            <a:pPr marL="0" indent="0">
              <a:buNone/>
            </a:pPr>
            <a:r>
              <a:rPr lang="en-US" sz="2400" b="1" dirty="0">
                <a:solidFill>
                  <a:schemeClr val="accent2">
                    <a:lumMod val="75000"/>
                  </a:schemeClr>
                </a:solidFill>
                <a:cs typeface="Times New Roman" panose="02020603050405020304" pitchFamily="18" charset="0"/>
              </a:rPr>
              <a:t>Of course not!</a:t>
            </a:r>
            <a:endParaRPr lang="en-US" sz="2400" b="1" dirty="0">
              <a:cs typeface="Times New Roman" panose="02020603050405020304" pitchFamily="18" charset="0"/>
            </a:endParaRPr>
          </a:p>
          <a:p>
            <a:r>
              <a:rPr lang="en-US" sz="2400" dirty="0">
                <a:cs typeface="Times New Roman" panose="02020603050405020304" pitchFamily="18" charset="0"/>
              </a:rPr>
              <a:t>Remember, no model is perfect</a:t>
            </a:r>
          </a:p>
          <a:p>
            <a:r>
              <a:rPr lang="en-US" sz="2400" dirty="0">
                <a:cs typeface="Times New Roman" panose="02020603050405020304" pitchFamily="18" charset="0"/>
              </a:rPr>
              <a:t>Neoclassical models predict behavior very well </a:t>
            </a:r>
            <a:r>
              <a:rPr lang="en-US" sz="2400" dirty="0"/>
              <a:t>in many circumstances</a:t>
            </a:r>
          </a:p>
          <a:p>
            <a:r>
              <a:rPr lang="en-US" sz="2400" dirty="0"/>
              <a:t>It’s usually </a:t>
            </a:r>
            <a:r>
              <a:rPr lang="en-US" sz="2400" b="1" dirty="0">
                <a:solidFill>
                  <a:schemeClr val="accent3">
                    <a:lumMod val="75000"/>
                  </a:schemeClr>
                </a:solidFill>
              </a:rPr>
              <a:t>very easy </a:t>
            </a:r>
            <a:r>
              <a:rPr lang="en-US" sz="2400" dirty="0"/>
              <a:t>to generalize to accommodate behavioral anomalies</a:t>
            </a:r>
          </a:p>
          <a:p>
            <a:pPr lvl="1"/>
            <a:r>
              <a:rPr lang="en-US" sz="2200" dirty="0"/>
              <a:t>Quasi-hyperbolic discounting – just add a new parameter and estimate it!</a:t>
            </a:r>
          </a:p>
          <a:p>
            <a:pPr lvl="1"/>
            <a:r>
              <a:rPr lang="en-US" sz="2200" dirty="0"/>
              <a:t>First papers – Handel (2013) and Handel and Kolstad (2015)</a:t>
            </a:r>
          </a:p>
          <a:p>
            <a:r>
              <a:rPr lang="en-US" sz="2400" dirty="0"/>
              <a:t>Provides a basis for thinking about seemingly irrational behavior, often illuminating rational motivations (e.g., conspicuous charitable donations that improve reputation)</a:t>
            </a:r>
          </a:p>
          <a:p>
            <a:pPr marL="0" indent="0">
              <a:buNone/>
            </a:pPr>
            <a:endParaRPr lang="en-US" sz="2400" dirty="0"/>
          </a:p>
          <a:p>
            <a:endParaRPr lang="en-US" sz="2400" dirty="0">
              <a:solidFill>
                <a:schemeClr val="accent2">
                  <a:lumMod val="75000"/>
                </a:schemeClr>
              </a:solidFill>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p:txBody>
      </p:sp>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16</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Does this mean neoclassical models are useless? </a:t>
            </a:r>
          </a:p>
        </p:txBody>
      </p:sp>
    </p:spTree>
    <p:extLst>
      <p:ext uri="{BB962C8B-B14F-4D97-AF65-F5344CB8AC3E}">
        <p14:creationId xmlns:p14="http://schemas.microsoft.com/office/powerpoint/2010/main" val="33528467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a:bodyPr>
          <a:lstStyle/>
          <a:p>
            <a:r>
              <a:rPr lang="en-US" dirty="0"/>
              <a:t>Handel and Kolstad (2015)</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0" y="4814777"/>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dirty="0"/>
              <a:t>“Health Insurance for ‘Humans’: Information Frictions, Plan Choice, and Consumer Welfare” </a:t>
            </a:r>
          </a:p>
          <a:p>
            <a:r>
              <a:rPr lang="en-US" sz="2400" i="1" dirty="0"/>
              <a:t>American Economic Review</a:t>
            </a:r>
          </a:p>
        </p:txBody>
      </p:sp>
      <p:sp>
        <p:nvSpPr>
          <p:cNvPr id="2" name="Title 3">
            <a:extLst>
              <a:ext uri="{FF2B5EF4-FFF2-40B4-BE49-F238E27FC236}">
                <a16:creationId xmlns:a16="http://schemas.microsoft.com/office/drawing/2014/main" id="{51DC5C03-A2D1-3EBF-2F5D-1CC1407C728C}"/>
              </a:ext>
            </a:extLst>
          </p:cNvPr>
          <p:cNvSpPr txBox="1">
            <a:spLocks/>
          </p:cNvSpPr>
          <p:nvPr/>
        </p:nvSpPr>
        <p:spPr>
          <a:xfrm>
            <a:off x="1245782" y="381000"/>
            <a:ext cx="10625328" cy="1298448"/>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Times New Roman" panose="02020603050405020304" pitchFamily="18" charset="0"/>
                <a:ea typeface="+mj-ea"/>
                <a:cs typeface="+mj-cs"/>
              </a:defRPr>
            </a:lvl1pPr>
          </a:lstStyle>
          <a:p>
            <a:r>
              <a:rPr lang="en-US" dirty="0"/>
              <a:t>Handel (2013)</a:t>
            </a:r>
          </a:p>
        </p:txBody>
      </p:sp>
      <p:sp>
        <p:nvSpPr>
          <p:cNvPr id="3" name="Subtitle 4">
            <a:extLst>
              <a:ext uri="{FF2B5EF4-FFF2-40B4-BE49-F238E27FC236}">
                <a16:creationId xmlns:a16="http://schemas.microsoft.com/office/drawing/2014/main" id="{227FD1E4-B021-BCA4-56C0-23357337718C}"/>
              </a:ext>
            </a:extLst>
          </p:cNvPr>
          <p:cNvSpPr txBox="1">
            <a:spLocks/>
          </p:cNvSpPr>
          <p:nvPr/>
        </p:nvSpPr>
        <p:spPr>
          <a:xfrm>
            <a:off x="1219200" y="1919177"/>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dirty="0"/>
              <a:t>“Adverse selection and switching costs in health insurance markets: When nudging hurts”</a:t>
            </a:r>
          </a:p>
          <a:p>
            <a:r>
              <a:rPr lang="en-US" sz="2400" i="1" dirty="0"/>
              <a:t>American Economic Review</a:t>
            </a:r>
          </a:p>
        </p:txBody>
      </p:sp>
    </p:spTree>
    <p:extLst>
      <p:ext uri="{BB962C8B-B14F-4D97-AF65-F5344CB8AC3E}">
        <p14:creationId xmlns:p14="http://schemas.microsoft.com/office/powerpoint/2010/main" val="42208731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pPr marL="0" indent="0">
                  <a:buNone/>
                </a:pPr>
                <a:r>
                  <a:rPr lang="en-US" sz="2400" dirty="0">
                    <a:cs typeface="Times New Roman" panose="02020603050405020304" pitchFamily="18" charset="0"/>
                  </a:rPr>
                  <a:t>Start simple</a:t>
                </a:r>
              </a:p>
              <a:p>
                <a:r>
                  <a:rPr lang="en-US" sz="2400" dirty="0">
                    <a:cs typeface="Times New Roman" panose="02020603050405020304" pitchFamily="18" charset="0"/>
                  </a:rPr>
                  <a:t>Consumers choose between two plans with valuation of P1 over P2 as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𝑣</m:t>
                        </m:r>
                      </m:e>
                      <m:sub>
                        <m:r>
                          <a:rPr lang="en-US" sz="2400" b="0" i="1" smtClean="0">
                            <a:latin typeface="Cambria Math" panose="02040503050406030204" pitchFamily="18" charset="0"/>
                            <a:cs typeface="Times New Roman" panose="02020603050405020304" pitchFamily="18" charset="0"/>
                          </a:rPr>
                          <m:t>𝑖</m:t>
                        </m:r>
                      </m:sub>
                    </m:sSub>
                  </m:oMath>
                </a14:m>
                <a:endParaRPr lang="en-US" sz="2400" b="0" dirty="0">
                  <a:cs typeface="Times New Roman" panose="02020603050405020304" pitchFamily="18" charset="0"/>
                </a:endParaRPr>
              </a:p>
              <a:p>
                <a:r>
                  <a:rPr lang="en-US" sz="2400" dirty="0">
                    <a:cs typeface="Times New Roman" panose="02020603050405020304" pitchFamily="18" charset="0"/>
                  </a:rPr>
                  <a:t>But consumers perceive valuation as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𝜔</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dirty="0">
                    <a:cs typeface="Times New Roman" panose="02020603050405020304" pitchFamily="18" charset="0"/>
                  </a:rPr>
                  <a:t>Hence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𝑣</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𝑐</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876" t="-1269"/>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18</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1. Specify a baseline model </a:t>
            </a:r>
          </a:p>
        </p:txBody>
      </p:sp>
    </p:spTree>
    <p:extLst>
      <p:ext uri="{BB962C8B-B14F-4D97-AF65-F5344CB8AC3E}">
        <p14:creationId xmlns:p14="http://schemas.microsoft.com/office/powerpoint/2010/main" val="4046389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pPr marL="0" indent="0">
                  <a:buNone/>
                </a:pPr>
                <a:r>
                  <a:rPr lang="en-US" sz="2400" dirty="0">
                    <a:cs typeface="Times New Roman" panose="02020603050405020304" pitchFamily="18" charset="0"/>
                  </a:rPr>
                  <a:t>Start simple</a:t>
                </a:r>
              </a:p>
              <a:p>
                <a:r>
                  <a:rPr lang="en-US" sz="2400" dirty="0">
                    <a:cs typeface="Times New Roman" panose="02020603050405020304" pitchFamily="18" charset="0"/>
                  </a:rPr>
                  <a:t>Consumers choose between two plans with valuation of P1 over P2 as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𝑣</m:t>
                        </m:r>
                      </m:e>
                      <m:sub>
                        <m:r>
                          <a:rPr lang="en-US" sz="2400" b="0" i="1" smtClean="0">
                            <a:latin typeface="Cambria Math" panose="02040503050406030204" pitchFamily="18" charset="0"/>
                            <a:cs typeface="Times New Roman" panose="02020603050405020304" pitchFamily="18" charset="0"/>
                          </a:rPr>
                          <m:t>𝑖</m:t>
                        </m:r>
                      </m:sub>
                    </m:sSub>
                  </m:oMath>
                </a14:m>
                <a:endParaRPr lang="en-US" sz="2400" b="0" dirty="0">
                  <a:cs typeface="Times New Roman" panose="02020603050405020304" pitchFamily="18" charset="0"/>
                </a:endParaRPr>
              </a:p>
              <a:p>
                <a:r>
                  <a:rPr lang="en-US" sz="2400" dirty="0">
                    <a:cs typeface="Times New Roman" panose="02020603050405020304" pitchFamily="18" charset="0"/>
                  </a:rPr>
                  <a:t>But consumers perceive valuation as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𝜔</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t>
                </a:r>
              </a:p>
              <a:p>
                <a:r>
                  <a:rPr lang="en-US" sz="2400" dirty="0">
                    <a:cs typeface="Times New Roman" panose="02020603050405020304" pitchFamily="18" charset="0"/>
                  </a:rPr>
                  <a:t>Hence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𝑣</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𝑐</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But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𝑢</m:t>
                              </m:r>
                            </m:e>
                          </m:acc>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𝜔</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𝑐</m:t>
                          </m:r>
                        </m:e>
                        <m:sub>
                          <m:r>
                            <a:rPr lang="en-US" sz="2400" b="0" i="1" smtClean="0">
                              <a:latin typeface="Cambria Math" panose="02040503050406030204" pitchFamily="18" charset="0"/>
                              <a:cs typeface="Times New Roman" panose="02020603050405020304" pitchFamily="18" charset="0"/>
                            </a:rPr>
                            <m:t>𝑖</m:t>
                          </m:r>
                        </m:sub>
                      </m:sSub>
                    </m:oMath>
                  </m:oMathPara>
                </a14:m>
                <a:endParaRPr lang="en-US" sz="2400" dirty="0">
                  <a:cs typeface="Times New Roman" panose="02020603050405020304" pitchFamily="18" charset="0"/>
                </a:endParaRPr>
              </a:p>
              <a:p>
                <a:r>
                  <a:rPr lang="en-US" sz="2400" dirty="0">
                    <a:cs typeface="Times New Roman" panose="02020603050405020304" pitchFamily="18" charset="0"/>
                  </a:rPr>
                  <a:t>What does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𝜔</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𝑣</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capture? </a:t>
                </a:r>
              </a:p>
              <a:p>
                <a:r>
                  <a:rPr lang="en-US" sz="2400" dirty="0">
                    <a:cs typeface="Times New Roman" panose="02020603050405020304" pitchFamily="18" charset="0"/>
                  </a:rPr>
                  <a:t>How can we incorporate this in a neoclassical framework?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876" t="-1269"/>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19</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1. Specify a baseline model </a:t>
            </a:r>
          </a:p>
        </p:txBody>
      </p:sp>
    </p:spTree>
    <p:extLst>
      <p:ext uri="{BB962C8B-B14F-4D97-AF65-F5344CB8AC3E}">
        <p14:creationId xmlns:p14="http://schemas.microsoft.com/office/powerpoint/2010/main" val="4133228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r>
                  <a:rPr lang="en-US" sz="2400" dirty="0">
                    <a:cs typeface="Times New Roman" panose="02020603050405020304" pitchFamily="18" charset="0"/>
                  </a:rPr>
                  <a:t>Now there are </a:t>
                </a:r>
                <a:r>
                  <a:rPr lang="en-US" sz="2400" b="1" dirty="0">
                    <a:cs typeface="Times New Roman" panose="02020603050405020304" pitchFamily="18" charset="0"/>
                  </a:rPr>
                  <a:t>choice sets </a:t>
                </a:r>
                <a:r>
                  <a:rPr lang="en-US" sz="2400" dirty="0">
                    <a:cs typeface="Times New Roman" panose="02020603050405020304" pitchFamily="18" charset="0"/>
                  </a:rPr>
                  <a:t>with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𝒥</m:t>
                    </m:r>
                    <m:r>
                      <a:rPr lang="en-CA" sz="2400" b="0" i="1" smtClean="0">
                        <a:latin typeface="Cambria Math" panose="02040503050406030204" pitchFamily="18" charset="0"/>
                        <a:cs typeface="Times New Roman" panose="02020603050405020304" pitchFamily="18" charset="0"/>
                      </a:rPr>
                      <m:t>≥2</m:t>
                    </m:r>
                  </m:oMath>
                </a14:m>
                <a:r>
                  <a:rPr lang="en-US" sz="2400" dirty="0">
                    <a:cs typeface="Times New Roman" panose="02020603050405020304" pitchFamily="18" charset="0"/>
                  </a:rPr>
                  <a:t> plans</a:t>
                </a:r>
              </a:p>
              <a:p>
                <a:r>
                  <a:rPr lang="en-US" sz="2400" b="0" dirty="0">
                    <a:cs typeface="Times New Roman" panose="02020603050405020304" pitchFamily="18" charset="0"/>
                  </a:rPr>
                  <a:t>Consumers have </a:t>
                </a:r>
                <a:r>
                  <a:rPr lang="en-US" sz="2400" b="0" i="1" dirty="0">
                    <a:cs typeface="Times New Roman" panose="02020603050405020304" pitchFamily="18" charset="0"/>
                  </a:rPr>
                  <a:t>ex-post </a:t>
                </a:r>
                <a:r>
                  <a:rPr lang="en-US" sz="2400" b="0" dirty="0">
                    <a:cs typeface="Times New Roman" panose="02020603050405020304" pitchFamily="18" charset="0"/>
                  </a:rPr>
                  <a:t>utility: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𝑢</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𝑊</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𝑃</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𝜋</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𝜓</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𝜇</m:t>
                                      </m:r>
                                    </m:e>
                                    <m:sub>
                                      <m:r>
                                        <a:rPr lang="en-US" sz="2400" b="0" i="1" smtClean="0">
                                          <a:latin typeface="Cambria Math" panose="02040503050406030204" pitchFamily="18" charset="0"/>
                                          <a:cs typeface="Times New Roman" panose="02020603050405020304" pitchFamily="18" charset="0"/>
                                        </a:rPr>
                                        <m:t>𝑖</m:t>
                                      </m:r>
                                    </m:sub>
                                  </m:sSub>
                                </m:e>
                              </m:d>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𝑠</m:t>
                          </m:r>
                        </m:e>
                      </m:d>
                    </m:oMath>
                  </m:oMathPara>
                </a14:m>
                <a:endParaRPr lang="en-US" sz="2400" b="0" i="1" dirty="0">
                  <a:latin typeface="Cambria Math" panose="02040503050406030204" pitchFamily="18" charset="0"/>
                  <a:cs typeface="Times New Roman" panose="02020603050405020304" pitchFamily="18" charset="0"/>
                </a:endParaRPr>
              </a:p>
              <a:p>
                <a:r>
                  <a:rPr lang="en-US" sz="2400" dirty="0">
                    <a:cs typeface="Times New Roman" panose="02020603050405020304" pitchFamily="18" charset="0"/>
                  </a:rPr>
                  <a:t>And </a:t>
                </a:r>
                <a:r>
                  <a:rPr lang="en-US" sz="2400" i="1" dirty="0">
                    <a:cs typeface="Times New Roman" panose="02020603050405020304" pitchFamily="18" charset="0"/>
                  </a:rPr>
                  <a:t>ex-ante </a:t>
                </a:r>
                <a:r>
                  <a:rPr lang="en-US" sz="2400" dirty="0">
                    <a:cs typeface="Times New Roman" panose="02020603050405020304" pitchFamily="18" charset="0"/>
                  </a:rPr>
                  <a:t>utility </a:t>
                </a:r>
                <a:r>
                  <a:rPr lang="en-US" sz="2400" i="1" dirty="0">
                    <a:cs typeface="Times New Roman" panose="02020603050405020304" pitchFamily="18" charset="0"/>
                  </a:rPr>
                  <a:t>(ex-ante </a:t>
                </a:r>
                <a:r>
                  <a:rPr lang="en-US" sz="2400" dirty="0">
                    <a:cs typeface="Times New Roman" panose="02020603050405020304" pitchFamily="18" charset="0"/>
                  </a:rPr>
                  <a:t>over what?)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409" t="-1269"/>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20</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2. Enrich the model (to match data) </a:t>
            </a:r>
          </a:p>
        </p:txBody>
      </p:sp>
    </p:spTree>
    <p:extLst>
      <p:ext uri="{BB962C8B-B14F-4D97-AF65-F5344CB8AC3E}">
        <p14:creationId xmlns:p14="http://schemas.microsoft.com/office/powerpoint/2010/main" val="4039985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r>
                  <a:rPr lang="en-US" sz="2400" dirty="0">
                    <a:cs typeface="Times New Roman" panose="02020603050405020304" pitchFamily="18" charset="0"/>
                  </a:rPr>
                  <a:t>Now there are </a:t>
                </a:r>
                <a:r>
                  <a:rPr lang="en-US" sz="2400" b="1" dirty="0">
                    <a:cs typeface="Times New Roman" panose="02020603050405020304" pitchFamily="18" charset="0"/>
                  </a:rPr>
                  <a:t>choice sets </a:t>
                </a:r>
                <a:r>
                  <a:rPr lang="en-US" sz="2400" dirty="0">
                    <a:cs typeface="Times New Roman" panose="02020603050405020304" pitchFamily="18" charset="0"/>
                  </a:rPr>
                  <a:t>with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𝒥</m:t>
                    </m:r>
                    <m:r>
                      <a:rPr lang="en-CA" sz="2400" b="0" i="1" smtClean="0">
                        <a:latin typeface="Cambria Math" panose="02040503050406030204" pitchFamily="18" charset="0"/>
                        <a:cs typeface="Times New Roman" panose="02020603050405020304" pitchFamily="18" charset="0"/>
                      </a:rPr>
                      <m:t>≥2</m:t>
                    </m:r>
                  </m:oMath>
                </a14:m>
                <a:r>
                  <a:rPr lang="en-US" sz="2400" dirty="0">
                    <a:cs typeface="Times New Roman" panose="02020603050405020304" pitchFamily="18" charset="0"/>
                  </a:rPr>
                  <a:t> plans</a:t>
                </a:r>
              </a:p>
              <a:p>
                <a:r>
                  <a:rPr lang="en-US" sz="2400" b="0" dirty="0">
                    <a:cs typeface="Times New Roman" panose="02020603050405020304" pitchFamily="18" charset="0"/>
                  </a:rPr>
                  <a:t>Consumers have </a:t>
                </a:r>
                <a:r>
                  <a:rPr lang="en-US" sz="2400" b="0" i="1" dirty="0">
                    <a:cs typeface="Times New Roman" panose="02020603050405020304" pitchFamily="18" charset="0"/>
                  </a:rPr>
                  <a:t>ex-post </a:t>
                </a:r>
                <a:r>
                  <a:rPr lang="en-US" sz="2400" b="0" dirty="0">
                    <a:cs typeface="Times New Roman" panose="02020603050405020304" pitchFamily="18" charset="0"/>
                  </a:rPr>
                  <a:t>utility: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𝑢</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𝑊</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𝑃</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𝜋</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𝜓</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𝜇</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𝑠</m:t>
                          </m:r>
                        </m:e>
                      </m:d>
                    </m:oMath>
                  </m:oMathPara>
                </a14:m>
                <a:endParaRPr lang="en-US" sz="2400" b="0" i="1" dirty="0">
                  <a:latin typeface="Cambria Math" panose="02040503050406030204" pitchFamily="18" charset="0"/>
                  <a:cs typeface="Times New Roman" panose="02020603050405020304" pitchFamily="18" charset="0"/>
                </a:endParaRPr>
              </a:p>
              <a:p>
                <a:r>
                  <a:rPr lang="en-US" sz="2400" dirty="0">
                    <a:cs typeface="Times New Roman" panose="02020603050405020304" pitchFamily="18" charset="0"/>
                  </a:rPr>
                  <a:t>And </a:t>
                </a:r>
                <a:r>
                  <a:rPr lang="en-US" sz="2400" i="1" dirty="0">
                    <a:cs typeface="Times New Roman" panose="02020603050405020304" pitchFamily="18" charset="0"/>
                  </a:rPr>
                  <a:t>ex-ante </a:t>
                </a:r>
                <a:r>
                  <a:rPr lang="en-US" sz="2400" dirty="0">
                    <a:cs typeface="Times New Roman" panose="02020603050405020304" pitchFamily="18" charset="0"/>
                  </a:rPr>
                  <a:t>utility: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𝑈</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nary>
                        <m:naryPr>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0</m:t>
                          </m:r>
                        </m:sub>
                        <m:sup>
                          <m:r>
                            <a:rPr lang="en-US" sz="2400" b="0" i="1" smtClean="0">
                              <a:latin typeface="Cambria Math" panose="02040503050406030204" pitchFamily="18" charset="0"/>
                              <a:cs typeface="Times New Roman" panose="02020603050405020304" pitchFamily="18" charset="0"/>
                            </a:rPr>
                            <m:t>∞</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𝑓</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𝑠</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𝜓</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𝜇</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r>
                        <a:rPr lang="en-US" sz="2400" b="0" i="1" smtClean="0">
                          <a:latin typeface="Cambria Math" panose="02040503050406030204" pitchFamily="18" charset="0"/>
                          <a:cs typeface="Times New Roman" panose="02020603050405020304" pitchFamily="18" charset="0"/>
                        </a:rPr>
                        <m:t>×</m:t>
                      </m:r>
                      <m:r>
                        <a:rPr lang="en-US" sz="2400" i="1">
                          <a:latin typeface="Cambria Math" panose="02040503050406030204" pitchFamily="18" charset="0"/>
                          <a:cs typeface="Times New Roman" panose="02020603050405020304" pitchFamily="18" charset="0"/>
                        </a:rPr>
                        <m:t>𝑢</m:t>
                      </m:r>
                      <m:d>
                        <m:dPr>
                          <m:ctrlPr>
                            <a:rPr lang="en-US" sz="2400" i="1">
                              <a:latin typeface="Cambria Math" panose="02040503050406030204" pitchFamily="18" charset="0"/>
                              <a:cs typeface="Times New Roman" panose="02020603050405020304" pitchFamily="18" charset="0"/>
                            </a:rPr>
                          </m:ctrlPr>
                        </m:dPr>
                        <m:e>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𝑊</m:t>
                              </m:r>
                            </m:e>
                            <m:sub>
                              <m:r>
                                <a:rPr lang="en-US" sz="2400" i="1">
                                  <a:latin typeface="Cambria Math" panose="02040503050406030204" pitchFamily="18" charset="0"/>
                                  <a:cs typeface="Times New Roman" panose="02020603050405020304" pitchFamily="18" charset="0"/>
                                </a:rPr>
                                <m:t>𝑖</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𝑃</m:t>
                              </m:r>
                            </m:e>
                            <m:sub>
                              <m:r>
                                <a:rPr lang="en-US" sz="2400" i="1">
                                  <a:latin typeface="Cambria Math" panose="02040503050406030204" pitchFamily="18" charset="0"/>
                                  <a:cs typeface="Times New Roman" panose="02020603050405020304" pitchFamily="18" charset="0"/>
                                </a:rPr>
                                <m:t>𝑖𝑗</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𝜋</m:t>
                              </m:r>
                            </m:e>
                            <m:sub>
                              <m:r>
                                <a:rPr lang="en-US" sz="2400" i="1">
                                  <a:latin typeface="Cambria Math" panose="02040503050406030204" pitchFamily="18" charset="0"/>
                                  <a:cs typeface="Times New Roman" panose="02020603050405020304" pitchFamily="18" charset="0"/>
                                </a:rPr>
                                <m:t>𝑗</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𝜓</m:t>
                              </m:r>
                            </m:e>
                            <m:sub>
                              <m:r>
                                <a:rPr lang="en-US" sz="2400" i="1">
                                  <a:latin typeface="Cambria Math" panose="02040503050406030204" pitchFamily="18" charset="0"/>
                                  <a:cs typeface="Times New Roman" panose="02020603050405020304" pitchFamily="18" charset="0"/>
                                </a:rPr>
                                <m:t>𝑗</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𝜇</m:t>
                              </m:r>
                            </m:e>
                            <m:sub>
                              <m:r>
                                <a:rPr lang="en-US" sz="2400" i="1">
                                  <a:latin typeface="Cambria Math" panose="02040503050406030204" pitchFamily="18" charset="0"/>
                                  <a:cs typeface="Times New Roman" panose="02020603050405020304" pitchFamily="18" charset="0"/>
                                </a:rPr>
                                <m:t>𝑖</m:t>
                              </m:r>
                            </m:sub>
                          </m:sSub>
                          <m:r>
                            <a:rPr lang="en-US" sz="2400" i="1">
                              <a:latin typeface="Cambria Math" panose="02040503050406030204" pitchFamily="18" charset="0"/>
                              <a:cs typeface="Times New Roman" panose="02020603050405020304" pitchFamily="18" charset="0"/>
                            </a:rPr>
                            <m:t>)−</m:t>
                          </m:r>
                          <m:r>
                            <a:rPr lang="en-US" sz="2400" i="1">
                              <a:latin typeface="Cambria Math" panose="02040503050406030204" pitchFamily="18" charset="0"/>
                              <a:cs typeface="Times New Roman" panose="02020603050405020304" pitchFamily="18" charset="0"/>
                            </a:rPr>
                            <m:t>𝑠</m:t>
                          </m:r>
                        </m:e>
                      </m:d>
                      <m:r>
                        <m:rPr>
                          <m:sty m:val="p"/>
                        </m:rPr>
                        <a:rPr lang="en-US" sz="2400" b="0" i="0" smtClean="0">
                          <a:latin typeface="Cambria Math" panose="02040503050406030204" pitchFamily="18" charset="0"/>
                          <a:cs typeface="Times New Roman" panose="02020603050405020304" pitchFamily="18" charset="0"/>
                        </a:rPr>
                        <m:t>ds</m:t>
                      </m:r>
                    </m:oMath>
                  </m:oMathPara>
                </a14:m>
                <a:endParaRPr lang="en-US" sz="2400" dirty="0">
                  <a:cs typeface="Times New Roman" panose="02020603050405020304" pitchFamily="18" charset="0"/>
                </a:endParaRPr>
              </a:p>
              <a:p>
                <a:r>
                  <a:rPr lang="en-US" sz="2400" b="0" dirty="0">
                    <a:cs typeface="Times New Roman" panose="02020603050405020304" pitchFamily="18" charset="0"/>
                  </a:rPr>
                  <a:t>So what plan </a:t>
                </a:r>
                <a:r>
                  <a:rPr lang="en-US" sz="2400" dirty="0">
                    <a:cs typeface="Times New Roman" panose="02020603050405020304" pitchFamily="18" charset="0"/>
                  </a:rPr>
                  <a:t>do they pick?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409" t="-1269"/>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21</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2. Enrich the model (to match data) </a:t>
            </a:r>
          </a:p>
        </p:txBody>
      </p:sp>
    </p:spTree>
    <p:extLst>
      <p:ext uri="{BB962C8B-B14F-4D97-AF65-F5344CB8AC3E}">
        <p14:creationId xmlns:p14="http://schemas.microsoft.com/office/powerpoint/2010/main" val="39642825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r>
                  <a:rPr lang="en-US" sz="2400" dirty="0">
                    <a:cs typeface="Times New Roman" panose="02020603050405020304" pitchFamily="18" charset="0"/>
                  </a:rPr>
                  <a:t>Does this match data? </a:t>
                </a:r>
              </a:p>
              <a:p>
                <a:r>
                  <a:rPr lang="en-US" sz="2400" dirty="0">
                    <a:cs typeface="Times New Roman" panose="02020603050405020304" pitchFamily="18" charset="0"/>
                  </a:rPr>
                  <a:t>What might need to be </a:t>
                </a:r>
                <a:r>
                  <a:rPr lang="en-US" sz="2400" dirty="0" err="1">
                    <a:cs typeface="Times New Roman" panose="02020603050405020304" pitchFamily="18" charset="0"/>
                  </a:rPr>
                  <a:t>behavioralized</a:t>
                </a:r>
                <a:r>
                  <a:rPr lang="en-US" sz="2400" dirty="0">
                    <a:cs typeface="Times New Roman" panose="02020603050405020304" pitchFamily="18" charset="0"/>
                  </a:rPr>
                  <a:t>?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𝑈</m:t>
                              </m:r>
                            </m:e>
                          </m:acc>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nary>
                        <m:naryPr>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0</m:t>
                          </m:r>
                        </m:sub>
                        <m:sup>
                          <m:r>
                            <a:rPr lang="en-US" sz="2400" b="0" i="1" smtClean="0">
                              <a:latin typeface="Cambria Math" panose="02040503050406030204" pitchFamily="18" charset="0"/>
                              <a:cs typeface="Times New Roman" panose="02020603050405020304" pitchFamily="18" charset="0"/>
                            </a:rPr>
                            <m:t>∞</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𝑓</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𝑠</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𝜓</m:t>
                                  </m:r>
                                </m:e>
                              </m:acc>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𝜇</m:t>
                                  </m:r>
                                </m:e>
                              </m:acc>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r>
                        <a:rPr lang="en-US" sz="2400" b="0" i="1" smtClean="0">
                          <a:latin typeface="Cambria Math" panose="02040503050406030204" pitchFamily="18" charset="0"/>
                          <a:cs typeface="Times New Roman" panose="02020603050405020304" pitchFamily="18" charset="0"/>
                        </a:rPr>
                        <m:t>×</m:t>
                      </m:r>
                      <m:r>
                        <a:rPr lang="en-US" sz="2400" i="1">
                          <a:latin typeface="Cambria Math" panose="02040503050406030204" pitchFamily="18" charset="0"/>
                          <a:cs typeface="Times New Roman" panose="02020603050405020304" pitchFamily="18" charset="0"/>
                        </a:rPr>
                        <m:t>𝑢</m:t>
                      </m:r>
                      <m:d>
                        <m:dPr>
                          <m:ctrlPr>
                            <a:rPr lang="en-US" sz="2400" i="1">
                              <a:latin typeface="Cambria Math" panose="02040503050406030204" pitchFamily="18" charset="0"/>
                              <a:cs typeface="Times New Roman" panose="02020603050405020304" pitchFamily="18" charset="0"/>
                            </a:rPr>
                          </m:ctrlPr>
                        </m:dPr>
                        <m:e>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𝑊</m:t>
                              </m:r>
                            </m:e>
                            <m:sub>
                              <m:r>
                                <a:rPr lang="en-US" sz="2400" i="1">
                                  <a:latin typeface="Cambria Math" panose="02040503050406030204" pitchFamily="18" charset="0"/>
                                  <a:cs typeface="Times New Roman" panose="02020603050405020304" pitchFamily="18" charset="0"/>
                                </a:rPr>
                                <m:t>𝑖</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𝑃</m:t>
                              </m:r>
                            </m:e>
                            <m:sub>
                              <m:r>
                                <a:rPr lang="en-US" sz="2400" i="1">
                                  <a:latin typeface="Cambria Math" panose="02040503050406030204" pitchFamily="18" charset="0"/>
                                  <a:cs typeface="Times New Roman" panose="02020603050405020304" pitchFamily="18" charset="0"/>
                                </a:rPr>
                                <m:t>𝑖𝑗</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i="1">
                                      <a:latin typeface="Cambria Math" panose="02040503050406030204" pitchFamily="18" charset="0"/>
                                      <a:cs typeface="Times New Roman" panose="02020603050405020304" pitchFamily="18" charset="0"/>
                                    </a:rPr>
                                    <m:t>𝜋</m:t>
                                  </m:r>
                                </m:e>
                              </m:acc>
                            </m:e>
                            <m:sub>
                              <m:r>
                                <a:rPr lang="en-US" sz="2400" i="1">
                                  <a:latin typeface="Cambria Math" panose="02040503050406030204" pitchFamily="18" charset="0"/>
                                  <a:cs typeface="Times New Roman" panose="02020603050405020304" pitchFamily="18" charset="0"/>
                                </a:rPr>
                                <m:t>𝑗</m:t>
                              </m:r>
                            </m:sub>
                          </m:sSub>
                          <m:r>
                            <a:rPr lang="en-US" sz="2400" i="1">
                              <a:latin typeface="Cambria Math" panose="02040503050406030204" pitchFamily="18" charset="0"/>
                              <a:cs typeface="Times New Roman" panose="02020603050405020304" pitchFamily="18" charset="0"/>
                            </a:rPr>
                            <m:t>−</m:t>
                          </m:r>
                          <m:r>
                            <a:rPr lang="en-US" sz="2400" i="1">
                              <a:latin typeface="Cambria Math" panose="02040503050406030204" pitchFamily="18" charset="0"/>
                              <a:cs typeface="Times New Roman" panose="02020603050405020304" pitchFamily="18" charset="0"/>
                            </a:rPr>
                            <m:t>𝑠</m:t>
                          </m:r>
                        </m:e>
                      </m:d>
                      <m:r>
                        <m:rPr>
                          <m:sty m:val="p"/>
                        </m:rPr>
                        <a:rPr lang="en-US" sz="2400" b="0" i="0" smtClean="0">
                          <a:latin typeface="Cambria Math" panose="02040503050406030204" pitchFamily="18" charset="0"/>
                          <a:cs typeface="Times New Roman" panose="02020603050405020304" pitchFamily="18" charset="0"/>
                        </a:rPr>
                        <m:t>ds</m:t>
                      </m:r>
                    </m:oMath>
                  </m:oMathPara>
                </a14:m>
                <a:endParaRPr lang="en-US" sz="2400" dirty="0">
                  <a:cs typeface="Times New Roman" panose="02020603050405020304" pitchFamily="18" charset="0"/>
                </a:endParaRPr>
              </a:p>
              <a:p>
                <a:r>
                  <a:rPr lang="en-US" sz="2400" b="0" dirty="0">
                    <a:cs typeface="Times New Roman" panose="02020603050405020304" pitchFamily="18" charset="0"/>
                  </a:rPr>
                  <a:t>What does this capture? </a:t>
                </a:r>
              </a:p>
              <a:p>
                <a:pPr marL="731520" lvl="1" indent="-457200">
                  <a:buFont typeface="+mj-lt"/>
                  <a:buAutoNum type="arabicPeriod"/>
                </a:pPr>
                <a:r>
                  <a:rPr lang="en-US" sz="2200" dirty="0">
                    <a:cs typeface="Times New Roman" panose="02020603050405020304" pitchFamily="18" charset="0"/>
                  </a:rPr>
                  <a:t>Consumers may not have access to all information </a:t>
                </a:r>
              </a:p>
              <a:p>
                <a:pPr marL="731520" lvl="1" indent="-457200">
                  <a:buFont typeface="+mj-lt"/>
                  <a:buAutoNum type="arabicPeriod"/>
                </a:pPr>
                <a:r>
                  <a:rPr lang="en-US" sz="2200" dirty="0">
                    <a:cs typeface="Times New Roman" panose="02020603050405020304" pitchFamily="18" charset="0"/>
                  </a:rPr>
                  <a:t>Consumers may not pay attention to all information </a:t>
                </a:r>
              </a:p>
              <a:p>
                <a:pPr marL="731520" lvl="1" indent="-457200">
                  <a:buFont typeface="+mj-lt"/>
                  <a:buAutoNum type="arabicPeriod"/>
                </a:pPr>
                <a:r>
                  <a:rPr lang="en-US" sz="2200" dirty="0">
                    <a:cs typeface="Times New Roman" panose="02020603050405020304" pitchFamily="18" charset="0"/>
                  </a:rPr>
                  <a:t>Information processing errors</a:t>
                </a:r>
              </a:p>
              <a:p>
                <a:pPr marL="731520" lvl="1" indent="-457200">
                  <a:buFont typeface="+mj-lt"/>
                  <a:buAutoNum type="arabicPeriod"/>
                </a:pPr>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409" t="-1269"/>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22</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3. Enrich the model (to match </a:t>
            </a:r>
            <a:r>
              <a:rPr lang="en-US" sz="3600" b="1" dirty="0">
                <a:cs typeface="Times New Roman" panose="02020603050405020304" pitchFamily="18" charset="0"/>
              </a:rPr>
              <a:t>behavioral biases</a:t>
            </a:r>
            <a:r>
              <a:rPr lang="en-US" sz="3600" dirty="0">
                <a:cs typeface="Times New Roman" panose="02020603050405020304" pitchFamily="18" charset="0"/>
              </a:rPr>
              <a:t>) </a:t>
            </a:r>
          </a:p>
        </p:txBody>
      </p:sp>
      <p:sp>
        <p:nvSpPr>
          <p:cNvPr id="2" name="TextBox 1">
            <a:extLst>
              <a:ext uri="{FF2B5EF4-FFF2-40B4-BE49-F238E27FC236}">
                <a16:creationId xmlns:a16="http://schemas.microsoft.com/office/drawing/2014/main" id="{7356AFB2-8EC3-DDF3-BC43-99888A0C749D}"/>
              </a:ext>
            </a:extLst>
          </p:cNvPr>
          <p:cNvSpPr txBox="1"/>
          <p:nvPr/>
        </p:nvSpPr>
        <p:spPr>
          <a:xfrm>
            <a:off x="723575" y="4572000"/>
            <a:ext cx="10211450" cy="1785104"/>
          </a:xfrm>
          <a:prstGeom prst="rect">
            <a:avLst/>
          </a:prstGeom>
          <a:solidFill>
            <a:schemeClr val="accent3">
              <a:lumMod val="75000"/>
            </a:schemeClr>
          </a:solidFill>
          <a:ln>
            <a:solidFill>
              <a:schemeClr val="accent1">
                <a:lumMod val="75000"/>
              </a:schemeClr>
            </a:solidFill>
          </a:ln>
        </p:spPr>
        <p:txBody>
          <a:bodyPr wrap="none" rtlCol="0">
            <a:spAutoFit/>
          </a:bodyPr>
          <a:lstStyle/>
          <a:p>
            <a:pPr algn="l"/>
            <a:r>
              <a:rPr lang="en-US" sz="2200" b="0" i="0" u="none" strike="noStrike" baseline="0" dirty="0">
                <a:solidFill>
                  <a:schemeClr val="bg1"/>
                </a:solidFill>
                <a:latin typeface="Times-Roman"/>
              </a:rPr>
              <a:t>Handel and Kolstad (2015) find evidence that consumers substantially under-purchase</a:t>
            </a:r>
          </a:p>
          <a:p>
            <a:pPr algn="l"/>
            <a:r>
              <a:rPr lang="en-US" sz="2200" b="0" i="0" u="none" strike="noStrike" baseline="0" dirty="0">
                <a:solidFill>
                  <a:schemeClr val="bg1"/>
                </a:solidFill>
                <a:latin typeface="Times-Roman"/>
              </a:rPr>
              <a:t>a high-deductible plan (HDHP) based on its financial value relative to the simpler</a:t>
            </a:r>
          </a:p>
          <a:p>
            <a:pPr algn="l"/>
            <a:r>
              <a:rPr lang="en-US" sz="2200" b="0" i="0" u="none" strike="noStrike" baseline="0" dirty="0">
                <a:solidFill>
                  <a:schemeClr val="bg1"/>
                </a:solidFill>
                <a:latin typeface="Times-Roman"/>
              </a:rPr>
              <a:t>PPO option. The standard non-behavioral explanation is that these purchasing patterns</a:t>
            </a:r>
          </a:p>
          <a:p>
            <a:pPr algn="l"/>
            <a:r>
              <a:rPr lang="en-US" sz="2200" b="0" i="0" u="none" strike="noStrike" baseline="0" dirty="0">
                <a:solidFill>
                  <a:schemeClr val="bg1"/>
                </a:solidFill>
                <a:latin typeface="Times-Roman"/>
              </a:rPr>
              <a:t>reflect consumer risk aversion—but the degree of risk aversion necessary to</a:t>
            </a:r>
          </a:p>
          <a:p>
            <a:pPr algn="l"/>
            <a:r>
              <a:rPr lang="en-US" sz="2200" b="0" i="0" u="none" strike="noStrike" baseline="0" dirty="0">
                <a:solidFill>
                  <a:schemeClr val="bg1"/>
                </a:solidFill>
                <a:latin typeface="Times-Roman"/>
              </a:rPr>
              <a:t>rationalize these choices </a:t>
            </a:r>
            <a:r>
              <a:rPr lang="en-US" sz="2200" b="1" i="0" u="sng" strike="noStrike" baseline="0" dirty="0">
                <a:solidFill>
                  <a:schemeClr val="bg1"/>
                </a:solidFill>
                <a:latin typeface="Times-Roman"/>
              </a:rPr>
              <a:t>is very high.</a:t>
            </a:r>
            <a:endParaRPr lang="en-US" sz="2200" b="1" u="sng" dirty="0">
              <a:solidFill>
                <a:schemeClr val="bg1"/>
              </a:solidFill>
            </a:endParaRPr>
          </a:p>
        </p:txBody>
      </p:sp>
    </p:spTree>
    <p:extLst>
      <p:ext uri="{BB962C8B-B14F-4D97-AF65-F5344CB8AC3E}">
        <p14:creationId xmlns:p14="http://schemas.microsoft.com/office/powerpoint/2010/main" val="12753746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4BC195F-F13E-FC2B-C996-3079843C706E}"/>
              </a:ext>
            </a:extLst>
          </p:cNvPr>
          <p:cNvPicPr>
            <a:picLocks noGrp="1" noChangeAspect="1"/>
          </p:cNvPicPr>
          <p:nvPr>
            <p:ph idx="1"/>
          </p:nvPr>
        </p:nvPicPr>
        <p:blipFill>
          <a:blip r:embed="rId3"/>
          <a:stretch>
            <a:fillRect/>
          </a:stretch>
        </p:blipFill>
        <p:spPr>
          <a:xfrm>
            <a:off x="0" y="925101"/>
            <a:ext cx="9906000" cy="5855890"/>
          </a:xfrm>
        </p:spPr>
      </p:pic>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23</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Descriptive Evidence</a:t>
            </a:r>
          </a:p>
        </p:txBody>
      </p:sp>
    </p:spTree>
    <p:extLst>
      <p:ext uri="{BB962C8B-B14F-4D97-AF65-F5344CB8AC3E}">
        <p14:creationId xmlns:p14="http://schemas.microsoft.com/office/powerpoint/2010/main" val="12365727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24</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677863"/>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Descriptive </a:t>
            </a:r>
          </a:p>
          <a:p>
            <a:r>
              <a:rPr lang="en-US" sz="3600" dirty="0">
                <a:cs typeface="Times New Roman" panose="02020603050405020304" pitchFamily="18" charset="0"/>
              </a:rPr>
              <a:t>Evidence</a:t>
            </a:r>
          </a:p>
        </p:txBody>
      </p:sp>
      <p:sp>
        <p:nvSpPr>
          <p:cNvPr id="3" name="Content Placeholder 2">
            <a:extLst>
              <a:ext uri="{FF2B5EF4-FFF2-40B4-BE49-F238E27FC236}">
                <a16:creationId xmlns:a16="http://schemas.microsoft.com/office/drawing/2014/main" id="{D9D02346-36B9-1322-04CB-0AA371D3CFD8}"/>
              </a:ext>
            </a:extLst>
          </p:cNvPr>
          <p:cNvSpPr>
            <a:spLocks noGrp="1"/>
          </p:cNvSpPr>
          <p:nvPr>
            <p:ph idx="1"/>
          </p:nvPr>
        </p:nvSpPr>
        <p:spPr/>
        <p:txBody>
          <a:bodyPr/>
          <a:lstStyle/>
          <a:p>
            <a:endParaRPr lang="en-CA"/>
          </a:p>
        </p:txBody>
      </p:sp>
      <p:pic>
        <p:nvPicPr>
          <p:cNvPr id="8" name="Picture 7">
            <a:extLst>
              <a:ext uri="{FF2B5EF4-FFF2-40B4-BE49-F238E27FC236}">
                <a16:creationId xmlns:a16="http://schemas.microsoft.com/office/drawing/2014/main" id="{9CAB983C-1893-679A-8409-95C722A0FBA1}"/>
              </a:ext>
            </a:extLst>
          </p:cNvPr>
          <p:cNvPicPr>
            <a:picLocks noChangeAspect="1"/>
          </p:cNvPicPr>
          <p:nvPr/>
        </p:nvPicPr>
        <p:blipFill>
          <a:blip r:embed="rId3"/>
          <a:stretch>
            <a:fillRect/>
          </a:stretch>
        </p:blipFill>
        <p:spPr>
          <a:xfrm>
            <a:off x="3544380" y="0"/>
            <a:ext cx="7732511" cy="6858000"/>
          </a:xfrm>
          <a:prstGeom prst="rect">
            <a:avLst/>
          </a:prstGeom>
        </p:spPr>
      </p:pic>
    </p:spTree>
    <p:extLst>
      <p:ext uri="{BB962C8B-B14F-4D97-AF65-F5344CB8AC3E}">
        <p14:creationId xmlns:p14="http://schemas.microsoft.com/office/powerpoint/2010/main" val="6736190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25</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Modeling Approaches</a:t>
            </a:r>
          </a:p>
        </p:txBody>
      </p:sp>
      <p:sp>
        <p:nvSpPr>
          <p:cNvPr id="3" name="Content Placeholder 2">
            <a:extLst>
              <a:ext uri="{FF2B5EF4-FFF2-40B4-BE49-F238E27FC236}">
                <a16:creationId xmlns:a16="http://schemas.microsoft.com/office/drawing/2014/main" id="{2D3116C4-FF2A-E999-69ED-BE3BF3633C31}"/>
              </a:ext>
            </a:extLst>
          </p:cNvPr>
          <p:cNvSpPr>
            <a:spLocks noGrp="1"/>
          </p:cNvSpPr>
          <p:nvPr>
            <p:ph idx="1"/>
          </p:nvPr>
        </p:nvSpPr>
        <p:spPr>
          <a:xfrm>
            <a:off x="762000" y="896918"/>
            <a:ext cx="10134600" cy="5283220"/>
          </a:xfrm>
        </p:spPr>
        <p:txBody>
          <a:bodyPr>
            <a:normAutofit/>
          </a:bodyPr>
          <a:lstStyle/>
          <a:p>
            <a:pPr marL="342900" indent="-342900">
              <a:buFont typeface="+mj-lt"/>
              <a:buAutoNum type="arabicPeriod"/>
            </a:pPr>
            <a:r>
              <a:rPr lang="en-CA" sz="2400" dirty="0">
                <a:latin typeface="Aptos" panose="020B0004020202020204" pitchFamily="34" charset="0"/>
              </a:rPr>
              <a:t>“Baseline model”: health risk, risk preferences, plan characteristics</a:t>
            </a:r>
          </a:p>
          <a:p>
            <a:pPr marL="342900" indent="-342900">
              <a:buFont typeface="+mj-lt"/>
              <a:buAutoNum type="arabicPeriod"/>
            </a:pPr>
            <a:r>
              <a:rPr lang="en-CA" sz="2400" dirty="0">
                <a:latin typeface="Aptos" panose="020B0004020202020204" pitchFamily="34" charset="0"/>
              </a:rPr>
              <a:t>Add only one friction (inertia)</a:t>
            </a:r>
          </a:p>
          <a:p>
            <a:pPr marL="342900" indent="-342900">
              <a:buFont typeface="+mj-lt"/>
              <a:buAutoNum type="arabicPeriod"/>
            </a:pPr>
            <a:r>
              <a:rPr lang="en-CA" sz="2400" dirty="0">
                <a:latin typeface="Aptos" panose="020B0004020202020204" pitchFamily="34" charset="0"/>
              </a:rPr>
              <a:t>Add all other frictions (information friction, hassle costs)</a:t>
            </a:r>
          </a:p>
          <a:p>
            <a:pPr marL="342900" indent="-342900">
              <a:buFont typeface="+mj-lt"/>
              <a:buAutoNum type="arabicPeriod"/>
            </a:pPr>
            <a:r>
              <a:rPr lang="en-CA" sz="2400" dirty="0">
                <a:latin typeface="Aptos" panose="020B0004020202020204" pitchFamily="34" charset="0"/>
              </a:rPr>
              <a:t>Estimate a “types” model </a:t>
            </a:r>
          </a:p>
          <a:p>
            <a:pPr lvl="1"/>
            <a:r>
              <a:rPr lang="en-CA" sz="2200" dirty="0">
                <a:latin typeface="Aptos" panose="020B0004020202020204" pitchFamily="34" charset="0"/>
              </a:rPr>
              <a:t>Consolidate all frictions to one dimension</a:t>
            </a:r>
          </a:p>
          <a:p>
            <a:pPr lvl="1"/>
            <a:endParaRPr lang="en-CA" sz="2200" dirty="0">
              <a:latin typeface="Aptos" panose="020B0004020202020204" pitchFamily="34" charset="0"/>
            </a:endParaRPr>
          </a:p>
        </p:txBody>
      </p:sp>
      <p:pic>
        <p:nvPicPr>
          <p:cNvPr id="8" name="Picture 7">
            <a:extLst>
              <a:ext uri="{FF2B5EF4-FFF2-40B4-BE49-F238E27FC236}">
                <a16:creationId xmlns:a16="http://schemas.microsoft.com/office/drawing/2014/main" id="{86CCD2BC-F7DA-4CB1-54DF-994464851D05}"/>
              </a:ext>
            </a:extLst>
          </p:cNvPr>
          <p:cNvPicPr>
            <a:picLocks noChangeAspect="1"/>
          </p:cNvPicPr>
          <p:nvPr/>
        </p:nvPicPr>
        <p:blipFill>
          <a:blip r:embed="rId3"/>
          <a:stretch>
            <a:fillRect/>
          </a:stretch>
        </p:blipFill>
        <p:spPr>
          <a:xfrm>
            <a:off x="4376755" y="3276600"/>
            <a:ext cx="6821408" cy="3581400"/>
          </a:xfrm>
          <a:prstGeom prst="rect">
            <a:avLst/>
          </a:prstGeom>
        </p:spPr>
      </p:pic>
    </p:spTree>
    <p:extLst>
      <p:ext uri="{BB962C8B-B14F-4D97-AF65-F5344CB8AC3E}">
        <p14:creationId xmlns:p14="http://schemas.microsoft.com/office/powerpoint/2010/main" val="724116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r>
                  <a:rPr lang="en-US" sz="2400" dirty="0">
                    <a:cs typeface="Times New Roman" panose="02020603050405020304" pitchFamily="18" charset="0"/>
                  </a:rPr>
                  <a:t>In practice, authors focus on two things for </a:t>
                </a:r>
                <a:r>
                  <a:rPr lang="en-US" sz="2400" i="1" dirty="0">
                    <a:cs typeface="Times New Roman" panose="02020603050405020304" pitchFamily="18" charset="0"/>
                  </a:rPr>
                  <a:t>ex-post</a:t>
                </a:r>
                <a:r>
                  <a:rPr lang="en-US" sz="2400" dirty="0">
                    <a:cs typeface="Times New Roman" panose="02020603050405020304" pitchFamily="18" charset="0"/>
                  </a:rPr>
                  <a:t> utility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𝑖</m:t>
                        </m:r>
                      </m:sub>
                    </m:sSub>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𝑖𝑗</m:t>
                            </m:r>
                          </m:sub>
                        </m:sSub>
                      </m:e>
                    </m:d>
                  </m:oMath>
                </a14:m>
                <a:r>
                  <a:rPr lang="en-US" sz="2400" dirty="0">
                    <a:cs typeface="Times New Roman" panose="02020603050405020304" pitchFamily="18" charset="0"/>
                  </a:rPr>
                  <a:t>: </a:t>
                </a:r>
              </a:p>
              <a:p>
                <a:pPr lvl="1"/>
                <a:r>
                  <a:rPr lang="en-US" sz="2200" dirty="0">
                    <a:cs typeface="Times New Roman" panose="02020603050405020304" pitchFamily="18" charset="0"/>
                  </a:rPr>
                  <a:t>Large perceived costs of switching plans </a:t>
                </a:r>
              </a:p>
              <a:p>
                <a:pPr lvl="1"/>
                <a:r>
                  <a:rPr lang="en-US" sz="2200" dirty="0">
                    <a:cs typeface="Times New Roman" panose="02020603050405020304" pitchFamily="18" charset="0"/>
                  </a:rPr>
                  <a:t>Additional utility “penalties” for HDHP enrollment</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W</m:t>
                          </m:r>
                        </m:e>
                        <m:sub>
                          <m:r>
                            <m:rPr>
                              <m:sty m:val="p"/>
                            </m:rPr>
                            <a:rPr lang="en-US" sz="2400" b="0" i="0" smtClean="0">
                              <a:latin typeface="Cambria Math" panose="02040503050406030204" pitchFamily="18" charset="0"/>
                              <a:cs typeface="Times New Roman" panose="02020603050405020304" pitchFamily="18" charset="0"/>
                            </a:rPr>
                            <m:t>i</m:t>
                          </m:r>
                        </m:sub>
                      </m:sSub>
                      <m:r>
                        <a:rPr lang="en-US" sz="2400" b="0" i="0"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P</m:t>
                          </m:r>
                        </m:e>
                        <m:sub>
                          <m:r>
                            <m:rPr>
                              <m:sty m:val="p"/>
                            </m:rPr>
                            <a:rPr lang="en-US" sz="2400" b="0" i="0" smtClean="0">
                              <a:latin typeface="Cambria Math" panose="02040503050406030204" pitchFamily="18" charset="0"/>
                              <a:cs typeface="Times New Roman" panose="02020603050405020304" pitchFamily="18" charset="0"/>
                            </a:rPr>
                            <m:t>ij</m:t>
                          </m:r>
                        </m:sub>
                      </m:sSub>
                      <m:r>
                        <a:rPr lang="en-US" sz="2400" b="0" i="0"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s</m:t>
                      </m:r>
                      <m:r>
                        <a:rPr lang="en-US" sz="2400" b="0" i="0"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𝜂</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m:t>
                              </m:r>
                            </m:sub>
                          </m:sSub>
                        </m:e>
                      </m:d>
                      <m:r>
                        <a:rPr lang="en-US" sz="2400" b="0" i="1" smtClean="0">
                          <a:latin typeface="Cambria Math" panose="02040503050406030204" pitchFamily="18" charset="0"/>
                          <a:cs typeface="Times New Roman" panose="02020603050405020304" pitchFamily="18" charset="0"/>
                        </a:rPr>
                        <m:t>𝕀</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𝑗</m:t>
                              </m:r>
                            </m:e>
                            <m:sub>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𝑗</m:t>
                              </m:r>
                            </m:e>
                            <m:sub>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Sup>
                        <m:sSubSupPr>
                          <m:ctrlPr>
                            <a:rPr lang="en-US" sz="2400" b="1" i="1" smtClean="0">
                              <a:latin typeface="Cambria Math" panose="02040503050406030204" pitchFamily="18" charset="0"/>
                              <a:cs typeface="Times New Roman" panose="02020603050405020304" pitchFamily="18" charset="0"/>
                            </a:rPr>
                          </m:ctrlPr>
                        </m:sSubSupPr>
                        <m:e>
                          <m:r>
                            <a:rPr lang="en-US" sz="2400" b="1" i="1" smtClean="0">
                              <a:latin typeface="Cambria Math" panose="02040503050406030204" pitchFamily="18" charset="0"/>
                              <a:cs typeface="Times New Roman" panose="02020603050405020304" pitchFamily="18" charset="0"/>
                            </a:rPr>
                            <m:t>𝒁</m:t>
                          </m:r>
                        </m:e>
                        <m:sub>
                          <m:r>
                            <a:rPr lang="en-US" sz="2400" b="1" i="1" smtClean="0">
                              <a:latin typeface="Cambria Math" panose="02040503050406030204" pitchFamily="18" charset="0"/>
                              <a:cs typeface="Times New Roman" panose="02020603050405020304" pitchFamily="18" charset="0"/>
                            </a:rPr>
                            <m:t>𝒊</m:t>
                          </m:r>
                        </m:sub>
                        <m:sup>
                          <m:r>
                            <a:rPr lang="en-US" sz="2400" b="1" i="1" smtClean="0">
                              <a:latin typeface="Cambria Math" panose="02040503050406030204" pitchFamily="18" charset="0"/>
                              <a:cs typeface="Times New Roman" panose="02020603050405020304" pitchFamily="18" charset="0"/>
                            </a:rPr>
                            <m:t>′</m:t>
                          </m:r>
                        </m:sup>
                      </m:sSubSup>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𝕀</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𝐻𝐷𝐻</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𝑃</m:t>
                              </m:r>
                            </m:e>
                            <m:sub>
                              <m:r>
                                <a:rPr lang="en-US" sz="2400" b="0" i="1" smtClean="0">
                                  <a:latin typeface="Cambria Math" panose="02040503050406030204" pitchFamily="18" charset="0"/>
                                  <a:cs typeface="Times New Roman" panose="02020603050405020304" pitchFamily="18" charset="0"/>
                                </a:rPr>
                                <m:t>𝑗</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𝑖𝑗</m:t>
                          </m:r>
                          <m:r>
                            <a:rPr lang="en-US" sz="2400" b="0" i="1" smtClean="0">
                              <a:latin typeface="Cambria Math" panose="02040503050406030204" pitchFamily="18" charset="0"/>
                              <a:cs typeface="Times New Roman" panose="02020603050405020304" pitchFamily="18" charset="0"/>
                            </a:rPr>
                            <m:t> </m:t>
                          </m:r>
                        </m:sub>
                      </m:sSub>
                    </m:oMath>
                  </m:oMathPara>
                </a14:m>
                <a:endParaRPr lang="en-US"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marL="731520" lvl="1" indent="-457200">
                  <a:buFont typeface="+mj-lt"/>
                  <a:buAutoNum type="arabicPeriod"/>
                </a:pP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𝜂</m:t>
                        </m:r>
                      </m:e>
                    </m:d>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The average (SD) $$$ foregone due to inertia is $2,396 ($503)</a:t>
                </a:r>
              </a:p>
              <a:p>
                <a:pPr marL="731520" lvl="1" indent="-457200">
                  <a:buFont typeface="+mj-lt"/>
                  <a:buAutoNum type="arabicPeriod"/>
                </a:pPr>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409" t="-807"/>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26</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What does this look like? </a:t>
            </a:r>
          </a:p>
        </p:txBody>
      </p:sp>
    </p:spTree>
    <p:extLst>
      <p:ext uri="{BB962C8B-B14F-4D97-AF65-F5344CB8AC3E}">
        <p14:creationId xmlns:p14="http://schemas.microsoft.com/office/powerpoint/2010/main" val="32043553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r>
                  <a:rPr lang="en-US" sz="2400" dirty="0">
                    <a:cs typeface="Times New Roman" panose="02020603050405020304" pitchFamily="18" charset="0"/>
                  </a:rPr>
                  <a:t>In practice, authors focus on two things for </a:t>
                </a:r>
                <a:r>
                  <a:rPr lang="en-US" sz="2400" i="1" dirty="0">
                    <a:cs typeface="Times New Roman" panose="02020603050405020304" pitchFamily="18" charset="0"/>
                  </a:rPr>
                  <a:t>ex-post</a:t>
                </a:r>
                <a:r>
                  <a:rPr lang="en-US" sz="2400" dirty="0">
                    <a:cs typeface="Times New Roman" panose="02020603050405020304" pitchFamily="18" charset="0"/>
                  </a:rPr>
                  <a:t> utility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𝑖</m:t>
                        </m:r>
                      </m:sub>
                    </m:sSub>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𝑖𝑗</m:t>
                            </m:r>
                          </m:sub>
                        </m:sSub>
                      </m:e>
                    </m:d>
                  </m:oMath>
                </a14:m>
                <a:r>
                  <a:rPr lang="en-US" sz="2400" dirty="0">
                    <a:cs typeface="Times New Roman" panose="02020603050405020304" pitchFamily="18" charset="0"/>
                  </a:rPr>
                  <a:t>: </a:t>
                </a:r>
              </a:p>
              <a:p>
                <a:pPr lvl="1"/>
                <a:r>
                  <a:rPr lang="en-US" sz="2200" dirty="0">
                    <a:cs typeface="Times New Roman" panose="02020603050405020304" pitchFamily="18" charset="0"/>
                  </a:rPr>
                  <a:t>Large perceived costs of switching plans </a:t>
                </a:r>
              </a:p>
              <a:p>
                <a:pPr lvl="1"/>
                <a:r>
                  <a:rPr lang="en-US" sz="2200" dirty="0">
                    <a:cs typeface="Times New Roman" panose="02020603050405020304" pitchFamily="18" charset="0"/>
                  </a:rPr>
                  <a:t>Additional utility “penalties” for HDHP enrollment</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W</m:t>
                          </m:r>
                        </m:e>
                        <m:sub>
                          <m:r>
                            <m:rPr>
                              <m:sty m:val="p"/>
                            </m:rPr>
                            <a:rPr lang="en-US" sz="2400" b="0" i="0" smtClean="0">
                              <a:latin typeface="Cambria Math" panose="02040503050406030204" pitchFamily="18" charset="0"/>
                              <a:cs typeface="Times New Roman" panose="02020603050405020304" pitchFamily="18" charset="0"/>
                            </a:rPr>
                            <m:t>i</m:t>
                          </m:r>
                        </m:sub>
                      </m:sSub>
                      <m:r>
                        <a:rPr lang="en-US" sz="2400" b="0" i="0"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P</m:t>
                          </m:r>
                        </m:e>
                        <m:sub>
                          <m:r>
                            <m:rPr>
                              <m:sty m:val="p"/>
                            </m:rPr>
                            <a:rPr lang="en-US" sz="2400" b="0" i="0" smtClean="0">
                              <a:latin typeface="Cambria Math" panose="02040503050406030204" pitchFamily="18" charset="0"/>
                              <a:cs typeface="Times New Roman" panose="02020603050405020304" pitchFamily="18" charset="0"/>
                            </a:rPr>
                            <m:t>ij</m:t>
                          </m:r>
                        </m:sub>
                      </m:sSub>
                      <m:r>
                        <a:rPr lang="en-US" sz="2400" b="0" i="0"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s</m:t>
                      </m:r>
                      <m:r>
                        <a:rPr lang="en-US" sz="2400" b="0" i="0"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𝜂</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m:t>
                              </m:r>
                            </m:sub>
                          </m:sSub>
                        </m:e>
                      </m:d>
                      <m:r>
                        <a:rPr lang="en-US" sz="2400" b="0" i="1" smtClean="0">
                          <a:latin typeface="Cambria Math" panose="02040503050406030204" pitchFamily="18" charset="0"/>
                          <a:cs typeface="Times New Roman" panose="02020603050405020304" pitchFamily="18" charset="0"/>
                        </a:rPr>
                        <m:t>𝕀</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𝑗</m:t>
                              </m:r>
                            </m:e>
                            <m:sub>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𝑗</m:t>
                              </m:r>
                            </m:e>
                            <m:sub>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Sup>
                        <m:sSubSupPr>
                          <m:ctrlPr>
                            <a:rPr lang="en-US" sz="2400" b="1" i="1" smtClean="0">
                              <a:latin typeface="Cambria Math" panose="02040503050406030204" pitchFamily="18" charset="0"/>
                              <a:cs typeface="Times New Roman" panose="02020603050405020304" pitchFamily="18" charset="0"/>
                            </a:rPr>
                          </m:ctrlPr>
                        </m:sSubSupPr>
                        <m:e>
                          <m:r>
                            <a:rPr lang="en-US" sz="2400" b="1" i="1" smtClean="0">
                              <a:latin typeface="Cambria Math" panose="02040503050406030204" pitchFamily="18" charset="0"/>
                              <a:cs typeface="Times New Roman" panose="02020603050405020304" pitchFamily="18" charset="0"/>
                            </a:rPr>
                            <m:t>𝒁</m:t>
                          </m:r>
                        </m:e>
                        <m:sub>
                          <m:r>
                            <a:rPr lang="en-US" sz="2400" b="1" i="1" smtClean="0">
                              <a:latin typeface="Cambria Math" panose="02040503050406030204" pitchFamily="18" charset="0"/>
                              <a:cs typeface="Times New Roman" panose="02020603050405020304" pitchFamily="18" charset="0"/>
                            </a:rPr>
                            <m:t>𝒊</m:t>
                          </m:r>
                        </m:sub>
                        <m:sup>
                          <m:r>
                            <a:rPr lang="en-US" sz="2400" b="1" i="1" smtClean="0">
                              <a:latin typeface="Cambria Math" panose="02040503050406030204" pitchFamily="18" charset="0"/>
                              <a:cs typeface="Times New Roman" panose="02020603050405020304" pitchFamily="18" charset="0"/>
                            </a:rPr>
                            <m:t>′</m:t>
                          </m:r>
                        </m:sup>
                      </m:sSubSup>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𝕀</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𝐻𝐷𝐻</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𝑃</m:t>
                              </m:r>
                            </m:e>
                            <m:sub>
                              <m:r>
                                <a:rPr lang="en-US" sz="2400" b="0" i="1" smtClean="0">
                                  <a:latin typeface="Cambria Math" panose="02040503050406030204" pitchFamily="18" charset="0"/>
                                  <a:cs typeface="Times New Roman" panose="02020603050405020304" pitchFamily="18" charset="0"/>
                                </a:rPr>
                                <m:t>𝑗</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𝑖𝑗</m:t>
                          </m:r>
                          <m:r>
                            <a:rPr lang="en-US" sz="2400" b="0" i="1" smtClean="0">
                              <a:latin typeface="Cambria Math" panose="02040503050406030204" pitchFamily="18" charset="0"/>
                              <a:cs typeface="Times New Roman" panose="02020603050405020304" pitchFamily="18" charset="0"/>
                            </a:rPr>
                            <m:t> </m:t>
                          </m:r>
                        </m:sub>
                      </m:sSub>
                    </m:oMath>
                  </m:oMathPara>
                </a14:m>
                <a:endParaRPr lang="en-US"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marL="731520" lvl="1" indent="-457200">
                  <a:buFont typeface="+mj-lt"/>
                  <a:buAutoNum type="arabicPeriod"/>
                </a:pP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𝜂</m:t>
                        </m:r>
                      </m:e>
                    </m:d>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The average (SD) $$$ foregone due to inertia is $2,396 ($503)</a:t>
                </a:r>
              </a:p>
              <a:p>
                <a:pPr marL="731520" lvl="1" indent="-457200">
                  <a:buFont typeface="+mj-lt"/>
                  <a:buAutoNum type="arabicPeriod"/>
                </a:pP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Large costs associated with “hassle costs”</a:t>
                </a:r>
              </a:p>
              <a:p>
                <a:pPr marL="0" indent="0">
                  <a:buNone/>
                </a:pPr>
                <a:r>
                  <a:rPr lang="en-US" sz="2400" b="1" u="sng" dirty="0">
                    <a:solidFill>
                      <a:schemeClr val="accent2">
                        <a:lumMod val="75000"/>
                      </a:schemeClr>
                    </a:solidFill>
                    <a:cs typeface="Times New Roman" panose="02020603050405020304" pitchFamily="18" charset="0"/>
                  </a:rPr>
                  <a:t>Are we modeling mistakes here? </a:t>
                </a:r>
                <a:endParaRPr lang="en-US" sz="2200" b="1" u="sng" dirty="0">
                  <a:solidFill>
                    <a:schemeClr val="accent2">
                      <a:lumMod val="75000"/>
                    </a:schemeClr>
                  </a:solidFill>
                  <a:cs typeface="Times New Roman" panose="02020603050405020304" pitchFamily="18" charset="0"/>
                </a:endParaRPr>
              </a:p>
              <a:p>
                <a:pPr marL="731520" lvl="1" indent="-457200">
                  <a:buFont typeface="+mj-lt"/>
                  <a:buAutoNum type="arabicPeriod"/>
                </a:pPr>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876" t="-807"/>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27</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What does this look like? </a:t>
            </a:r>
          </a:p>
        </p:txBody>
      </p:sp>
    </p:spTree>
    <p:extLst>
      <p:ext uri="{BB962C8B-B14F-4D97-AF65-F5344CB8AC3E}">
        <p14:creationId xmlns:p14="http://schemas.microsoft.com/office/powerpoint/2010/main" val="1274818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r>
                  <a:rPr lang="en-US" sz="2400" dirty="0">
                    <a:cs typeface="Times New Roman" panose="02020603050405020304" pitchFamily="18" charset="0"/>
                  </a:rPr>
                  <a:t>In practice, authors focus on two things for </a:t>
                </a:r>
                <a:r>
                  <a:rPr lang="en-US" sz="2400" i="1" dirty="0">
                    <a:cs typeface="Times New Roman" panose="02020603050405020304" pitchFamily="18" charset="0"/>
                  </a:rPr>
                  <a:t>ex-post</a:t>
                </a:r>
                <a:r>
                  <a:rPr lang="en-US" sz="2400" dirty="0">
                    <a:cs typeface="Times New Roman" panose="02020603050405020304" pitchFamily="18" charset="0"/>
                  </a:rPr>
                  <a:t> utility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𝑢</m:t>
                        </m:r>
                      </m:e>
                      <m:sub>
                        <m:r>
                          <a:rPr lang="en-US" sz="2400" b="0" i="1" smtClean="0">
                            <a:latin typeface="Cambria Math" panose="02040503050406030204" pitchFamily="18" charset="0"/>
                            <a:cs typeface="Times New Roman" panose="02020603050405020304" pitchFamily="18" charset="0"/>
                          </a:rPr>
                          <m:t>𝑖</m:t>
                        </m:r>
                      </m:sub>
                    </m:sSub>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𝑖𝑗</m:t>
                            </m:r>
                          </m:sub>
                        </m:sSub>
                      </m:e>
                    </m:d>
                  </m:oMath>
                </a14:m>
                <a:r>
                  <a:rPr lang="en-US" sz="2400" dirty="0">
                    <a:cs typeface="Times New Roman" panose="02020603050405020304" pitchFamily="18" charset="0"/>
                  </a:rPr>
                  <a:t>: </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W</m:t>
                          </m:r>
                        </m:e>
                        <m:sub>
                          <m:r>
                            <m:rPr>
                              <m:sty m:val="p"/>
                            </m:rPr>
                            <a:rPr lang="en-US" sz="2400" b="0" i="0" smtClean="0">
                              <a:latin typeface="Cambria Math" panose="02040503050406030204" pitchFamily="18" charset="0"/>
                              <a:cs typeface="Times New Roman" panose="02020603050405020304" pitchFamily="18" charset="0"/>
                            </a:rPr>
                            <m:t>i</m:t>
                          </m:r>
                        </m:sub>
                      </m:sSub>
                      <m:r>
                        <a:rPr lang="en-US" sz="2400" b="0" i="0"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P</m:t>
                          </m:r>
                        </m:e>
                        <m:sub>
                          <m:r>
                            <m:rPr>
                              <m:sty m:val="p"/>
                            </m:rPr>
                            <a:rPr lang="en-US" sz="2400" b="0" i="0" smtClean="0">
                              <a:latin typeface="Cambria Math" panose="02040503050406030204" pitchFamily="18" charset="0"/>
                              <a:cs typeface="Times New Roman" panose="02020603050405020304" pitchFamily="18" charset="0"/>
                            </a:rPr>
                            <m:t>ij</m:t>
                          </m:r>
                        </m:sub>
                      </m:sSub>
                      <m:r>
                        <a:rPr lang="en-US" sz="2400" b="0" i="0"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s</m:t>
                      </m:r>
                      <m:r>
                        <a:rPr lang="en-US" sz="2400" b="0" i="0"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𝜂</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m:t>
                              </m:r>
                            </m:sub>
                          </m:sSub>
                        </m:e>
                      </m:d>
                      <m:r>
                        <a:rPr lang="en-US" sz="2400" b="0" i="1" smtClean="0">
                          <a:latin typeface="Cambria Math" panose="02040503050406030204" pitchFamily="18" charset="0"/>
                          <a:cs typeface="Times New Roman" panose="02020603050405020304" pitchFamily="18" charset="0"/>
                        </a:rPr>
                        <m:t>𝕀</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𝑗</m:t>
                              </m:r>
                            </m:e>
                            <m:sub>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𝑗</m:t>
                              </m:r>
                            </m:e>
                            <m:sub>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Sup>
                        <m:sSubSupPr>
                          <m:ctrlPr>
                            <a:rPr lang="en-US" sz="2400" b="1" i="1" smtClean="0">
                              <a:latin typeface="Cambria Math" panose="02040503050406030204" pitchFamily="18" charset="0"/>
                              <a:cs typeface="Times New Roman" panose="02020603050405020304" pitchFamily="18" charset="0"/>
                            </a:rPr>
                          </m:ctrlPr>
                        </m:sSubSupPr>
                        <m:e>
                          <m:r>
                            <a:rPr lang="en-US" sz="2400" b="1" i="1" smtClean="0">
                              <a:latin typeface="Cambria Math" panose="02040503050406030204" pitchFamily="18" charset="0"/>
                              <a:cs typeface="Times New Roman" panose="02020603050405020304" pitchFamily="18" charset="0"/>
                            </a:rPr>
                            <m:t>𝒁</m:t>
                          </m:r>
                        </m:e>
                        <m:sub>
                          <m:r>
                            <a:rPr lang="en-US" sz="2400" b="1" i="1" smtClean="0">
                              <a:latin typeface="Cambria Math" panose="02040503050406030204" pitchFamily="18" charset="0"/>
                              <a:cs typeface="Times New Roman" panose="02020603050405020304" pitchFamily="18" charset="0"/>
                            </a:rPr>
                            <m:t>𝒊</m:t>
                          </m:r>
                        </m:sub>
                        <m:sup>
                          <m:r>
                            <a:rPr lang="en-US" sz="2400" b="1" i="1" smtClean="0">
                              <a:latin typeface="Cambria Math" panose="02040503050406030204" pitchFamily="18" charset="0"/>
                              <a:cs typeface="Times New Roman" panose="02020603050405020304" pitchFamily="18" charset="0"/>
                            </a:rPr>
                            <m:t>′</m:t>
                          </m:r>
                        </m:sup>
                      </m:sSubSup>
                      <m:r>
                        <a:rPr lang="en-US" sz="2400" b="0" i="1" smtClean="0">
                          <a:latin typeface="Cambria Math" panose="02040503050406030204" pitchFamily="18" charset="0"/>
                          <a:cs typeface="Times New Roman" panose="02020603050405020304" pitchFamily="18" charset="0"/>
                        </a:rPr>
                        <m:t>𝛽</m:t>
                      </m:r>
                      <m:r>
                        <a:rPr lang="en-US" sz="2400" b="0" i="1" smtClean="0">
                          <a:latin typeface="Cambria Math" panose="02040503050406030204" pitchFamily="18" charset="0"/>
                          <a:cs typeface="Times New Roman" panose="02020603050405020304" pitchFamily="18" charset="0"/>
                        </a:rPr>
                        <m:t>𝕀</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𝐻𝐷𝐻</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𝑃</m:t>
                              </m:r>
                            </m:e>
                            <m:sub>
                              <m:r>
                                <a:rPr lang="en-US" sz="2400" b="0" i="1" smtClean="0">
                                  <a:latin typeface="Cambria Math" panose="02040503050406030204" pitchFamily="18" charset="0"/>
                                  <a:cs typeface="Times New Roman" panose="02020603050405020304" pitchFamily="18" charset="0"/>
                                </a:rPr>
                                <m:t>𝑗</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𝑖𝑗</m:t>
                          </m:r>
                          <m:r>
                            <a:rPr lang="en-US" sz="2400" b="0" i="1" smtClean="0">
                              <a:latin typeface="Cambria Math" panose="02040503050406030204" pitchFamily="18" charset="0"/>
                              <a:cs typeface="Times New Roman" panose="02020603050405020304" pitchFamily="18" charset="0"/>
                            </a:rPr>
                            <m:t> </m:t>
                          </m:r>
                        </m:sub>
                      </m:sSub>
                    </m:oMath>
                  </m:oMathPara>
                </a14:m>
                <a:endParaRPr lang="en-US" sz="2400" b="0" dirty="0">
                  <a:cs typeface="Times New Roman" panose="02020603050405020304" pitchFamily="18" charset="0"/>
                </a:endParaRPr>
              </a:p>
              <a:p>
                <a:pPr marL="0" indent="0">
                  <a:buNone/>
                </a:pPr>
                <a:r>
                  <a:rPr lang="en-US" sz="2400" b="1" u="sng" dirty="0">
                    <a:solidFill>
                      <a:schemeClr val="accent2">
                        <a:lumMod val="75000"/>
                      </a:schemeClr>
                    </a:solidFill>
                    <a:cs typeface="Times New Roman" panose="02020603050405020304" pitchFamily="18" charset="0"/>
                  </a:rPr>
                  <a:t>What do we need for identification? </a:t>
                </a:r>
                <a:r>
                  <a:rPr lang="en-US" sz="1600" dirty="0"/>
                  <a:t>(How might these be violated? What would happen if they were?)</a:t>
                </a:r>
                <a:endParaRPr lang="en-US" sz="1600" b="1" u="sng" dirty="0">
                  <a:solidFill>
                    <a:schemeClr val="accent2">
                      <a:lumMod val="75000"/>
                    </a:schemeClr>
                  </a:solidFill>
                  <a:cs typeface="Times New Roman" panose="02020603050405020304" pitchFamily="18" charset="0"/>
                </a:endParaRPr>
              </a:p>
              <a:p>
                <a:r>
                  <a:rPr lang="en-US" sz="2000" dirty="0"/>
                  <a:t>Risk preferences γ are independent of friction measures Z. </a:t>
                </a:r>
              </a:p>
              <a:p>
                <a:r>
                  <a:rPr lang="en-US" sz="2000" dirty="0"/>
                  <a:t>Frictions shift utility by the same amount for all potential realizations of health expenditures from </a:t>
                </a:r>
                <a14:m>
                  <m:oMath xmlns:m="http://schemas.openxmlformats.org/officeDocument/2006/math">
                    <m:sSub>
                      <m:sSubPr>
                        <m:ctrlPr>
                          <a:rPr lang="en-CA" sz="2000" b="0" i="1" smtClean="0">
                            <a:latin typeface="Cambria Math" panose="02040503050406030204" pitchFamily="18" charset="0"/>
                          </a:rPr>
                        </m:ctrlPr>
                      </m:sSubPr>
                      <m:e>
                        <m:r>
                          <a:rPr lang="en-CA" sz="2000" b="0" i="1" smtClean="0">
                            <a:latin typeface="Cambria Math" panose="02040503050406030204" pitchFamily="18" charset="0"/>
                          </a:rPr>
                          <m:t>𝐹</m:t>
                        </m:r>
                      </m:e>
                      <m:sub>
                        <m:r>
                          <a:rPr lang="en-CA" sz="2000" b="0" i="1" smtClean="0">
                            <a:latin typeface="Cambria Math" panose="02040503050406030204" pitchFamily="18" charset="0"/>
                          </a:rPr>
                          <m:t>𝑠</m:t>
                        </m:r>
                      </m:sub>
                    </m:sSub>
                    <m:d>
                      <m:dPr>
                        <m:ctrlPr>
                          <a:rPr lang="en-CA" sz="2000" b="0" i="1" smtClean="0">
                            <a:latin typeface="Cambria Math" panose="02040503050406030204" pitchFamily="18" charset="0"/>
                          </a:rPr>
                        </m:ctrlPr>
                      </m:dPr>
                      <m:e>
                        <m:r>
                          <a:rPr lang="en-CA" sz="2000" b="0" i="1" smtClean="0">
                            <a:latin typeface="Cambria Math" panose="02040503050406030204" pitchFamily="18" charset="0"/>
                          </a:rPr>
                          <m:t>⋅</m:t>
                        </m:r>
                      </m:e>
                    </m:d>
                  </m:oMath>
                </a14:m>
                <a:r>
                  <a:rPr lang="en-US" sz="2000" dirty="0"/>
                  <a:t>. </a:t>
                </a:r>
              </a:p>
              <a:p>
                <a:r>
                  <a:rPr lang="en-US" sz="2000" dirty="0"/>
                  <a:t>No correlations between health risk and risk preferences. </a:t>
                </a:r>
              </a:p>
              <a:p>
                <a:r>
                  <a:rPr lang="en-US" sz="2000" dirty="0">
                    <a:cs typeface="Times New Roman" panose="02020603050405020304" pitchFamily="18" charset="0"/>
                  </a:rPr>
                  <a:t>No correlations between frictions and inertia (get around this through </a:t>
                </a:r>
                <a:r>
                  <a:rPr lang="en-US" sz="2000" dirty="0" err="1">
                    <a:cs typeface="Times New Roman" panose="02020603050405020304" pitchFamily="18" charset="0"/>
                  </a:rPr>
                  <a:t>subsetting</a:t>
                </a:r>
                <a:r>
                  <a:rPr lang="en-US" sz="2000" dirty="0">
                    <a:cs typeface="Times New Roman" panose="02020603050405020304" pitchFamily="18" charset="0"/>
                  </a:rPr>
                  <a:t> the model)</a:t>
                </a:r>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l="-876" t="-807" r="-759"/>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28</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What does this look like? </a:t>
            </a:r>
          </a:p>
        </p:txBody>
      </p:sp>
    </p:spTree>
    <p:extLst>
      <p:ext uri="{BB962C8B-B14F-4D97-AF65-F5344CB8AC3E}">
        <p14:creationId xmlns:p14="http://schemas.microsoft.com/office/powerpoint/2010/main" val="3790368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96918"/>
            <a:ext cx="10439400" cy="5283220"/>
          </a:xfrm>
        </p:spPr>
        <p:txBody>
          <a:bodyPr>
            <a:noAutofit/>
          </a:bodyPr>
          <a:lstStyle/>
          <a:p>
            <a:pPr marL="274320" lvl="1" indent="0">
              <a:buNone/>
            </a:pPr>
            <a:r>
              <a:rPr lang="en-US" sz="2400" b="1" u="sng" dirty="0">
                <a:solidFill>
                  <a:schemeClr val="accent3">
                    <a:lumMod val="75000"/>
                  </a:schemeClr>
                </a:solidFill>
                <a:cs typeface="Times New Roman" panose="02020603050405020304" pitchFamily="18" charset="0"/>
              </a:rPr>
              <a:t>What if we just forced people into the best plan?</a:t>
            </a:r>
          </a:p>
          <a:p>
            <a:pPr marL="274320" lvl="1" indent="0">
              <a:buNone/>
            </a:pPr>
            <a:endParaRPr lang="en-US" sz="2400" b="1" u="sng" dirty="0">
              <a:solidFill>
                <a:schemeClr val="accent3">
                  <a:lumMod val="75000"/>
                </a:schemeClr>
              </a:solidFill>
              <a:cs typeface="Times New Roman" panose="02020603050405020304" pitchFamily="18" charset="0"/>
            </a:endParaRPr>
          </a:p>
          <a:p>
            <a:pPr lvl="1"/>
            <a:r>
              <a:rPr lang="en-US" sz="2400" dirty="0">
                <a:solidFill>
                  <a:schemeClr val="tx1"/>
                </a:solidFill>
                <a:cs typeface="Times New Roman" panose="02020603050405020304" pitchFamily="18" charset="0"/>
              </a:rPr>
              <a:t>Even simpler – what if we just take away the PPO choice and give everyone the HDHP? </a:t>
            </a:r>
          </a:p>
        </p:txBody>
      </p:sp>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29</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Counterfactual Simulations</a:t>
            </a:r>
          </a:p>
        </p:txBody>
      </p:sp>
    </p:spTree>
    <p:extLst>
      <p:ext uri="{BB962C8B-B14F-4D97-AF65-F5344CB8AC3E}">
        <p14:creationId xmlns:p14="http://schemas.microsoft.com/office/powerpoint/2010/main" val="18694264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96918"/>
            <a:ext cx="10439400" cy="5283220"/>
          </a:xfrm>
        </p:spPr>
        <p:txBody>
          <a:bodyPr>
            <a:noAutofit/>
          </a:bodyPr>
          <a:lstStyle/>
          <a:p>
            <a:pPr marL="274320" lvl="1" indent="0">
              <a:buNone/>
            </a:pPr>
            <a:endParaRPr lang="en-US" sz="2400" dirty="0">
              <a:solidFill>
                <a:schemeClr val="tx1"/>
              </a:solidFill>
              <a:cs typeface="Times New Roman" panose="02020603050405020304" pitchFamily="18" charset="0"/>
            </a:endParaRPr>
          </a:p>
        </p:txBody>
      </p:sp>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30</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Counterfactual Simulations</a:t>
            </a:r>
          </a:p>
        </p:txBody>
      </p:sp>
      <p:pic>
        <p:nvPicPr>
          <p:cNvPr id="6" name="Picture 5">
            <a:extLst>
              <a:ext uri="{FF2B5EF4-FFF2-40B4-BE49-F238E27FC236}">
                <a16:creationId xmlns:a16="http://schemas.microsoft.com/office/drawing/2014/main" id="{8349D73B-A60D-497E-43B2-7E6C97E481F5}"/>
              </a:ext>
            </a:extLst>
          </p:cNvPr>
          <p:cNvPicPr>
            <a:picLocks noChangeAspect="1"/>
          </p:cNvPicPr>
          <p:nvPr/>
        </p:nvPicPr>
        <p:blipFill>
          <a:blip r:embed="rId3"/>
          <a:stretch>
            <a:fillRect/>
          </a:stretch>
        </p:blipFill>
        <p:spPr>
          <a:xfrm>
            <a:off x="838200" y="1514376"/>
            <a:ext cx="6477000" cy="5249504"/>
          </a:xfrm>
          <a:prstGeom prst="rect">
            <a:avLst/>
          </a:prstGeom>
        </p:spPr>
      </p:pic>
    </p:spTree>
    <p:extLst>
      <p:ext uri="{BB962C8B-B14F-4D97-AF65-F5344CB8AC3E}">
        <p14:creationId xmlns:p14="http://schemas.microsoft.com/office/powerpoint/2010/main" val="2516127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96918"/>
            <a:ext cx="10439400" cy="5283220"/>
          </a:xfrm>
        </p:spPr>
        <p:txBody>
          <a:bodyPr>
            <a:noAutofit/>
          </a:bodyPr>
          <a:lstStyle/>
          <a:p>
            <a:pPr marL="274320" lvl="1" indent="0">
              <a:buNone/>
            </a:pPr>
            <a:endParaRPr lang="en-US" sz="2400" dirty="0">
              <a:solidFill>
                <a:schemeClr val="tx1"/>
              </a:solidFill>
              <a:cs typeface="Times New Roman" panose="02020603050405020304" pitchFamily="18" charset="0"/>
            </a:endParaRPr>
          </a:p>
        </p:txBody>
      </p:sp>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31</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Counterfactual Simulations</a:t>
            </a:r>
          </a:p>
        </p:txBody>
      </p:sp>
      <p:pic>
        <p:nvPicPr>
          <p:cNvPr id="7" name="Picture 6">
            <a:extLst>
              <a:ext uri="{FF2B5EF4-FFF2-40B4-BE49-F238E27FC236}">
                <a16:creationId xmlns:a16="http://schemas.microsoft.com/office/drawing/2014/main" id="{063F802F-CC0D-D980-0416-68DC71B83C1B}"/>
              </a:ext>
            </a:extLst>
          </p:cNvPr>
          <p:cNvPicPr>
            <a:picLocks noChangeAspect="1"/>
          </p:cNvPicPr>
          <p:nvPr/>
        </p:nvPicPr>
        <p:blipFill>
          <a:blip r:embed="rId3"/>
          <a:stretch>
            <a:fillRect/>
          </a:stretch>
        </p:blipFill>
        <p:spPr>
          <a:xfrm>
            <a:off x="365760" y="870335"/>
            <a:ext cx="8930640" cy="5328001"/>
          </a:xfrm>
          <a:prstGeom prst="rect">
            <a:avLst/>
          </a:prstGeom>
        </p:spPr>
      </p:pic>
    </p:spTree>
    <p:extLst>
      <p:ext uri="{BB962C8B-B14F-4D97-AF65-F5344CB8AC3E}">
        <p14:creationId xmlns:p14="http://schemas.microsoft.com/office/powerpoint/2010/main" val="35014834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fontScale="90000"/>
          </a:bodyPr>
          <a:lstStyle/>
          <a:p>
            <a:r>
              <a:rPr lang="en-US" dirty="0"/>
              <a:t>Baicker, Mullainathan, &amp; </a:t>
            </a:r>
            <a:r>
              <a:rPr lang="en-US" dirty="0" err="1"/>
              <a:t>Schwartzstein</a:t>
            </a:r>
            <a:r>
              <a:rPr lang="en-US" dirty="0"/>
              <a:t> (2015)</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0" y="4814777"/>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sz="2400" dirty="0"/>
              <a:t>“Behavioral Hazard in Health Insurance” </a:t>
            </a:r>
          </a:p>
          <a:p>
            <a:r>
              <a:rPr lang="en-US" sz="2400" i="1" dirty="0"/>
              <a:t>The Quarterly Journal of Economics</a:t>
            </a:r>
          </a:p>
        </p:txBody>
      </p:sp>
    </p:spTree>
    <p:extLst>
      <p:ext uri="{BB962C8B-B14F-4D97-AF65-F5344CB8AC3E}">
        <p14:creationId xmlns:p14="http://schemas.microsoft.com/office/powerpoint/2010/main" val="4057525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pPr lvl="1"/>
                <a:r>
                  <a:rPr lang="en-US" sz="2400" dirty="0">
                    <a:solidFill>
                      <a:schemeClr val="tx1"/>
                    </a:solidFill>
                    <a:cs typeface="Times New Roman" panose="02020603050405020304" pitchFamily="18" charset="0"/>
                  </a:rPr>
                  <a:t>Our models of patient choices have basically been do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𝑥</m:t>
                    </m:r>
                  </m:oMath>
                </a14:m>
                <a:r>
                  <a:rPr lang="en-US" sz="2400" dirty="0">
                    <a:solidFill>
                      <a:schemeClr val="tx1"/>
                    </a:solidFill>
                    <a:cs typeface="Times New Roman" panose="02020603050405020304" pitchFamily="18" charset="0"/>
                  </a:rPr>
                  <a:t> if and only if </a:t>
                </a:r>
              </a:p>
              <a:p>
                <a:pPr marL="274320" lvl="1"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𝑏</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𝑥</m:t>
                          </m:r>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𝑥</m:t>
                      </m:r>
                      <m:r>
                        <a:rPr lang="en-US" sz="2400" b="0" i="1"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Does this match the data? (Why is that a hard question to know?) </a:t>
                </a:r>
              </a:p>
              <a:p>
                <a:pPr lvl="1"/>
                <a:endParaRPr lang="en-US" sz="2400" dirty="0">
                  <a:solidFill>
                    <a:schemeClr val="tx1"/>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t="-1615"/>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33</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What about behavioral economics of patient choices?</a:t>
            </a:r>
          </a:p>
        </p:txBody>
      </p:sp>
    </p:spTree>
    <p:extLst>
      <p:ext uri="{BB962C8B-B14F-4D97-AF65-F5344CB8AC3E}">
        <p14:creationId xmlns:p14="http://schemas.microsoft.com/office/powerpoint/2010/main" val="31586697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pPr lvl="1"/>
                <a:r>
                  <a:rPr lang="en-US" sz="2400" dirty="0">
                    <a:solidFill>
                      <a:schemeClr val="tx1"/>
                    </a:solidFill>
                    <a:cs typeface="Times New Roman" panose="02020603050405020304" pitchFamily="18" charset="0"/>
                  </a:rPr>
                  <a:t>Our models of patient choices have basically been do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𝑥</m:t>
                    </m:r>
                  </m:oMath>
                </a14:m>
                <a:r>
                  <a:rPr lang="en-US" sz="2400" dirty="0">
                    <a:solidFill>
                      <a:schemeClr val="tx1"/>
                    </a:solidFill>
                    <a:cs typeface="Times New Roman" panose="02020603050405020304" pitchFamily="18" charset="0"/>
                  </a:rPr>
                  <a:t> if and only if </a:t>
                </a:r>
              </a:p>
              <a:p>
                <a:pPr marL="274320" lvl="1"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𝑏</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𝑥</m:t>
                          </m:r>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𝑥</m:t>
                      </m:r>
                      <m:r>
                        <a:rPr lang="en-US" sz="2400" b="0" i="1"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Does this match the data? (Why is that a hard question to know?) </a:t>
                </a:r>
              </a:p>
              <a:p>
                <a:pPr lvl="1"/>
                <a:r>
                  <a:rPr lang="en-US" sz="2400" dirty="0">
                    <a:solidFill>
                      <a:schemeClr val="tx1"/>
                    </a:solidFill>
                    <a:cs typeface="Times New Roman" panose="02020603050405020304" pitchFamily="18" charset="0"/>
                  </a:rPr>
                  <a:t>Are there situations where the choice is really </a:t>
                </a:r>
              </a:p>
              <a:p>
                <a:pPr marL="274320" lvl="1"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𝑏</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𝑥</m:t>
                          </m:r>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𝜀</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𝑥</m:t>
                          </m:r>
                        </m:e>
                      </m:d>
                      <m:r>
                        <a:rPr lang="en-US" sz="2400" b="0" i="0"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What could be captured in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𝜀</m:t>
                    </m:r>
                    <m:r>
                      <a:rPr lang="en-US" sz="2400" b="0" i="1" smtClean="0">
                        <a:solidFill>
                          <a:schemeClr val="tx1"/>
                        </a:solidFill>
                        <a:latin typeface="Cambria Math" panose="02040503050406030204" pitchFamily="18" charset="0"/>
                        <a:cs typeface="Times New Roman" panose="02020603050405020304" pitchFamily="18" charset="0"/>
                      </a:rPr>
                      <m:t>?</m:t>
                    </m:r>
                  </m:oMath>
                </a14:m>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t="-1615"/>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34</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What about behavioral economics of patient choices?</a:t>
            </a:r>
          </a:p>
        </p:txBody>
      </p:sp>
    </p:spTree>
    <p:extLst>
      <p:ext uri="{BB962C8B-B14F-4D97-AF65-F5344CB8AC3E}">
        <p14:creationId xmlns:p14="http://schemas.microsoft.com/office/powerpoint/2010/main" val="35801622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896918"/>
                <a:ext cx="10439400" cy="5283220"/>
              </a:xfrm>
            </p:spPr>
            <p:txBody>
              <a:bodyPr>
                <a:noAutofit/>
              </a:bodyPr>
              <a:lstStyle/>
              <a:p>
                <a:pPr lvl="1"/>
                <a:r>
                  <a:rPr lang="en-US" sz="2400" dirty="0">
                    <a:solidFill>
                      <a:schemeClr val="tx1"/>
                    </a:solidFill>
                    <a:cs typeface="Times New Roman" panose="02020603050405020304" pitchFamily="18" charset="0"/>
                  </a:rPr>
                  <a:t>Our models of patient choices have basically been do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𝑥</m:t>
                    </m:r>
                  </m:oMath>
                </a14:m>
                <a:r>
                  <a:rPr lang="en-US" sz="2400" dirty="0">
                    <a:solidFill>
                      <a:schemeClr val="tx1"/>
                    </a:solidFill>
                    <a:cs typeface="Times New Roman" panose="02020603050405020304" pitchFamily="18" charset="0"/>
                  </a:rPr>
                  <a:t> if and only if </a:t>
                </a:r>
              </a:p>
              <a:p>
                <a:pPr marL="274320" lvl="1"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𝑏</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𝑥</m:t>
                          </m:r>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𝑥</m:t>
                      </m:r>
                      <m:r>
                        <a:rPr lang="en-US" sz="2400" b="0" i="1"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Does this match the data? (Why is that a hard question to know?) </a:t>
                </a:r>
              </a:p>
              <a:p>
                <a:pPr lvl="1"/>
                <a:r>
                  <a:rPr lang="en-US" sz="2400" dirty="0">
                    <a:solidFill>
                      <a:schemeClr val="tx1"/>
                    </a:solidFill>
                    <a:cs typeface="Times New Roman" panose="02020603050405020304" pitchFamily="18" charset="0"/>
                  </a:rPr>
                  <a:t>Are there situations where the choice is really </a:t>
                </a:r>
              </a:p>
              <a:p>
                <a:pPr marL="274320" lvl="1"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𝑏</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𝑥</m:t>
                          </m:r>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𝜀</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𝑥</m:t>
                          </m:r>
                        </m:e>
                      </m:d>
                      <m:r>
                        <a:rPr lang="en-US" sz="2400" b="0" i="0"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What could be captured in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𝜀</m:t>
                    </m:r>
                    <m:r>
                      <a:rPr lang="en-US"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a:t>
                </a:r>
                <a:r>
                  <a:rPr lang="en-US" sz="2400" b="1" u="sng" dirty="0">
                    <a:solidFill>
                      <a:schemeClr val="accent3">
                        <a:lumMod val="75000"/>
                      </a:schemeClr>
                    </a:solidFill>
                    <a:cs typeface="Times New Roman" panose="02020603050405020304" pitchFamily="18" charset="0"/>
                  </a:rPr>
                  <a:t>“Behavioral hazard”</a:t>
                </a:r>
              </a:p>
              <a:p>
                <a:pPr marL="731520" lvl="1" indent="-457200">
                  <a:buFont typeface="+mj-lt"/>
                  <a:buAutoNum type="arabicPeriod"/>
                </a:pPr>
                <a:r>
                  <a:rPr lang="en-US" sz="2400" dirty="0">
                    <a:solidFill>
                      <a:schemeClr val="tx1"/>
                    </a:solidFill>
                    <a:cs typeface="Times New Roman" panose="02020603050405020304" pitchFamily="18" charset="0"/>
                  </a:rPr>
                  <a:t>Present bias: what if treatment benefits don’t appear immediately? </a:t>
                </a:r>
              </a:p>
              <a:p>
                <a:pPr marL="731520" lvl="1" indent="-457200">
                  <a:buFont typeface="+mj-lt"/>
                  <a:buAutoNum type="arabicPeriod"/>
                </a:pPr>
                <a:r>
                  <a:rPr lang="en-US" sz="2400" dirty="0">
                    <a:solidFill>
                      <a:schemeClr val="tx1"/>
                    </a:solidFill>
                    <a:cs typeface="Times New Roman" panose="02020603050405020304" pitchFamily="18" charset="0"/>
                  </a:rPr>
                  <a:t>Inattention: how salient are my symptoms? </a:t>
                </a:r>
              </a:p>
              <a:p>
                <a:pPr marL="731520" lvl="1" indent="-457200">
                  <a:buFont typeface="+mj-lt"/>
                  <a:buAutoNum type="arabicPeriod"/>
                </a:pPr>
                <a:r>
                  <a:rPr lang="en-US" sz="2400" dirty="0">
                    <a:solidFill>
                      <a:schemeClr val="tx1"/>
                    </a:solidFill>
                    <a:cs typeface="Times New Roman" panose="02020603050405020304" pitchFamily="18" charset="0"/>
                  </a:rPr>
                  <a:t>False beliefs:</a:t>
                </a:r>
              </a:p>
              <a:p>
                <a:pPr marL="731520" lvl="1" indent="-457200">
                  <a:buFont typeface="+mj-lt"/>
                  <a:buAutoNum type="arabicPeriod"/>
                </a:pPr>
                <a:endParaRPr lang="en-US" sz="2400" dirty="0">
                  <a:solidFill>
                    <a:schemeClr val="tx1"/>
                  </a:solidFill>
                  <a:cs typeface="Times New Roman" panose="02020603050405020304" pitchFamily="18" charset="0"/>
                </a:endParaRPr>
              </a:p>
              <a:p>
                <a:pPr marL="274320" lvl="1" indent="0">
                  <a:buNone/>
                </a:pPr>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What does it mean when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𝜀</m:t>
                    </m:r>
                    <m:r>
                      <a:rPr lang="en-US" sz="2400" b="0" i="1" smtClean="0">
                        <a:solidFill>
                          <a:schemeClr val="tx1"/>
                        </a:solidFill>
                        <a:latin typeface="Cambria Math" panose="02040503050406030204" pitchFamily="18" charset="0"/>
                        <a:cs typeface="Times New Roman" panose="02020603050405020304" pitchFamily="18" charset="0"/>
                      </a:rPr>
                      <m:t>≥0?</m:t>
                    </m:r>
                  </m:oMath>
                </a14:m>
                <a:r>
                  <a:rPr lang="en-US" sz="2400" dirty="0">
                    <a:solidFill>
                      <a:schemeClr val="tx1"/>
                    </a:solidFill>
                    <a:cs typeface="Times New Roman" panose="02020603050405020304" pitchFamily="18" charset="0"/>
                  </a:rPr>
                  <a:t>  </a:t>
                </a:r>
                <a14:m>
                  <m:oMath xmlns:m="http://schemas.openxmlformats.org/officeDocument/2006/math">
                    <m:r>
                      <a:rPr lang="en-US" sz="2400" b="0" i="1" dirty="0" smtClean="0">
                        <a:solidFill>
                          <a:schemeClr val="tx1"/>
                        </a:solidFill>
                        <a:latin typeface="Cambria Math" panose="02040503050406030204" pitchFamily="18" charset="0"/>
                        <a:cs typeface="Times New Roman" panose="02020603050405020304" pitchFamily="18" charset="0"/>
                      </a:rPr>
                      <m:t>𝜀</m:t>
                    </m:r>
                    <m:r>
                      <a:rPr lang="en-US" sz="2400" b="0" i="1" dirty="0" smtClean="0">
                        <a:solidFill>
                          <a:schemeClr val="tx1"/>
                        </a:solidFill>
                        <a:latin typeface="Cambria Math" panose="02040503050406030204" pitchFamily="18" charset="0"/>
                        <a:cs typeface="Times New Roman" panose="02020603050405020304" pitchFamily="18" charset="0"/>
                      </a:rPr>
                      <m:t>≤0</m:t>
                    </m:r>
                  </m:oMath>
                </a14:m>
                <a:r>
                  <a:rPr lang="en-US" sz="2400" dirty="0">
                    <a:solidFill>
                      <a:schemeClr val="tx1"/>
                    </a:solidFill>
                    <a:cs typeface="Times New Roman" panose="02020603050405020304" pitchFamily="18" charset="0"/>
                  </a:rPr>
                  <a:t>?</a:t>
                </a:r>
              </a:p>
              <a:p>
                <a:pPr lvl="1"/>
                <a:endParaRPr lang="en-US" sz="2400" dirty="0">
                  <a:solidFill>
                    <a:schemeClr val="tx1"/>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896918"/>
                <a:ext cx="10439400" cy="5283220"/>
              </a:xfrm>
              <a:blipFill>
                <a:blip r:embed="rId3"/>
                <a:stretch>
                  <a:fillRect t="-1615"/>
                </a:stretch>
              </a:blipFill>
            </p:spPr>
            <p:txBody>
              <a:bodyPr/>
              <a:lstStyle/>
              <a:p>
                <a:r>
                  <a:rPr lang="en-CA">
                    <a:noFill/>
                  </a:rPr>
                  <a:t> </a:t>
                </a:r>
              </a:p>
            </p:txBody>
          </p:sp>
        </mc:Fallback>
      </mc:AlternateContent>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35</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What about behavioral economics of patient choices?</a:t>
            </a:r>
          </a:p>
        </p:txBody>
      </p:sp>
    </p:spTree>
    <p:extLst>
      <p:ext uri="{BB962C8B-B14F-4D97-AF65-F5344CB8AC3E}">
        <p14:creationId xmlns:p14="http://schemas.microsoft.com/office/powerpoint/2010/main" val="21055714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6F70C7-D1A3-6A09-3527-BA12DDE3D158}"/>
              </a:ext>
            </a:extLst>
          </p:cNvPr>
          <p:cNvPicPr>
            <a:picLocks noGrp="1" noChangeAspect="1"/>
          </p:cNvPicPr>
          <p:nvPr>
            <p:ph idx="1"/>
          </p:nvPr>
        </p:nvPicPr>
        <p:blipFill>
          <a:blip r:embed="rId3"/>
          <a:stretch>
            <a:fillRect/>
          </a:stretch>
        </p:blipFill>
        <p:spPr>
          <a:xfrm>
            <a:off x="2209800" y="881259"/>
            <a:ext cx="7227802" cy="5916122"/>
          </a:xfrm>
        </p:spPr>
      </p:pic>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36</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Behavioral Hazard: Under-utilization</a:t>
            </a:r>
          </a:p>
        </p:txBody>
      </p:sp>
    </p:spTree>
    <p:extLst>
      <p:ext uri="{BB962C8B-B14F-4D97-AF65-F5344CB8AC3E}">
        <p14:creationId xmlns:p14="http://schemas.microsoft.com/office/powerpoint/2010/main" val="8771692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37</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Behavioral Hazard: Over-utilization</a:t>
            </a:r>
          </a:p>
        </p:txBody>
      </p:sp>
      <p:sp>
        <p:nvSpPr>
          <p:cNvPr id="3" name="Content Placeholder 2">
            <a:extLst>
              <a:ext uri="{FF2B5EF4-FFF2-40B4-BE49-F238E27FC236}">
                <a16:creationId xmlns:a16="http://schemas.microsoft.com/office/drawing/2014/main" id="{46961F7F-3C5C-23ED-DAAD-C22498C3DDCC}"/>
              </a:ext>
            </a:extLst>
          </p:cNvPr>
          <p:cNvSpPr>
            <a:spLocks noGrp="1"/>
          </p:cNvSpPr>
          <p:nvPr>
            <p:ph idx="1"/>
          </p:nvPr>
        </p:nvSpPr>
        <p:spPr/>
        <p:txBody>
          <a:bodyPr/>
          <a:lstStyle/>
          <a:p>
            <a:endParaRPr lang="en-US"/>
          </a:p>
        </p:txBody>
      </p:sp>
      <p:pic>
        <p:nvPicPr>
          <p:cNvPr id="8" name="Picture 7">
            <a:extLst>
              <a:ext uri="{FF2B5EF4-FFF2-40B4-BE49-F238E27FC236}">
                <a16:creationId xmlns:a16="http://schemas.microsoft.com/office/drawing/2014/main" id="{AB86ECFF-927A-67E9-7B8B-9A73CABE124D}"/>
              </a:ext>
            </a:extLst>
          </p:cNvPr>
          <p:cNvPicPr>
            <a:picLocks noChangeAspect="1"/>
          </p:cNvPicPr>
          <p:nvPr/>
        </p:nvPicPr>
        <p:blipFill>
          <a:blip r:embed="rId3"/>
          <a:stretch>
            <a:fillRect/>
          </a:stretch>
        </p:blipFill>
        <p:spPr>
          <a:xfrm>
            <a:off x="1905000" y="1143606"/>
            <a:ext cx="7162800" cy="5622319"/>
          </a:xfrm>
          <a:prstGeom prst="rect">
            <a:avLst/>
          </a:prstGeom>
        </p:spPr>
      </p:pic>
    </p:spTree>
    <p:extLst>
      <p:ext uri="{BB962C8B-B14F-4D97-AF65-F5344CB8AC3E}">
        <p14:creationId xmlns:p14="http://schemas.microsoft.com/office/powerpoint/2010/main" val="4246430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normAutofit lnSpcReduction="10000"/>
          </a:bodyPr>
          <a:lstStyle/>
          <a:p>
            <a:fld id="{3DAF9783-BC0E-C649-838D-61F838C67253}" type="slidenum">
              <a:rPr lang="en-US" smtClean="0"/>
              <a:t>38</a:t>
            </a:fld>
            <a:endParaRPr lang="en-US"/>
          </a:p>
        </p:txBody>
      </p:sp>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Behavioral Hazard Summarized</a:t>
            </a:r>
          </a:p>
        </p:txBody>
      </p:sp>
      <p:sp>
        <p:nvSpPr>
          <p:cNvPr id="3" name="Content Placeholder 2">
            <a:extLst>
              <a:ext uri="{FF2B5EF4-FFF2-40B4-BE49-F238E27FC236}">
                <a16:creationId xmlns:a16="http://schemas.microsoft.com/office/drawing/2014/main" id="{46961F7F-3C5C-23ED-DAAD-C22498C3DDCC}"/>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3C12B70F-17BB-4200-AA4F-5DE750D27A13}"/>
              </a:ext>
            </a:extLst>
          </p:cNvPr>
          <p:cNvPicPr>
            <a:picLocks noChangeAspect="1"/>
          </p:cNvPicPr>
          <p:nvPr/>
        </p:nvPicPr>
        <p:blipFill>
          <a:blip r:embed="rId3"/>
          <a:stretch>
            <a:fillRect/>
          </a:stretch>
        </p:blipFill>
        <p:spPr>
          <a:xfrm>
            <a:off x="685800" y="762000"/>
            <a:ext cx="6400800" cy="6139898"/>
          </a:xfrm>
          <a:prstGeom prst="rect">
            <a:avLst/>
          </a:prstGeom>
        </p:spPr>
      </p:pic>
    </p:spTree>
    <p:extLst>
      <p:ext uri="{BB962C8B-B14F-4D97-AF65-F5344CB8AC3E}">
        <p14:creationId xmlns:p14="http://schemas.microsoft.com/office/powerpoint/2010/main" val="35949055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AC41146-1857-1400-EE30-AE66F64DCE11}"/>
              </a:ext>
            </a:extLst>
          </p:cNvPr>
          <p:cNvSpPr txBox="1">
            <a:spLocks/>
          </p:cNvSpPr>
          <p:nvPr/>
        </p:nvSpPr>
        <p:spPr>
          <a:xfrm>
            <a:off x="609600" y="272077"/>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Behavioral Hazard Summarized</a:t>
            </a:r>
          </a:p>
        </p:txBody>
      </p:sp>
      <p:pic>
        <p:nvPicPr>
          <p:cNvPr id="7" name="Picture 6">
            <a:extLst>
              <a:ext uri="{FF2B5EF4-FFF2-40B4-BE49-F238E27FC236}">
                <a16:creationId xmlns:a16="http://schemas.microsoft.com/office/drawing/2014/main" id="{5159E0C4-2B4E-A61F-1ABE-E1947BE48B0F}"/>
              </a:ext>
            </a:extLst>
          </p:cNvPr>
          <p:cNvPicPr>
            <a:picLocks noChangeAspect="1"/>
          </p:cNvPicPr>
          <p:nvPr/>
        </p:nvPicPr>
        <p:blipFill>
          <a:blip r:embed="rId3"/>
          <a:stretch>
            <a:fillRect/>
          </a:stretch>
        </p:blipFill>
        <p:spPr>
          <a:xfrm>
            <a:off x="304800" y="934495"/>
            <a:ext cx="7162800" cy="5695629"/>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961F7F-3C5C-23ED-DAAD-C22498C3DDCC}"/>
                  </a:ext>
                </a:extLst>
              </p:cNvPr>
              <p:cNvSpPr>
                <a:spLocks noGrp="1"/>
              </p:cNvSpPr>
              <p:nvPr>
                <p:ph idx="1"/>
              </p:nvPr>
            </p:nvSpPr>
            <p:spPr>
              <a:xfrm>
                <a:off x="6858000" y="484508"/>
                <a:ext cx="4267200" cy="5992492"/>
              </a:xfrm>
            </p:spPr>
            <p:txBody>
              <a:bodyPr>
                <a:normAutofit/>
              </a:bodyPr>
              <a:lstStyle/>
              <a:p>
                <a:pPr marL="0" indent="0">
                  <a:buNone/>
                </a:pPr>
                <a:r>
                  <a:rPr lang="en-US" sz="2400" dirty="0"/>
                  <a:t>With behavioral hazard: </a:t>
                </a:r>
              </a:p>
              <a:p>
                <a:pPr marL="457200" indent="-457200">
                  <a:buFont typeface="+mj-lt"/>
                  <a:buAutoNum type="arabicPeriod"/>
                </a:pPr>
                <a:r>
                  <a:rPr lang="en-US" sz="2400" dirty="0"/>
                  <a:t>The marginal patient doesn’t value treatment at copay (</a:t>
                </a:r>
                <a14:m>
                  <m:oMath xmlns:m="http://schemas.openxmlformats.org/officeDocument/2006/math">
                    <m:r>
                      <a:rPr lang="en-US" sz="2400" b="0" i="1" smtClean="0">
                        <a:latin typeface="Cambria Math" panose="02040503050406030204" pitchFamily="18" charset="0"/>
                      </a:rPr>
                      <m:t>𝑀𝐵</m:t>
                    </m:r>
                    <m:r>
                      <a:rPr lang="en-US" sz="2400" b="0" i="1" smtClean="0">
                        <a:latin typeface="Cambria Math" panose="02040503050406030204" pitchFamily="18" charset="0"/>
                      </a:rPr>
                      <m:t>≠</m:t>
                    </m:r>
                    <m:r>
                      <a:rPr lang="en-US" sz="2400" b="0" i="1" smtClean="0">
                        <a:latin typeface="Cambria Math" panose="02040503050406030204" pitchFamily="18" charset="0"/>
                      </a:rPr>
                      <m:t>𝑀𝐶</m:t>
                    </m:r>
                    <m:r>
                      <a:rPr lang="en-US" sz="2400" b="0" i="1" smtClean="0">
                        <a:latin typeface="Cambria Math" panose="02040503050406030204" pitchFamily="18" charset="0"/>
                      </a:rPr>
                      <m:t>)</m:t>
                    </m:r>
                  </m:oMath>
                </a14:m>
                <a:endParaRPr lang="en-US" sz="2400" dirty="0"/>
              </a:p>
              <a:p>
                <a:pPr marL="457200" indent="-457200">
                  <a:buFont typeface="+mj-lt"/>
                  <a:buAutoNum type="arabicPeriod"/>
                </a:pPr>
                <a:r>
                  <a:rPr lang="en-US" sz="2400" dirty="0"/>
                  <a:t>Demand responses are not just made up of moral hazard responses</a:t>
                </a:r>
              </a:p>
              <a:p>
                <a:pPr marL="457200" indent="-457200">
                  <a:buFont typeface="+mj-lt"/>
                  <a:buAutoNum type="arabicPeriod"/>
                </a:pPr>
                <a:r>
                  <a:rPr lang="en-US" sz="2400" dirty="0"/>
                  <a:t>Measuring health responses characterizes who is at the margin. </a:t>
                </a:r>
              </a:p>
            </p:txBody>
          </p:sp>
        </mc:Choice>
        <mc:Fallback xmlns="">
          <p:sp>
            <p:nvSpPr>
              <p:cNvPr id="3" name="Content Placeholder 2">
                <a:extLst>
                  <a:ext uri="{FF2B5EF4-FFF2-40B4-BE49-F238E27FC236}">
                    <a16:creationId xmlns:a16="http://schemas.microsoft.com/office/drawing/2014/main" id="{46961F7F-3C5C-23ED-DAAD-C22498C3DDCC}"/>
                  </a:ext>
                </a:extLst>
              </p:cNvPr>
              <p:cNvSpPr>
                <a:spLocks noGrp="1" noRot="1" noChangeAspect="1" noMove="1" noResize="1" noEditPoints="1" noAdjustHandles="1" noChangeArrowheads="1" noChangeShapeType="1" noTextEdit="1"/>
              </p:cNvSpPr>
              <p:nvPr>
                <p:ph idx="1"/>
              </p:nvPr>
            </p:nvSpPr>
            <p:spPr>
              <a:xfrm>
                <a:off x="6858000" y="484508"/>
                <a:ext cx="4267200" cy="5992492"/>
              </a:xfrm>
              <a:blipFill>
                <a:blip r:embed="rId4"/>
                <a:stretch>
                  <a:fillRect l="-2143" t="-1118" r="-3143"/>
                </a:stretch>
              </a:blipFill>
            </p:spPr>
            <p:txBody>
              <a:bodyPr/>
              <a:lstStyle/>
              <a:p>
                <a:r>
                  <a:rPr lang="en-US">
                    <a:noFill/>
                  </a:rPr>
                  <a:t> </a:t>
                </a:r>
              </a:p>
            </p:txBody>
          </p:sp>
        </mc:Fallback>
      </mc:AlternateContent>
    </p:spTree>
    <p:extLst>
      <p:ext uri="{BB962C8B-B14F-4D97-AF65-F5344CB8AC3E}">
        <p14:creationId xmlns:p14="http://schemas.microsoft.com/office/powerpoint/2010/main" val="7229028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Presentations</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905963770"/>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2218</TotalTime>
  <Words>2995</Words>
  <Application>Microsoft Office PowerPoint</Application>
  <PresentationFormat>Widescreen</PresentationFormat>
  <Paragraphs>332</Paragraphs>
  <Slides>40</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40</vt:i4>
      </vt:variant>
    </vt:vector>
  </HeadingPairs>
  <TitlesOfParts>
    <vt:vector size="49" baseType="lpstr">
      <vt:lpstr>Aptos</vt:lpstr>
      <vt:lpstr>Arial</vt:lpstr>
      <vt:lpstr>Calibri</vt:lpstr>
      <vt:lpstr>Cambria Math</vt:lpstr>
      <vt:lpstr>Symbol</vt:lpstr>
      <vt:lpstr>Times New Roman</vt:lpstr>
      <vt:lpstr>Times-Roman</vt:lpstr>
      <vt:lpstr>Wingdings 2</vt:lpstr>
      <vt:lpstr>View</vt:lpstr>
      <vt:lpstr>Advanced Health Economics</vt:lpstr>
      <vt:lpstr>Last time: Individual Health Behaviors</vt:lpstr>
      <vt:lpstr>Last time: Individual Health Behaviors</vt:lpstr>
      <vt:lpstr>Last time: Individual Health Behaviors</vt:lpstr>
      <vt:lpstr>Last time: Individual Health Behaviors</vt:lpstr>
      <vt:lpstr>What makes a model “Behavioral”?</vt:lpstr>
      <vt:lpstr>What makes a model “Behavioral”?</vt:lpstr>
      <vt:lpstr>What makes a model “Behavioral”?</vt:lpstr>
      <vt:lpstr>PowerPoint Presentation</vt:lpstr>
      <vt:lpstr>PowerPoint Presentation</vt:lpstr>
      <vt:lpstr>PowerPoint Presentation</vt:lpstr>
      <vt:lpstr>PowerPoint Presentation</vt:lpstr>
      <vt:lpstr>Summary of Behavioral Econ</vt:lpstr>
      <vt:lpstr>Behavioral vs. Neoclassical – where’s the line?</vt:lpstr>
      <vt:lpstr>Behavioral vs. Neoclassical – where’s the line?</vt:lpstr>
      <vt:lpstr>PowerPoint Presentation</vt:lpstr>
      <vt:lpstr>Handel and Kolstad (2015)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Baicker, Mullainathan, &amp; Schwartzstein (2015)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Presentations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178</cp:revision>
  <dcterms:created xsi:type="dcterms:W3CDTF">2011-01-10T00:42:42Z</dcterms:created>
  <dcterms:modified xsi:type="dcterms:W3CDTF">2025-03-21T16:45:59Z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