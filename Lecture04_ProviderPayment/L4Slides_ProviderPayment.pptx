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71"/>
  </p:notesMasterIdLst>
  <p:sldIdLst>
    <p:sldId id="256" r:id="rId2"/>
    <p:sldId id="357" r:id="rId3"/>
    <p:sldId id="663" r:id="rId4"/>
    <p:sldId id="476" r:id="rId5"/>
    <p:sldId id="257" r:id="rId6"/>
    <p:sldId id="478" r:id="rId7"/>
    <p:sldId id="258" r:id="rId8"/>
    <p:sldId id="260" r:id="rId9"/>
    <p:sldId id="261" r:id="rId10"/>
    <p:sldId id="262" r:id="rId11"/>
    <p:sldId id="263" r:id="rId12"/>
    <p:sldId id="479" r:id="rId13"/>
    <p:sldId id="660" r:id="rId14"/>
    <p:sldId id="482" r:id="rId15"/>
    <p:sldId id="481" r:id="rId16"/>
    <p:sldId id="664" r:id="rId17"/>
    <p:sldId id="665" r:id="rId18"/>
    <p:sldId id="666" r:id="rId19"/>
    <p:sldId id="667" r:id="rId20"/>
    <p:sldId id="668" r:id="rId21"/>
    <p:sldId id="669" r:id="rId22"/>
    <p:sldId id="341" r:id="rId23"/>
    <p:sldId id="271" r:id="rId24"/>
    <p:sldId id="483" r:id="rId25"/>
    <p:sldId id="484" r:id="rId26"/>
    <p:sldId id="283" r:id="rId27"/>
    <p:sldId id="307" r:id="rId28"/>
    <p:sldId id="485" r:id="rId29"/>
    <p:sldId id="486" r:id="rId30"/>
    <p:sldId id="487" r:id="rId31"/>
    <p:sldId id="488" r:id="rId32"/>
    <p:sldId id="489" r:id="rId33"/>
    <p:sldId id="490" r:id="rId34"/>
    <p:sldId id="493" r:id="rId35"/>
    <p:sldId id="494" r:id="rId36"/>
    <p:sldId id="495" r:id="rId37"/>
    <p:sldId id="661" r:id="rId38"/>
    <p:sldId id="497" r:id="rId39"/>
    <p:sldId id="662" r:id="rId40"/>
    <p:sldId id="285" r:id="rId41"/>
    <p:sldId id="498" r:id="rId42"/>
    <p:sldId id="499" r:id="rId43"/>
    <p:sldId id="500" r:id="rId44"/>
    <p:sldId id="501" r:id="rId45"/>
    <p:sldId id="502" r:id="rId46"/>
    <p:sldId id="503" r:id="rId47"/>
    <p:sldId id="504" r:id="rId48"/>
    <p:sldId id="505" r:id="rId49"/>
    <p:sldId id="646" r:id="rId50"/>
    <p:sldId id="670" r:id="rId51"/>
    <p:sldId id="671" r:id="rId52"/>
    <p:sldId id="672" r:id="rId53"/>
    <p:sldId id="673" r:id="rId54"/>
    <p:sldId id="674" r:id="rId55"/>
    <p:sldId id="414" r:id="rId56"/>
    <p:sldId id="477" r:id="rId57"/>
    <p:sldId id="647" r:id="rId58"/>
    <p:sldId id="648" r:id="rId59"/>
    <p:sldId id="649" r:id="rId60"/>
    <p:sldId id="651" r:id="rId61"/>
    <p:sldId id="652" r:id="rId62"/>
    <p:sldId id="653" r:id="rId63"/>
    <p:sldId id="654" r:id="rId64"/>
    <p:sldId id="655" r:id="rId65"/>
    <p:sldId id="656" r:id="rId66"/>
    <p:sldId id="657" r:id="rId67"/>
    <p:sldId id="658" r:id="rId68"/>
    <p:sldId id="659" r:id="rId69"/>
    <p:sldId id="650" r:id="rId70"/>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81197" autoAdjust="0"/>
  </p:normalViewPr>
  <p:slideViewPr>
    <p:cSldViewPr>
      <p:cViewPr varScale="1">
        <p:scale>
          <a:sx n="90" d="100"/>
          <a:sy n="90" d="100"/>
        </p:scale>
        <p:origin x="1356" y="7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does this mean for adverse selection? If we used this as a natural experiment, what kinds of interesting research questions (theoretical or empirical) might we be able to address?</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2042196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Today we’ll focus on these but there are models/research for lots of other topics too!</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6619001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*more* than in the US</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5056172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https://web.stanford.edu/~mpolyak/GPRSU_physician_income_vJuly2020.pdf. Go through figures here. </a:t>
            </a:r>
          </a:p>
          <a:p>
            <a:pPr marL="171450" indent="-171450">
              <a:buFont typeface="Arial" panose="020B0604020202020204" pitchFamily="34" charset="0"/>
              <a:buChar char="•"/>
            </a:pPr>
            <a:r>
              <a:rPr lang="en-CA" dirty="0"/>
              <a:t>¼ of physicians are in the top 1% of the income distribution and ½ were in the top 2%. </a:t>
            </a:r>
          </a:p>
          <a:p>
            <a:pPr marL="171450" indent="-171450">
              <a:buFont typeface="Arial" panose="020B0604020202020204" pitchFamily="34" charset="0"/>
              <a:buChar char="•"/>
            </a:pPr>
            <a:r>
              <a:rPr lang="en-CA" dirty="0"/>
              <a:t>There’s a ton of variation here (how much is too much)? Some physicians make 2-3x as much as other physicians. </a:t>
            </a:r>
          </a:p>
          <a:p>
            <a:pPr marL="171450" indent="-171450">
              <a:buFont typeface="Arial" panose="020B0604020202020204" pitchFamily="34" charset="0"/>
              <a:buChar char="•"/>
            </a:pPr>
            <a:r>
              <a:rPr lang="en-CA" dirty="0"/>
              <a:t>Of course, is looking at annual salary sufficient, if hours may change across and within fields? What about rewards for investing in training? Risk premia? Barriers to entry? Lots to study here!</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571178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similar version of this that looks at hours – the more hours you work, the more you’re paid (neurosurgeons earn $700k compared to $200k for family doc but they work over 60 hours/week as compared to under 50).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6714186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issues, though – if salaries are responsive to market power, should the government be paying these high salaries? Think about scope of practice laws in the US and Canada (pharma prescribing). There’s evidence that these reduce salary inequalities without adversely affecting care. </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367908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P4P is still kind of an open question. FFS is also called prospective reimbursement</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2932517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P4P is still kind of an open question. FFS is also called prospective reimbursement</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5388249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P4P is still kind of an open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7691442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bwMode="auto">
          <a:xfrm>
            <a:off x="381000" y="687388"/>
            <a:ext cx="6096000" cy="3429000"/>
          </a:xfrm>
          <a:noFill/>
          <a:ln>
            <a:solidFill>
              <a:srgbClr val="000000"/>
            </a:solidFill>
            <a:miter lim="800000"/>
            <a:headEnd/>
            <a:tailEnd/>
          </a:ln>
        </p:spPr>
      </p:sp>
      <p:sp>
        <p:nvSpPr>
          <p:cNvPr id="13315"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r>
              <a:rPr lang="en-US" dirty="0"/>
              <a:t>Notes: what do we think about this? We pay professors on salary without worrying about teaching incentives. Should we be worried this much? Why or why not? The tradeoff is trying to get the right level of healthcare given other information asymmetry. The normative issues are whether that asymmetry is first-order</a:t>
            </a:r>
          </a:p>
        </p:txBody>
      </p:sp>
      <p:sp>
        <p:nvSpPr>
          <p:cNvPr id="1331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8F860BB-89C2-4847-87F2-9C995CC5C252}" type="slidenum">
              <a:rPr lang="en-US" smtClean="0">
                <a:latin typeface="Arial" pitchFamily="34" charset="0"/>
                <a:cs typeface="Arial" pitchFamily="34" charset="0"/>
              </a:rPr>
              <a:pPr/>
              <a:t>15</a:t>
            </a:fld>
            <a:endParaRPr lang="en-US">
              <a:latin typeface="Arial" pitchFamily="34" charset="0"/>
              <a:cs typeface="Arial"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0AB05-3291-5F86-D630-E2820DA81A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638713-88CC-79D7-A731-DD24B461DB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DBC4E1-2B2A-1FCE-1AC8-59EC6722B5EA}"/>
              </a:ext>
            </a:extLst>
          </p:cNvPr>
          <p:cNvSpPr>
            <a:spLocks noGrp="1"/>
          </p:cNvSpPr>
          <p:nvPr>
            <p:ph type="body" idx="1"/>
          </p:nvPr>
        </p:nvSpPr>
        <p:spPr/>
        <p:txBody>
          <a:bodyPr/>
          <a:lstStyle/>
          <a:p>
            <a:r>
              <a:rPr lang="en-CA" dirty="0"/>
              <a:t>Do physicians even respond to payment incentives? YES! (Tell the story of presenting about moral hazard). This is the case of Paclitaxel (chemo drug). Oncologists were being reimbursed for this drug at 6x what they were paying for it (low distributor prices). Let to a 2005 reform. </a:t>
            </a:r>
          </a:p>
        </p:txBody>
      </p:sp>
      <p:sp>
        <p:nvSpPr>
          <p:cNvPr id="4" name="Slide Number Placeholder 3">
            <a:extLst>
              <a:ext uri="{FF2B5EF4-FFF2-40B4-BE49-F238E27FC236}">
                <a16:creationId xmlns:a16="http://schemas.microsoft.com/office/drawing/2014/main" id="{76DDDEF0-E8B4-3FFD-61EB-E001F3C35D4D}"/>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281479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2C1EF-3212-619B-7711-A5EDE8F3E6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8BE3C7-16F8-4403-9692-F11FCEC829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2C2E8-27A0-8D99-7085-76F06920EF9B}"/>
              </a:ext>
            </a:extLst>
          </p:cNvPr>
          <p:cNvSpPr>
            <a:spLocks noGrp="1"/>
          </p:cNvSpPr>
          <p:nvPr>
            <p:ph type="body" idx="1"/>
          </p:nvPr>
        </p:nvSpPr>
        <p:spPr/>
        <p:txBody>
          <a:bodyPr/>
          <a:lstStyle/>
          <a:p>
            <a:r>
              <a:rPr lang="en-CA" dirty="0"/>
              <a:t>Do physicians even respond to payment incentives? YES! (Tell the story of presenting about moral hazard). This is the case of Paclitaxel (chemo drug). Oncologists were being reimbursed for this drug at 6x what they were paying for it (low distributor prices). Let to a 2005 reform. </a:t>
            </a:r>
          </a:p>
        </p:txBody>
      </p:sp>
      <p:sp>
        <p:nvSpPr>
          <p:cNvPr id="4" name="Slide Number Placeholder 3">
            <a:extLst>
              <a:ext uri="{FF2B5EF4-FFF2-40B4-BE49-F238E27FC236}">
                <a16:creationId xmlns:a16="http://schemas.microsoft.com/office/drawing/2014/main" id="{1922E835-4071-09DA-BD5C-20297519A382}"/>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24504078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AE24C-E278-58E6-88C0-106BA1DB0B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DA237-5905-1C3D-13C1-FD2B9FD5FD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6CCE3-06CF-FC98-7B43-94AD14662AF6}"/>
              </a:ext>
            </a:extLst>
          </p:cNvPr>
          <p:cNvSpPr>
            <a:spLocks noGrp="1"/>
          </p:cNvSpPr>
          <p:nvPr>
            <p:ph type="body" idx="1"/>
          </p:nvPr>
        </p:nvSpPr>
        <p:spPr/>
        <p:txBody>
          <a:bodyPr/>
          <a:lstStyle/>
          <a:p>
            <a:r>
              <a:rPr lang="en-CA" dirty="0"/>
              <a:t>What about hospitals or facilities? Even more so! Here’s the case of long-term care. </a:t>
            </a:r>
          </a:p>
        </p:txBody>
      </p:sp>
      <p:sp>
        <p:nvSpPr>
          <p:cNvPr id="4" name="Slide Number Placeholder 3">
            <a:extLst>
              <a:ext uri="{FF2B5EF4-FFF2-40B4-BE49-F238E27FC236}">
                <a16:creationId xmlns:a16="http://schemas.microsoft.com/office/drawing/2014/main" id="{9DB9D367-EE2B-30BF-66A9-2BF0403EAEFF}"/>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5059380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4444C-F2A1-62C7-1C82-7CD3A9DC9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1902B-AF4E-15D7-4D4C-6F086D6884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7FF79C-A530-C52F-A953-1A996FB929A1}"/>
              </a:ext>
            </a:extLst>
          </p:cNvPr>
          <p:cNvSpPr>
            <a:spLocks noGrp="1"/>
          </p:cNvSpPr>
          <p:nvPr>
            <p:ph type="body" idx="1"/>
          </p:nvPr>
        </p:nvSpPr>
        <p:spPr/>
        <p:txBody>
          <a:bodyPr/>
          <a:lstStyle/>
          <a:p>
            <a:r>
              <a:rPr lang="en-CA" dirty="0"/>
              <a:t>What about hospitals or facilities? Even more so! Here’s the case of long-term care. </a:t>
            </a:r>
          </a:p>
        </p:txBody>
      </p:sp>
      <p:sp>
        <p:nvSpPr>
          <p:cNvPr id="4" name="Slide Number Placeholder 3">
            <a:extLst>
              <a:ext uri="{FF2B5EF4-FFF2-40B4-BE49-F238E27FC236}">
                <a16:creationId xmlns:a16="http://schemas.microsoft.com/office/drawing/2014/main" id="{C1441CE7-4A08-6C08-BC45-EE1B99ABEDFB}"/>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26111121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5E2B7-7242-89C2-DE2E-2C8C3B861C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04B6F-F983-031F-E0FB-0F7C89F6D4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81C279-FF5E-A5BF-EC25-9E98307AA30A}"/>
              </a:ext>
            </a:extLst>
          </p:cNvPr>
          <p:cNvSpPr>
            <a:spLocks noGrp="1"/>
          </p:cNvSpPr>
          <p:nvPr>
            <p:ph type="body" idx="1"/>
          </p:nvPr>
        </p:nvSpPr>
        <p:spPr/>
        <p:txBody>
          <a:bodyPr/>
          <a:lstStyle/>
          <a:p>
            <a:r>
              <a:rPr lang="en-CA" dirty="0"/>
              <a:t>Can we solve things through payment reform? Maybe, maybe not</a:t>
            </a:r>
          </a:p>
        </p:txBody>
      </p:sp>
      <p:sp>
        <p:nvSpPr>
          <p:cNvPr id="4" name="Slide Number Placeholder 3">
            <a:extLst>
              <a:ext uri="{FF2B5EF4-FFF2-40B4-BE49-F238E27FC236}">
                <a16:creationId xmlns:a16="http://schemas.microsoft.com/office/drawing/2014/main" id="{EB0E24BE-CA4E-F954-CC2F-314E4F2DCEB6}"/>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4345601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94358-E109-59D7-A5D3-CA6A14CC4D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B51B41-BE4F-12AC-D522-E598FAFB6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6C294C-0C6A-1171-08A6-610F4CFFC170}"/>
              </a:ext>
            </a:extLst>
          </p:cNvPr>
          <p:cNvSpPr>
            <a:spLocks noGrp="1"/>
          </p:cNvSpPr>
          <p:nvPr>
            <p:ph type="body" idx="1"/>
          </p:nvPr>
        </p:nvSpPr>
        <p:spPr/>
        <p:txBody>
          <a:bodyPr/>
          <a:lstStyle/>
          <a:p>
            <a:r>
              <a:rPr lang="en-CA" dirty="0"/>
              <a:t>Can we solve things through payment reform? Maybe, maybe not</a:t>
            </a:r>
          </a:p>
        </p:txBody>
      </p:sp>
      <p:sp>
        <p:nvSpPr>
          <p:cNvPr id="4" name="Slide Number Placeholder 3">
            <a:extLst>
              <a:ext uri="{FF2B5EF4-FFF2-40B4-BE49-F238E27FC236}">
                <a16:creationId xmlns:a16="http://schemas.microsoft.com/office/drawing/2014/main" id="{1093B0B6-17FF-F5C3-EC2C-E1BBA7510FA8}"/>
              </a:ext>
            </a:extLst>
          </p:cNvPr>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6253178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Rot="1" noChangeAspect="1" noChangeArrowheads="1" noTextEdit="1"/>
          </p:cNvSpPr>
          <p:nvPr>
            <p:ph type="sldImg"/>
          </p:nvPr>
        </p:nvSpPr>
        <p:spPr>
          <a:ln/>
        </p:spPr>
      </p:sp>
      <p:sp>
        <p:nvSpPr>
          <p:cNvPr id="26627" name="Rectangle 3"/>
          <p:cNvSpPr>
            <a:spLocks noGrp="1" noChangeArrowheads="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Simple model: how do we think about trade-offs between FFS and capitation?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p:cNvSpPr>
            <a:spLocks noGrp="1" noRot="1" noChangeAspect="1" noTextEdit="1"/>
          </p:cNvSpPr>
          <p:nvPr>
            <p:ph type="sldImg"/>
          </p:nvPr>
        </p:nvSpPr>
        <p:spPr bwMode="auto">
          <a:xfrm>
            <a:off x="381000" y="687388"/>
            <a:ext cx="6096000" cy="3429000"/>
          </a:xfrm>
          <a:noFill/>
          <a:ln>
            <a:solidFill>
              <a:srgbClr val="000000"/>
            </a:solidFill>
            <a:miter lim="800000"/>
            <a:headEnd/>
            <a:tailEnd/>
          </a:ln>
        </p:spPr>
      </p:sp>
      <p:sp>
        <p:nvSpPr>
          <p:cNvPr id="83971" name="Notes Placeholder 2"/>
          <p:cNvSpPr>
            <a:spLocks noGrp="1"/>
          </p:cNvSpPr>
          <p:nvPr>
            <p:ph type="body" idx="1"/>
          </p:nvPr>
        </p:nvSpPr>
        <p:spPr bwMode="auto">
          <a:noFill/>
        </p:spPr>
        <p:txBody>
          <a:bodyPr/>
          <a:lstStyle/>
          <a:p>
            <a:r>
              <a:rPr lang="en-US" dirty="0"/>
              <a:t>OHIP schedule: https://health.gov.on.ca/en/pro/programs/ohip/sob/physserv/sob_master_20221201.pdf</a:t>
            </a:r>
          </a:p>
        </p:txBody>
      </p:sp>
      <p:sp>
        <p:nvSpPr>
          <p:cNvPr id="8397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6CDC6BA-1FC5-4CCD-A5B4-2BA7C40A2052}" type="slidenum">
              <a:rPr lang="en-US" smtClean="0">
                <a:latin typeface="Arial" pitchFamily="34" charset="0"/>
                <a:ea typeface="宋体" pitchFamily="2" charset="-122"/>
              </a:rPr>
              <a:pPr/>
              <a:t>24</a:t>
            </a:fld>
            <a:endParaRPr lang="en-US">
              <a:latin typeface="Arial" pitchFamily="34" charset="0"/>
              <a:ea typeface="宋体" pitchFamily="2" charset="-122"/>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p:cNvSpPr>
            <a:spLocks noGrp="1" noRot="1" noChangeAspect="1" noTextEdit="1"/>
          </p:cNvSpPr>
          <p:nvPr>
            <p:ph type="sldImg"/>
          </p:nvPr>
        </p:nvSpPr>
        <p:spPr bwMode="auto">
          <a:xfrm>
            <a:off x="381000" y="687388"/>
            <a:ext cx="6096000" cy="3429000"/>
          </a:xfrm>
          <a:noFill/>
          <a:ln>
            <a:solidFill>
              <a:srgbClr val="000000"/>
            </a:solidFill>
            <a:miter lim="800000"/>
            <a:headEnd/>
            <a:tailEnd/>
          </a:ln>
        </p:spPr>
      </p:sp>
      <p:sp>
        <p:nvSpPr>
          <p:cNvPr id="84995" name="Notes Placeholder 2"/>
          <p:cNvSpPr>
            <a:spLocks noGrp="1"/>
          </p:cNvSpPr>
          <p:nvPr>
            <p:ph type="body" idx="1"/>
          </p:nvPr>
        </p:nvSpPr>
        <p:spPr bwMode="auto">
          <a:noFill/>
        </p:spPr>
        <p:txBody>
          <a:bodyPr/>
          <a:lstStyle/>
          <a:p>
            <a:r>
              <a:rPr lang="en-US" dirty="0"/>
              <a:t>From Ellis</a:t>
            </a:r>
          </a:p>
        </p:txBody>
      </p:sp>
      <p:sp>
        <p:nvSpPr>
          <p:cNvPr id="8499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CFC6E28-888C-4469-8095-07D465CE24F2}" type="slidenum">
              <a:rPr lang="en-US" smtClean="0">
                <a:latin typeface="Arial" pitchFamily="34" charset="0"/>
                <a:ea typeface="宋体" pitchFamily="2" charset="-122"/>
              </a:rPr>
              <a:pPr/>
              <a:t>25</a:t>
            </a:fld>
            <a:endParaRPr lang="en-US">
              <a:latin typeface="Arial" pitchFamily="34" charset="0"/>
              <a:ea typeface="宋体" pitchFamily="2" charset="-122"/>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TextEdit="1"/>
          </p:cNvSpPr>
          <p:nvPr>
            <p:ph type="sldImg"/>
          </p:nvPr>
        </p:nvSpPr>
        <p:spPr>
          <a:ln/>
        </p:spPr>
      </p:sp>
      <p:sp>
        <p:nvSpPr>
          <p:cNvPr id="38915"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Note that when alpha = 1, your utility is still maximized. What if alpha goes past 1?Who falls into that category?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TextEdit="1"/>
          </p:cNvSpPr>
          <p:nvPr>
            <p:ph type="sldImg"/>
          </p:nvPr>
        </p:nvSpPr>
        <p:spPr>
          <a:ln/>
        </p:spPr>
      </p:sp>
      <p:sp>
        <p:nvSpPr>
          <p:cNvPr id="38915"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Note that here we incorporate two possible payment extremes into pi – model lets us flexibly compare these</a:t>
            </a:r>
          </a:p>
        </p:txBody>
      </p:sp>
    </p:spTree>
    <p:extLst>
      <p:ext uri="{BB962C8B-B14F-4D97-AF65-F5344CB8AC3E}">
        <p14:creationId xmlns:p14="http://schemas.microsoft.com/office/powerpoint/2010/main" val="28608345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assumptions are we making here? (Leave graph on board)</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34001818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What assumptions are we making here? </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19028325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Since alpha &lt; 1 , it is less than patient’s desired optimum</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714266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(Leave graph on board) Note – this model is obviously simple – if doctors weren’t altruistic at all, then there would be no quantity provided. What else aren’t we accounting for? (Norms)</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9791828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marginal costs are c, then we have the same condition as before except we increase the RHS from 0 to c. This means that we must increase b(q) from our capitated solution, which means increasing service provision. (Leave graph on board)</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24232198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 reason to believe that FFS will get to the “right” level of provision</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3149488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Yes, in this case we need to decrease the marginal costs</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5901208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Suppose we have a mixed system where some fraction “r” of costs are paid and a physician is also paid a capitated “a” amount </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5271612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Marginal benefit = marginal cost. </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23175681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Marginal benefit = marginal cost. Now, the MDs have to be paid for everything but their altruism. Think about comparative statics—what happens as alpha changes? If alpha = 1, then we can get away with full capitation (see figure 1), but otherwise need to “beef </a:t>
            </a:r>
            <a:r>
              <a:rPr lang="en-CA" dirty="0" err="1"/>
              <a:t>ti</a:t>
            </a:r>
            <a:r>
              <a:rPr lang="en-CA" dirty="0"/>
              <a:t> up” a </a:t>
            </a:r>
            <a:r>
              <a:rPr lang="en-CA" dirty="0" err="1"/>
              <a:t>litle</a:t>
            </a:r>
            <a:endParaRPr lang="en-CA"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88120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Policy makers get to choose r and a. Look at figures here: https://www.sciencedirect.com/science/article/pii/0167629686900020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1352239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Also do we want to implement q’? Why or why not?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56983313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We’ll briefly walk through one extension of the model. </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We’ll briefly walk through one extension of the model (can skip this part if there isn’t time)</a:t>
            </a:r>
          </a:p>
        </p:txBody>
      </p:sp>
    </p:spTree>
    <p:extLst>
      <p:ext uri="{BB962C8B-B14F-4D97-AF65-F5344CB8AC3E}">
        <p14:creationId xmlns:p14="http://schemas.microsoft.com/office/powerpoint/2010/main" val="425155549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Simplified this utility function from the paper – note that the patient optimum is easy to compute, and depends only on patient cost-sharing © being less than a (note that the bracketed term is benefit from treatment)</a:t>
            </a:r>
          </a:p>
        </p:txBody>
      </p:sp>
    </p:spTree>
    <p:extLst>
      <p:ext uri="{BB962C8B-B14F-4D97-AF65-F5344CB8AC3E}">
        <p14:creationId xmlns:p14="http://schemas.microsoft.com/office/powerpoint/2010/main" val="368886623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Now the provider’s utility max is just (a-(r/alpha))/b and requires only that r &lt; alpha * a. In previous part of problem we had r = 1-alpha . Leave solutions on the board</a:t>
            </a:r>
          </a:p>
        </p:txBody>
      </p:sp>
    </p:spTree>
    <p:extLst>
      <p:ext uri="{BB962C8B-B14F-4D97-AF65-F5344CB8AC3E}">
        <p14:creationId xmlns:p14="http://schemas.microsoft.com/office/powerpoint/2010/main" val="32618174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Not going to go through this solution, but you can derive it yourself easily. Note that the q is flipped (patient is considering the minimal deviation from the provider’s quantity, and vice versa)</a:t>
            </a:r>
          </a:p>
        </p:txBody>
      </p:sp>
    </p:spTree>
    <p:extLst>
      <p:ext uri="{BB962C8B-B14F-4D97-AF65-F5344CB8AC3E}">
        <p14:creationId xmlns:p14="http://schemas.microsoft.com/office/powerpoint/2010/main" val="10051538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Not going to go through this solution, but you can derive it yourself easily. Note that F, G, H, and I depend on the quadratic terms of utility functions </a:t>
            </a:r>
          </a:p>
        </p:txBody>
      </p:sp>
    </p:spTree>
    <p:extLst>
      <p:ext uri="{BB962C8B-B14F-4D97-AF65-F5344CB8AC3E}">
        <p14:creationId xmlns:p14="http://schemas.microsoft.com/office/powerpoint/2010/main" val="16350116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Is this a good assumption? Can work this out from the solutions to individual problems on the board</a:t>
            </a:r>
          </a:p>
        </p:txBody>
      </p:sp>
    </p:spTree>
    <p:extLst>
      <p:ext uri="{BB962C8B-B14F-4D97-AF65-F5344CB8AC3E}">
        <p14:creationId xmlns:p14="http://schemas.microsoft.com/office/powerpoint/2010/main" val="4061419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Is this a good assumption? Can work this out from the solutions to individual problems on the board</a:t>
            </a:r>
          </a:p>
        </p:txBody>
      </p:sp>
    </p:spTree>
    <p:extLst>
      <p:ext uri="{BB962C8B-B14F-4D97-AF65-F5344CB8AC3E}">
        <p14:creationId xmlns:p14="http://schemas.microsoft.com/office/powerpoint/2010/main" val="3717872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And there we go! Why is B’ = 1? Because here we have assumed constant marginal costs of 1</a:t>
            </a:r>
          </a:p>
        </p:txBody>
      </p:sp>
    </p:spTree>
    <p:extLst>
      <p:ext uri="{BB962C8B-B14F-4D97-AF65-F5344CB8AC3E}">
        <p14:creationId xmlns:p14="http://schemas.microsoft.com/office/powerpoint/2010/main" val="5621581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my concerns – can we estimate bargaining? What about multiple types of insurance? </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56983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D8508-89AF-D3AD-A02B-D04722985A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CA2C4D-70C1-9D83-30B4-701DBE6DBE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B9BBE9-C49E-5BC3-C667-262C4A5F2201}"/>
              </a:ext>
            </a:extLst>
          </p:cNvPr>
          <p:cNvSpPr>
            <a:spLocks noGrp="1"/>
          </p:cNvSpPr>
          <p:nvPr>
            <p:ph type="body" idx="1"/>
          </p:nvPr>
        </p:nvSpPr>
        <p:spPr/>
        <p:txBody>
          <a:bodyPr/>
          <a:lstStyle/>
          <a:p>
            <a:r>
              <a:rPr lang="en-CA" dirty="0"/>
              <a:t>Can go through the Ma and Mak model here first (if we want/have time). Otherwise here, focus on (a) very general structure of model and (b) empirical results touched on. [point out Janet Currie]. </a:t>
            </a:r>
            <a:r>
              <a:rPr lang="en-CA" b="1" dirty="0"/>
              <a:t>Note: this is a great comps paper – a general model to focus on a broad literature. </a:t>
            </a:r>
            <a:endParaRPr lang="en-CA" dirty="0"/>
          </a:p>
        </p:txBody>
      </p:sp>
      <p:sp>
        <p:nvSpPr>
          <p:cNvPr id="4" name="Slide Number Placeholder 3">
            <a:extLst>
              <a:ext uri="{FF2B5EF4-FFF2-40B4-BE49-F238E27FC236}">
                <a16:creationId xmlns:a16="http://schemas.microsoft.com/office/drawing/2014/main" id="{B54BC35D-C658-074D-E493-C1469D790992}"/>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8624816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4198B-5C9F-5CC6-7D9D-35B4A7130DF8}"/>
            </a:ext>
          </a:extLst>
        </p:cNvPr>
        <p:cNvGrpSpPr/>
        <p:nvPr/>
      </p:nvGrpSpPr>
      <p:grpSpPr>
        <a:xfrm>
          <a:off x="0" y="0"/>
          <a:ext cx="0" cy="0"/>
          <a:chOff x="0" y="0"/>
          <a:chExt cx="0" cy="0"/>
        </a:xfrm>
      </p:grpSpPr>
      <p:sp>
        <p:nvSpPr>
          <p:cNvPr id="40962" name="Slide Image Placeholder 1">
            <a:extLst>
              <a:ext uri="{FF2B5EF4-FFF2-40B4-BE49-F238E27FC236}">
                <a16:creationId xmlns:a16="http://schemas.microsoft.com/office/drawing/2014/main" id="{CD4DD6D2-1A19-BCFC-3269-CC6F76478229}"/>
              </a:ext>
            </a:extLst>
          </p:cNvPr>
          <p:cNvSpPr>
            <a:spLocks noGrp="1" noRot="1" noChangeAspect="1" noTextEdit="1"/>
          </p:cNvSpPr>
          <p:nvPr>
            <p:ph type="sldImg"/>
          </p:nvPr>
        </p:nvSpPr>
        <p:spPr>
          <a:ln/>
        </p:spPr>
      </p:sp>
      <p:sp>
        <p:nvSpPr>
          <p:cNvPr id="40963" name="Notes Placeholder 2">
            <a:extLst>
              <a:ext uri="{FF2B5EF4-FFF2-40B4-BE49-F238E27FC236}">
                <a16:creationId xmlns:a16="http://schemas.microsoft.com/office/drawing/2014/main" id="{D1EEE68B-D87D-DD9D-285E-B1E01DF49252}"/>
              </a:ext>
            </a:extLst>
          </p:cNvPr>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What would you want a model to have? </a:t>
            </a:r>
          </a:p>
        </p:txBody>
      </p:sp>
    </p:spTree>
    <p:extLst>
      <p:ext uri="{BB962C8B-B14F-4D97-AF65-F5344CB8AC3E}">
        <p14:creationId xmlns:p14="http://schemas.microsoft.com/office/powerpoint/2010/main" val="11033602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8DE1-426C-EB4B-63D0-5783F4FBD71B}"/>
            </a:ext>
          </a:extLst>
        </p:cNvPr>
        <p:cNvGrpSpPr/>
        <p:nvPr/>
      </p:nvGrpSpPr>
      <p:grpSpPr>
        <a:xfrm>
          <a:off x="0" y="0"/>
          <a:ext cx="0" cy="0"/>
          <a:chOff x="0" y="0"/>
          <a:chExt cx="0" cy="0"/>
        </a:xfrm>
      </p:grpSpPr>
      <p:sp>
        <p:nvSpPr>
          <p:cNvPr id="40962" name="Slide Image Placeholder 1">
            <a:extLst>
              <a:ext uri="{FF2B5EF4-FFF2-40B4-BE49-F238E27FC236}">
                <a16:creationId xmlns:a16="http://schemas.microsoft.com/office/drawing/2014/main" id="{880B96BF-A72D-76EE-D689-F364E952D177}"/>
              </a:ext>
            </a:extLst>
          </p:cNvPr>
          <p:cNvSpPr>
            <a:spLocks noGrp="1" noRot="1" noChangeAspect="1" noTextEdit="1"/>
          </p:cNvSpPr>
          <p:nvPr>
            <p:ph type="sldImg"/>
          </p:nvPr>
        </p:nvSpPr>
        <p:spPr>
          <a:ln/>
        </p:spPr>
      </p:sp>
      <p:sp>
        <p:nvSpPr>
          <p:cNvPr id="40963" name="Notes Placeholder 2">
            <a:extLst>
              <a:ext uri="{FF2B5EF4-FFF2-40B4-BE49-F238E27FC236}">
                <a16:creationId xmlns:a16="http://schemas.microsoft.com/office/drawing/2014/main" id="{FF3ABF95-B6DD-CA8C-BFA6-C0EF67F33D38}"/>
              </a:ext>
            </a:extLst>
          </p:cNvPr>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This paper has a nice table that summarizes a *lot* of literature in this space! See Table 1. We’ll just look at their simple </a:t>
            </a:r>
            <a:r>
              <a:rPr lang="en-US" altLang="en-US"/>
              <a:t>model sketch. </a:t>
            </a:r>
            <a:endParaRPr lang="en-US" altLang="en-US" dirty="0"/>
          </a:p>
        </p:txBody>
      </p:sp>
    </p:spTree>
    <p:extLst>
      <p:ext uri="{BB962C8B-B14F-4D97-AF65-F5344CB8AC3E}">
        <p14:creationId xmlns:p14="http://schemas.microsoft.com/office/powerpoint/2010/main" val="42800705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main tradeoff? Top-left corner is perfect diagnosis. The threshold balances risk of over-treating and under-treating as a function of skill</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57155108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Helpful to consider two different types: an aggressive treater and a cautious treater</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887700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59161940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does provider payment change if there are heterogeneous patients?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3988197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And there we go! Why is B’ = 1? Because here we have assumed constant marginal costs of 1</a:t>
            </a:r>
          </a:p>
        </p:txBody>
      </p:sp>
    </p:spTree>
    <p:extLst>
      <p:ext uri="{BB962C8B-B14F-4D97-AF65-F5344CB8AC3E}">
        <p14:creationId xmlns:p14="http://schemas.microsoft.com/office/powerpoint/2010/main" val="135506614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And there we go! Why is B’ = 1? Because here we have assumed constant marginal costs of 1</a:t>
            </a:r>
          </a:p>
        </p:txBody>
      </p:sp>
    </p:spTree>
    <p:extLst>
      <p:ext uri="{BB962C8B-B14F-4D97-AF65-F5344CB8AC3E}">
        <p14:creationId xmlns:p14="http://schemas.microsoft.com/office/powerpoint/2010/main" val="28484330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Note: now we have to switch out of the q for quantity mindset. Also have to think of B as social benefit (could potentially be different from above). ,Note: should H be public information? How would model change without it being public?</a:t>
            </a:r>
          </a:p>
        </p:txBody>
      </p:sp>
    </p:spTree>
    <p:extLst>
      <p:ext uri="{BB962C8B-B14F-4D97-AF65-F5344CB8AC3E}">
        <p14:creationId xmlns:p14="http://schemas.microsoft.com/office/powerpoint/2010/main" val="27827904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Would we assume this to be true in most cases? When would we assume it to be true? ( Maybe in Canadian contexts)</a:t>
            </a:r>
          </a:p>
        </p:txBody>
      </p:sp>
    </p:spTree>
    <p:extLst>
      <p:ext uri="{BB962C8B-B14F-4D97-AF65-F5344CB8AC3E}">
        <p14:creationId xmlns:p14="http://schemas.microsoft.com/office/powerpoint/2010/main" val="111396066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This independence is the interesting bit. Also note that here we don’ have the altruism parameter – could we incorporate it somehow? Yes, in H.</a:t>
            </a:r>
          </a:p>
        </p:txBody>
      </p:sp>
    </p:spTree>
    <p:extLst>
      <p:ext uri="{BB962C8B-B14F-4D97-AF65-F5344CB8AC3E}">
        <p14:creationId xmlns:p14="http://schemas.microsoft.com/office/powerpoint/2010/main" val="21829156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Proof: just need to take first order condition </a:t>
            </a:r>
            <a:r>
              <a:rPr lang="en-US" altLang="en-US" dirty="0" err="1"/>
              <a:t>w.r.t.</a:t>
            </a:r>
            <a:r>
              <a:rPr lang="en-US" altLang="en-US" dirty="0"/>
              <a:t> p. Then the first part = B’(q) by the proposition, and the rest (three terms) are equal to the social FOC, B’(q) = 0.</a:t>
            </a:r>
          </a:p>
        </p:txBody>
      </p:sp>
    </p:spTree>
    <p:extLst>
      <p:ext uri="{BB962C8B-B14F-4D97-AF65-F5344CB8AC3E}">
        <p14:creationId xmlns:p14="http://schemas.microsoft.com/office/powerpoint/2010/main" val="299396315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Proof: just need to take first order condition </a:t>
            </a:r>
            <a:r>
              <a:rPr lang="en-US" altLang="en-US" dirty="0" err="1"/>
              <a:t>w.r.t.</a:t>
            </a:r>
            <a:r>
              <a:rPr lang="en-US" altLang="en-US" dirty="0"/>
              <a:t> p. Then the first part = B’(q) by the proposition, and the rest (three terms) are equal to the social FOC, B’(q) = 0.</a:t>
            </a:r>
          </a:p>
        </p:txBody>
      </p:sp>
    </p:spTree>
    <p:extLst>
      <p:ext uri="{BB962C8B-B14F-4D97-AF65-F5344CB8AC3E}">
        <p14:creationId xmlns:p14="http://schemas.microsoft.com/office/powerpoint/2010/main" val="358961073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 We still want everyone to be treated</a:t>
            </a:r>
          </a:p>
        </p:txBody>
      </p:sp>
    </p:spTree>
    <p:extLst>
      <p:ext uri="{BB962C8B-B14F-4D97-AF65-F5344CB8AC3E}">
        <p14:creationId xmlns:p14="http://schemas.microsoft.com/office/powerpoint/2010/main" val="190136137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Now there’s no way the social planner can get around the link between p and x- -- if the optimal p leads to patients being dumped, there’s nothing the planner can do about it. What does this mean for quality? https://people.bu.edu/ma/Ma-Mak_ORE2019.pdf</a:t>
            </a:r>
          </a:p>
        </p:txBody>
      </p:sp>
    </p:spTree>
    <p:extLst>
      <p:ext uri="{BB962C8B-B14F-4D97-AF65-F5344CB8AC3E}">
        <p14:creationId xmlns:p14="http://schemas.microsoft.com/office/powerpoint/2010/main" val="286404342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Go over quality discrimination in paper: https://people.bu.edu/ma/Ma-Mak_ORE2019.pdf. Difference between dumping, creaming, and skimping: dumping is not treating sick. </a:t>
            </a:r>
            <a:r>
              <a:rPr lang="en-CA" altLang="en-US" sz="1800" b="0" i="0" u="none" strike="noStrike" baseline="0" dirty="0">
                <a:solidFill>
                  <a:srgbClr val="000000"/>
                </a:solidFill>
                <a:latin typeface="Deja Vu Serif"/>
              </a:rPr>
              <a:t>Creaming is keeping healthier patients on roster longer (e.g., </a:t>
            </a:r>
            <a:r>
              <a:rPr lang="en-US" sz="1800" b="0" i="0" u="none" strike="noStrike" baseline="0" dirty="0">
                <a:solidFill>
                  <a:srgbClr val="000000"/>
                </a:solidFill>
                <a:latin typeface="Deja Vu Serif"/>
              </a:rPr>
              <a:t>increased length of hospital stay for healthier patients). Skimping is kicking out sicker patients faster (</a:t>
            </a:r>
            <a:r>
              <a:rPr lang="en-US" sz="1800" b="0" i="0" u="none" strike="noStrike" baseline="0" dirty="0" err="1">
                <a:solidFill>
                  <a:srgbClr val="000000"/>
                </a:solidFill>
                <a:latin typeface="Deja Vu Serif"/>
              </a:rPr>
              <a:t>e.g</a:t>
            </a:r>
            <a:r>
              <a:rPr lang="en-US" sz="1800" b="0" i="0" u="none" strike="noStrike" baseline="0" dirty="0">
                <a:solidFill>
                  <a:srgbClr val="000000"/>
                </a:solidFill>
                <a:latin typeface="Deja Vu Serif"/>
              </a:rPr>
              <a:t>,. decreased length of stay for sicker patients). </a:t>
            </a:r>
            <a:r>
              <a:rPr lang="en-US" altLang="en-US" dirty="0"/>
              <a:t>Of course there will be no effort if costs are always reimbursed perfectly. So can we blend the two?</a:t>
            </a:r>
          </a:p>
        </p:txBody>
      </p:sp>
    </p:spTree>
    <p:extLst>
      <p:ext uri="{BB962C8B-B14F-4D97-AF65-F5344CB8AC3E}">
        <p14:creationId xmlns:p14="http://schemas.microsoft.com/office/powerpoint/2010/main" val="325527683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dirty="0"/>
              <a:t>Skipping over the derivation here. Note that now q depends on risk as well (creaming and skimping)</a:t>
            </a:r>
            <a:endParaRPr lang="en-US" altLang="en-US" dirty="0"/>
          </a:p>
        </p:txBody>
      </p:sp>
    </p:spTree>
    <p:extLst>
      <p:ext uri="{BB962C8B-B14F-4D97-AF65-F5344CB8AC3E}">
        <p14:creationId xmlns:p14="http://schemas.microsoft.com/office/powerpoint/2010/main" val="136507450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ln/>
        </p:spPr>
      </p:sp>
      <p:sp>
        <p:nvSpPr>
          <p:cNvPr id="40963" name="Notes Placeholder 2"/>
          <p:cNvSpPr>
            <a:spLocks noGrp="1"/>
          </p:cNvSpPr>
          <p:nvPr>
            <p:ph type="body" idx="1"/>
          </p:nvPr>
        </p:nvSpPr>
        <p:spPr>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dirty="0"/>
              <a:t>This last one is an </a:t>
            </a:r>
            <a:r>
              <a:rPr lang="en-CA" altLang="en-US" dirty="0" err="1"/>
              <a:t>experimenta</a:t>
            </a:r>
            <a:r>
              <a:rPr lang="en-CA" altLang="en-US" dirty="0"/>
              <a:t> </a:t>
            </a:r>
            <a:r>
              <a:rPr lang="en-CA" altLang="en-US" dirty="0" err="1"/>
              <a:t>lsetting</a:t>
            </a:r>
            <a:r>
              <a:rPr lang="en-CA" altLang="en-US" dirty="0"/>
              <a:t>. Go through extensions listed </a:t>
            </a:r>
            <a:r>
              <a:rPr lang="en-CA" altLang="en-US"/>
              <a:t>in the paper as well. </a:t>
            </a:r>
            <a:endParaRPr lang="en-US" altLang="en-US" dirty="0"/>
          </a:p>
        </p:txBody>
      </p:sp>
    </p:spTree>
    <p:extLst>
      <p:ext uri="{BB962C8B-B14F-4D97-AF65-F5344CB8AC3E}">
        <p14:creationId xmlns:p14="http://schemas.microsoft.com/office/powerpoint/2010/main" val="400584765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my concerns – can we estimate bargaining? What about multiple types of insurance?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3606988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Master" Target="../slideMasters/slideMaster1.xml"/><Relationship Id="rId1" Type="http://schemas.openxmlformats.org/officeDocument/2006/relationships/tags" Target="../tags/tag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pic>
        <p:nvPicPr>
          <p:cNvPr id="5" name="Picture 13" descr="DxCG-backgroundNoTypeLarge-"/>
          <p:cNvPicPr>
            <a:picLocks noChangeAspect="1" noChangeArrowheads="1"/>
          </p:cNvPicPr>
          <p:nvPr>
            <p:custDataLst>
              <p:tags r:id="rId1"/>
            </p:custDataLst>
          </p:nvPr>
        </p:nvPicPr>
        <p:blipFill>
          <a:blip r:embed="rId3" cstate="print">
            <a:lum bright="-18000"/>
          </a:blip>
          <a:srcRect b="83655"/>
          <a:stretch>
            <a:fillRect/>
          </a:stretch>
        </p:blipFill>
        <p:spPr bwMode="auto">
          <a:xfrm>
            <a:off x="3917" y="1601"/>
            <a:ext cx="12188092" cy="1343025"/>
          </a:xfrm>
          <a:prstGeom prst="rect">
            <a:avLst/>
          </a:prstGeom>
          <a:noFill/>
          <a:ln w="9525">
            <a:noFill/>
            <a:miter lim="800000"/>
            <a:headEnd/>
            <a:tailEnd/>
          </a:ln>
        </p:spPr>
      </p:pic>
      <p:sp>
        <p:nvSpPr>
          <p:cNvPr id="2" name="Title 1"/>
          <p:cNvSpPr>
            <a:spLocks noGrp="1"/>
          </p:cNvSpPr>
          <p:nvPr>
            <p:ph type="title"/>
          </p:nvPr>
        </p:nvSpPr>
        <p:spPr>
          <a:xfrm>
            <a:off x="609600" y="152400"/>
            <a:ext cx="109728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6"/>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6"/>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4"/>
          <p:cNvSpPr>
            <a:spLocks noGrp="1"/>
          </p:cNvSpPr>
          <p:nvPr>
            <p:ph type="ftr" sz="quarter" idx="10"/>
          </p:nvPr>
        </p:nvSpPr>
        <p:spPr/>
        <p:txBody>
          <a:bodyPr/>
          <a:lstStyle>
            <a:lvl1pPr>
              <a:defRPr/>
            </a:lvl1pPr>
          </a:lstStyle>
          <a:p>
            <a:pPr>
              <a:defRPr/>
            </a:pPr>
            <a:r>
              <a:rPr lang="en-US" dirty="0"/>
              <a:t>© 2007, Urix®, Inc.</a:t>
            </a:r>
          </a:p>
          <a:p>
            <a:pPr>
              <a:defRPr/>
            </a:pPr>
            <a:endParaRPr lang="en-US" dirty="0"/>
          </a:p>
        </p:txBody>
      </p:sp>
      <p:sp>
        <p:nvSpPr>
          <p:cNvPr id="7" name="Slide Number Placeholder 5"/>
          <p:cNvSpPr>
            <a:spLocks noGrp="1"/>
          </p:cNvSpPr>
          <p:nvPr>
            <p:ph type="sldNum" sz="quarter" idx="11"/>
          </p:nvPr>
        </p:nvSpPr>
        <p:spPr/>
        <p:txBody>
          <a:bodyPr/>
          <a:lstStyle>
            <a:lvl1pPr>
              <a:defRPr/>
            </a:lvl1pPr>
          </a:lstStyle>
          <a:p>
            <a:pPr>
              <a:defRPr/>
            </a:pPr>
            <a:fld id="{B807AC87-2F5C-4C1E-9936-71EDA8438CA5}" type="slidenum">
              <a:rPr lang="en-US"/>
              <a:pPr>
                <a:defRPr/>
              </a:pPr>
              <a:t>‹#›</a:t>
            </a:fld>
            <a:endParaRPr lang="en-US"/>
          </a:p>
        </p:txBody>
      </p:sp>
    </p:spTree>
    <p:extLst>
      <p:ext uri="{BB962C8B-B14F-4D97-AF65-F5344CB8AC3E}">
        <p14:creationId xmlns:p14="http://schemas.microsoft.com/office/powerpoint/2010/main" val="38392813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healthaffairs.org/doi/pdf/10.1377/hlthaff.2009.0563?casa_token=LKTukTI76NcAAAAA%3ArzxrmFdOG_zWK-CfFlUoCBTLTteseJPaiCrR8sDl_gW8BRgY-6yxtNrURq4j5qn7hS711rz0rw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hyperlink" Target="https://www.healthaffairs.org/doi/pdf/10.1377/hlthaff.2009.0563?casa_token=LKTukTI76NcAAAAA%3ArzxrmFdOG_zWK-CfFlUoCBTLTteseJPaiCrR8sDl_gW8BRgY-6yxtNrURq4j5qn7hS711rz0rwo"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hyperlink" Target="https://pubs.aeaweb.org/doi/pdfplus/10.1257/aer.20170092"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hyperlink" Target="https://pubs.aeaweb.org/doi/pdfplus/10.1257/aer.20170092"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2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20.png"/></Relationships>
</file>

<file path=ppt/slides/_rels/slide3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2209800"/>
            <a:ext cx="11049000" cy="1894362"/>
          </a:xfrm>
        </p:spPr>
        <p:txBody>
          <a:bodyPr>
            <a:normAutofit/>
          </a:bodyPr>
          <a:lstStyle/>
          <a:p>
            <a:r>
              <a:rPr lang="en-US" dirty="0"/>
              <a:t>Advanced Health Economics</a:t>
            </a:r>
          </a:p>
        </p:txBody>
      </p:sp>
      <p:sp>
        <p:nvSpPr>
          <p:cNvPr id="3" name="Subtitle 2"/>
          <p:cNvSpPr>
            <a:spLocks noGrp="1"/>
          </p:cNvSpPr>
          <p:nvPr>
            <p:ph type="subTitle" idx="1"/>
          </p:nvPr>
        </p:nvSpPr>
        <p:spPr>
          <a:xfrm>
            <a:off x="904358" y="4191000"/>
            <a:ext cx="10449442" cy="1981200"/>
          </a:xfrm>
        </p:spPr>
        <p:txBody>
          <a:bodyPr>
            <a:noAutofit/>
          </a:bodyPr>
          <a:lstStyle/>
          <a:p>
            <a:r>
              <a:rPr lang="en-US" sz="2400" dirty="0"/>
              <a:t>Lecture 4: Provider Payment Models</a:t>
            </a:r>
          </a:p>
          <a:p>
            <a:r>
              <a:rPr lang="en-US" sz="2400" dirty="0"/>
              <a:t>January 26, 2025</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 Adverse Selection</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Private information distorts demand for services! </a:t>
            </a:r>
          </a:p>
          <a:p>
            <a:r>
              <a:rPr lang="en-US" sz="2400" dirty="0">
                <a:cs typeface="Times New Roman" panose="02020603050405020304" pitchFamily="18" charset="0"/>
              </a:rPr>
              <a:t>People have information about their own risk</a:t>
            </a:r>
          </a:p>
          <a:p>
            <a:pPr lvl="1"/>
            <a:r>
              <a:rPr lang="en-US" sz="2200" dirty="0">
                <a:cs typeface="Times New Roman" panose="02020603050405020304" pitchFamily="18" charset="0"/>
              </a:rPr>
              <a:t>Sometimes on multiple dimensions</a:t>
            </a:r>
          </a:p>
          <a:p>
            <a:r>
              <a:rPr lang="en-US" sz="2400" dirty="0">
                <a:cs typeface="Times New Roman" panose="02020603050405020304" pitchFamily="18" charset="0"/>
              </a:rPr>
              <a:t>Government intervention may be needed to mitigate risks</a:t>
            </a:r>
          </a:p>
          <a:p>
            <a:pPr lvl="1"/>
            <a:r>
              <a:rPr lang="en-US" sz="2200" dirty="0">
                <a:cs typeface="Times New Roman" panose="02020603050405020304" pitchFamily="18" charset="0"/>
              </a:rPr>
              <a:t>Mandates, risk adjustment, subsidies</a:t>
            </a:r>
          </a:p>
          <a:p>
            <a:pPr lvl="1"/>
            <a:r>
              <a:rPr lang="en-US" sz="2200" dirty="0">
                <a:cs typeface="Times New Roman" panose="02020603050405020304" pitchFamily="18" charset="0"/>
              </a:rPr>
              <a:t>But may also have unintended consequences</a:t>
            </a:r>
          </a:p>
        </p:txBody>
      </p:sp>
    </p:spTree>
    <p:extLst>
      <p:ext uri="{BB962C8B-B14F-4D97-AF65-F5344CB8AC3E}">
        <p14:creationId xmlns:p14="http://schemas.microsoft.com/office/powerpoint/2010/main" val="3746653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Case Study: Adverse Selection</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200" dirty="0">
              <a:cs typeface="Times New Roman" panose="02020603050405020304" pitchFamily="18" charset="0"/>
            </a:endParaRPr>
          </a:p>
        </p:txBody>
      </p:sp>
      <p:pic>
        <p:nvPicPr>
          <p:cNvPr id="6" name="Picture 5">
            <a:extLst>
              <a:ext uri="{FF2B5EF4-FFF2-40B4-BE49-F238E27FC236}">
                <a16:creationId xmlns:a16="http://schemas.microsoft.com/office/drawing/2014/main" id="{0241F936-0ED6-D2DD-E799-9F26424AEC90}"/>
              </a:ext>
            </a:extLst>
          </p:cNvPr>
          <p:cNvPicPr>
            <a:picLocks noChangeAspect="1"/>
          </p:cNvPicPr>
          <p:nvPr/>
        </p:nvPicPr>
        <p:blipFill>
          <a:blip r:embed="rId3"/>
          <a:stretch>
            <a:fillRect/>
          </a:stretch>
        </p:blipFill>
        <p:spPr>
          <a:xfrm>
            <a:off x="574110" y="929575"/>
            <a:ext cx="9421540" cy="2457793"/>
          </a:xfrm>
          <a:prstGeom prst="rect">
            <a:avLst/>
          </a:prstGeom>
        </p:spPr>
      </p:pic>
    </p:spTree>
    <p:extLst>
      <p:ext uri="{BB962C8B-B14F-4D97-AF65-F5344CB8AC3E}">
        <p14:creationId xmlns:p14="http://schemas.microsoft.com/office/powerpoint/2010/main" val="62364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 Adverse Selection</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215434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Private information distorts demand for services! </a:t>
            </a:r>
          </a:p>
          <a:p>
            <a:r>
              <a:rPr lang="en-US" sz="2400" dirty="0">
                <a:cs typeface="Times New Roman" panose="02020603050405020304" pitchFamily="18" charset="0"/>
              </a:rPr>
              <a:t>People have information about their own risk</a:t>
            </a:r>
          </a:p>
          <a:p>
            <a:pPr lvl="1"/>
            <a:r>
              <a:rPr lang="en-US" sz="2200" dirty="0">
                <a:cs typeface="Times New Roman" panose="02020603050405020304" pitchFamily="18" charset="0"/>
              </a:rPr>
              <a:t>Sometimes on multiple dimensions</a:t>
            </a:r>
          </a:p>
          <a:p>
            <a:r>
              <a:rPr lang="en-US" sz="2400" dirty="0">
                <a:cs typeface="Times New Roman" panose="02020603050405020304" pitchFamily="18" charset="0"/>
              </a:rPr>
              <a:t>Government intervention may be needed to mitigate risks</a:t>
            </a:r>
          </a:p>
          <a:p>
            <a:pPr lvl="1"/>
            <a:r>
              <a:rPr lang="en-US" sz="2200" dirty="0">
                <a:cs typeface="Times New Roman" panose="02020603050405020304" pitchFamily="18" charset="0"/>
              </a:rPr>
              <a:t>Mandates, risk adjustment, subsidies</a:t>
            </a:r>
          </a:p>
          <a:p>
            <a:pPr lvl="1"/>
            <a:r>
              <a:rPr lang="en-US" sz="2200" dirty="0">
                <a:cs typeface="Times New Roman" panose="02020603050405020304" pitchFamily="18" charset="0"/>
              </a:rPr>
              <a:t>But may also have unintended consequences</a:t>
            </a:r>
          </a:p>
          <a:p>
            <a:endParaRPr lang="en-US" sz="2400" dirty="0">
              <a:cs typeface="Times New Roman" panose="02020603050405020304" pitchFamily="18" charset="0"/>
            </a:endParaRPr>
          </a:p>
        </p:txBody>
      </p:sp>
      <p:sp>
        <p:nvSpPr>
          <p:cNvPr id="3" name="Title 1">
            <a:extLst>
              <a:ext uri="{FF2B5EF4-FFF2-40B4-BE49-F238E27FC236}">
                <a16:creationId xmlns:a16="http://schemas.microsoft.com/office/drawing/2014/main" id="{8B00CFD6-47D4-A5ED-8B83-09DCEAB85E25}"/>
              </a:ext>
            </a:extLst>
          </p:cNvPr>
          <p:cNvSpPr txBox="1">
            <a:spLocks/>
          </p:cNvSpPr>
          <p:nvPr/>
        </p:nvSpPr>
        <p:spPr>
          <a:xfrm>
            <a:off x="597074" y="3853478"/>
            <a:ext cx="7269480"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 Provider Payment</a:t>
            </a:r>
          </a:p>
        </p:txBody>
      </p:sp>
      <p:sp>
        <p:nvSpPr>
          <p:cNvPr id="4" name="Content Placeholder 2">
            <a:extLst>
              <a:ext uri="{FF2B5EF4-FFF2-40B4-BE49-F238E27FC236}">
                <a16:creationId xmlns:a16="http://schemas.microsoft.com/office/drawing/2014/main" id="{503F776D-A7DB-4AED-9B16-D81631B561AC}"/>
              </a:ext>
            </a:extLst>
          </p:cNvPr>
          <p:cNvSpPr txBox="1">
            <a:spLocks/>
          </p:cNvSpPr>
          <p:nvPr/>
        </p:nvSpPr>
        <p:spPr>
          <a:xfrm>
            <a:off x="609600" y="4510975"/>
            <a:ext cx="10439400" cy="1661225"/>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Thinking about </a:t>
            </a:r>
            <a:r>
              <a:rPr lang="en-US" sz="2400" u="sng" dirty="0">
                <a:cs typeface="Times New Roman" panose="02020603050405020304" pitchFamily="18" charset="0"/>
              </a:rPr>
              <a:t>supply </a:t>
            </a:r>
            <a:r>
              <a:rPr lang="en-US" sz="2400" dirty="0">
                <a:cs typeface="Times New Roman" panose="02020603050405020304" pitchFamily="18" charset="0"/>
              </a:rPr>
              <a:t>of healthcare rather than </a:t>
            </a:r>
            <a:r>
              <a:rPr lang="en-US" sz="2400" u="sng" dirty="0">
                <a:cs typeface="Times New Roman" panose="02020603050405020304" pitchFamily="18" charset="0"/>
              </a:rPr>
              <a:t>demand</a:t>
            </a:r>
            <a:endParaRPr lang="en-US" sz="2400" dirty="0">
              <a:cs typeface="Times New Roman" panose="02020603050405020304" pitchFamily="18" charset="0"/>
            </a:endParaRPr>
          </a:p>
          <a:p>
            <a:r>
              <a:rPr lang="en-US" sz="2400" dirty="0">
                <a:cs typeface="Times New Roman" panose="02020603050405020304" pitchFamily="18" charset="0"/>
              </a:rPr>
              <a:t>How do </a:t>
            </a:r>
            <a:r>
              <a:rPr lang="en-US" sz="2400" i="1" dirty="0">
                <a:cs typeface="Times New Roman" panose="02020603050405020304" pitchFamily="18" charset="0"/>
              </a:rPr>
              <a:t>physicians</a:t>
            </a:r>
            <a:r>
              <a:rPr lang="en-US" sz="2400" dirty="0">
                <a:cs typeface="Times New Roman" panose="02020603050405020304" pitchFamily="18" charset="0"/>
              </a:rPr>
              <a:t> respond to incentives?</a:t>
            </a:r>
          </a:p>
        </p:txBody>
      </p:sp>
    </p:spTree>
    <p:extLst>
      <p:ext uri="{BB962C8B-B14F-4D97-AF65-F5344CB8AC3E}">
        <p14:creationId xmlns:p14="http://schemas.microsoft.com/office/powerpoint/2010/main" val="5658541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800" y="304800"/>
            <a:ext cx="6951582" cy="702856"/>
          </a:xfrm>
          <a:prstGeom prst="rect">
            <a:avLst/>
          </a:prstGeom>
        </p:spPr>
        <p:txBody>
          <a:bodyPr vert="horz" wrap="square" lIns="0" tIns="25499" rIns="0" bIns="0" rtlCol="0" anchor="b">
            <a:spAutoFit/>
          </a:bodyPr>
          <a:lstStyle/>
          <a:p>
            <a:pPr marL="26841">
              <a:lnSpc>
                <a:spcPct val="100000"/>
              </a:lnSpc>
              <a:spcBef>
                <a:spcPts val="201"/>
              </a:spcBef>
            </a:pPr>
            <a:r>
              <a:rPr dirty="0"/>
              <a:t>Why </a:t>
            </a:r>
            <a:r>
              <a:rPr spc="95" dirty="0"/>
              <a:t>study</a:t>
            </a:r>
            <a:r>
              <a:rPr spc="116" dirty="0"/>
              <a:t> </a:t>
            </a:r>
            <a:r>
              <a:rPr spc="85" dirty="0"/>
              <a:t>physicians?</a:t>
            </a:r>
          </a:p>
        </p:txBody>
      </p:sp>
      <p:sp>
        <p:nvSpPr>
          <p:cNvPr id="6" name="object 6"/>
          <p:cNvSpPr txBox="1"/>
          <p:nvPr/>
        </p:nvSpPr>
        <p:spPr>
          <a:xfrm>
            <a:off x="457200" y="1066800"/>
            <a:ext cx="10790298" cy="4336478"/>
          </a:xfrm>
          <a:prstGeom prst="rect">
            <a:avLst/>
          </a:prstGeom>
        </p:spPr>
        <p:txBody>
          <a:bodyPr vert="horz" wrap="square" lIns="0" tIns="154339" rIns="0" bIns="0" rtlCol="0">
            <a:spAutoFit/>
          </a:bodyPr>
          <a:lstStyle/>
          <a:p>
            <a:pPr marL="216074" indent="-190574">
              <a:spcBef>
                <a:spcPts val="1215"/>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Usually the first healthcare provider we are exposed to in the healthcare sector</a:t>
            </a:r>
            <a:endParaRPr sz="2200" dirty="0">
              <a:latin typeface="Times New Roman" panose="02020603050405020304" pitchFamily="18" charset="0"/>
              <a:cs typeface="Times New Roman" panose="02020603050405020304" pitchFamily="18" charset="0"/>
            </a:endParaRPr>
          </a:p>
          <a:p>
            <a:pPr marL="216074" indent="-190574">
              <a:spcBef>
                <a:spcPts val="993"/>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In Canada, they are the “gatekeeper” to many specialty services</a:t>
            </a:r>
            <a:endParaRPr sz="2200" dirty="0">
              <a:latin typeface="Times New Roman" panose="02020603050405020304" pitchFamily="18" charset="0"/>
              <a:cs typeface="Times New Roman" panose="02020603050405020304" pitchFamily="18" charset="0"/>
            </a:endParaRPr>
          </a:p>
          <a:p>
            <a:pPr marL="216074" indent="-190574">
              <a:spcBef>
                <a:spcPts val="528"/>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Their decisions matter!</a:t>
            </a:r>
            <a:endParaRPr sz="2200" dirty="0">
              <a:latin typeface="Times New Roman" panose="02020603050405020304" pitchFamily="18" charset="0"/>
              <a:cs typeface="Times New Roman" panose="02020603050405020304" pitchFamily="18" charset="0"/>
            </a:endParaRPr>
          </a:p>
          <a:p>
            <a:pPr marL="696536" lvl="1" indent="-182522">
              <a:spcBef>
                <a:spcPts val="528"/>
              </a:spcBef>
              <a:buChar char="•"/>
              <a:tabLst>
                <a:tab pos="697878" algn="l"/>
              </a:tabLst>
            </a:pPr>
            <a:r>
              <a:rPr sz="2200" dirty="0">
                <a:solidFill>
                  <a:srgbClr val="22373A"/>
                </a:solidFill>
                <a:latin typeface="Times New Roman" panose="02020603050405020304" pitchFamily="18" charset="0"/>
                <a:cs typeface="Times New Roman" panose="02020603050405020304" pitchFamily="18" charset="0"/>
              </a:rPr>
              <a:t>Order tests, interpret results, decide appropriate action</a:t>
            </a:r>
            <a:endParaRPr sz="2200" dirty="0">
              <a:latin typeface="Times New Roman" panose="02020603050405020304" pitchFamily="18" charset="0"/>
              <a:cs typeface="Times New Roman" panose="02020603050405020304" pitchFamily="18" charset="0"/>
            </a:endParaRPr>
          </a:p>
          <a:p>
            <a:pPr marL="216074" marR="10737" indent="-190574">
              <a:spcBef>
                <a:spcPts val="676"/>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Physicians possess more (but incomplete) information than the patient</a:t>
            </a:r>
            <a:endParaRPr lang="en-CA" sz="2200" dirty="0">
              <a:solidFill>
                <a:srgbClr val="22373A"/>
              </a:solidFill>
              <a:latin typeface="Times New Roman" panose="02020603050405020304" pitchFamily="18" charset="0"/>
              <a:cs typeface="Times New Roman" panose="02020603050405020304" pitchFamily="18" charset="0"/>
            </a:endParaRPr>
          </a:p>
          <a:p>
            <a:pPr marL="216074" marR="10737"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But they also respond to: </a:t>
            </a: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Heuristics</a:t>
            </a: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Patient risk </a:t>
            </a:r>
            <a:r>
              <a:rPr lang="en-CA" sz="2200" i="1" dirty="0">
                <a:solidFill>
                  <a:srgbClr val="22373A"/>
                </a:solidFill>
                <a:latin typeface="Times New Roman" panose="02020603050405020304" pitchFamily="18" charset="0"/>
                <a:cs typeface="Times New Roman" panose="02020603050405020304" pitchFamily="18" charset="0"/>
              </a:rPr>
              <a:t>proxies</a:t>
            </a: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Incentives</a:t>
            </a:r>
            <a:r>
              <a:rPr sz="2200" dirty="0">
                <a:solidFill>
                  <a:srgbClr val="22373A"/>
                </a:solidFill>
                <a:latin typeface="Times New Roman" panose="02020603050405020304" pitchFamily="18" charset="0"/>
                <a:cs typeface="Times New Roman" panose="02020603050405020304" pitchFamily="18" charset="0"/>
              </a:rPr>
              <a:t> (e.g., financial, malpractice, etc.)</a:t>
            </a:r>
            <a:endParaRPr lang="en-CA" sz="2200" dirty="0">
              <a:solidFill>
                <a:srgbClr val="22373A"/>
              </a:solidFill>
              <a:latin typeface="Times New Roman" panose="02020603050405020304" pitchFamily="18" charset="0"/>
              <a:cs typeface="Times New Roman" panose="02020603050405020304" pitchFamily="18" charset="0"/>
            </a:endParaRP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P</a:t>
            </a:r>
            <a:r>
              <a:rPr sz="2200" dirty="0" err="1">
                <a:solidFill>
                  <a:srgbClr val="22373A"/>
                </a:solidFill>
                <a:latin typeface="Times New Roman" panose="02020603050405020304" pitchFamily="18" charset="0"/>
                <a:cs typeface="Times New Roman" panose="02020603050405020304" pitchFamily="18" charset="0"/>
              </a:rPr>
              <a:t>rejudices</a:t>
            </a:r>
            <a:endParaRPr sz="2200" dirty="0">
              <a:latin typeface="Times New Roman" panose="02020603050405020304" pitchFamily="18" charset="0"/>
              <a:cs typeface="Times New Roman" panose="02020603050405020304" pitchFamily="18" charset="0"/>
            </a:endParaRPr>
          </a:p>
        </p:txBody>
      </p:sp>
      <p:sp>
        <p:nvSpPr>
          <p:cNvPr id="7" name="object 7"/>
          <p:cNvSpPr txBox="1"/>
          <p:nvPr/>
        </p:nvSpPr>
        <p:spPr>
          <a:xfrm>
            <a:off x="11803331" y="6397071"/>
            <a:ext cx="244258" cy="233063"/>
          </a:xfrm>
          <a:prstGeom prst="rect">
            <a:avLst/>
          </a:prstGeom>
        </p:spPr>
        <p:txBody>
          <a:bodyPr vert="horz" wrap="square" lIns="0" tIns="37578" rIns="0" bIns="0" rtlCol="0">
            <a:spAutoFit/>
          </a:bodyPr>
          <a:lstStyle/>
          <a:p>
            <a:pPr marL="80524">
              <a:spcBef>
                <a:spcPts val="296"/>
              </a:spcBef>
            </a:pPr>
            <a:fld id="{81D60167-4931-47E6-BA6A-407CBD079E47}" type="slidenum">
              <a:rPr sz="1268" spc="-201" dirty="0">
                <a:solidFill>
                  <a:srgbClr val="22373A"/>
                </a:solidFill>
                <a:latin typeface="Arial Black"/>
                <a:cs typeface="Arial Black"/>
              </a:rPr>
              <a:pPr marL="80524">
                <a:spcBef>
                  <a:spcPts val="296"/>
                </a:spcBef>
              </a:pPr>
              <a:t>5</a:t>
            </a:fld>
            <a:endParaRPr sz="1268">
              <a:latin typeface="Arial Black"/>
              <a:cs typeface="Arial Black"/>
            </a:endParaRPr>
          </a:p>
        </p:txBody>
      </p:sp>
    </p:spTree>
  </p:cSld>
  <p:clrMapOvr>
    <a:masterClrMapping/>
  </p:clrMapOvr>
  <p:transition>
    <p:cu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800" y="304800"/>
            <a:ext cx="6951582" cy="702856"/>
          </a:xfrm>
          <a:prstGeom prst="rect">
            <a:avLst/>
          </a:prstGeom>
        </p:spPr>
        <p:txBody>
          <a:bodyPr vert="horz" wrap="square" lIns="0" tIns="25499" rIns="0" bIns="0" rtlCol="0" anchor="b">
            <a:spAutoFit/>
          </a:bodyPr>
          <a:lstStyle/>
          <a:p>
            <a:pPr marL="26841">
              <a:lnSpc>
                <a:spcPct val="100000"/>
              </a:lnSpc>
              <a:spcBef>
                <a:spcPts val="201"/>
              </a:spcBef>
            </a:pPr>
            <a:r>
              <a:rPr dirty="0"/>
              <a:t>Why </a:t>
            </a:r>
            <a:r>
              <a:rPr spc="95" dirty="0"/>
              <a:t>study</a:t>
            </a:r>
            <a:r>
              <a:rPr spc="116" dirty="0"/>
              <a:t> </a:t>
            </a:r>
            <a:r>
              <a:rPr spc="85" dirty="0"/>
              <a:t>physicians?</a:t>
            </a:r>
          </a:p>
        </p:txBody>
      </p:sp>
      <p:sp>
        <p:nvSpPr>
          <p:cNvPr id="6" name="object 6"/>
          <p:cNvSpPr txBox="1"/>
          <p:nvPr/>
        </p:nvSpPr>
        <p:spPr>
          <a:xfrm>
            <a:off x="457200" y="1066800"/>
            <a:ext cx="10790298" cy="4336478"/>
          </a:xfrm>
          <a:prstGeom prst="rect">
            <a:avLst/>
          </a:prstGeom>
        </p:spPr>
        <p:txBody>
          <a:bodyPr vert="horz" wrap="square" lIns="0" tIns="154339" rIns="0" bIns="0" rtlCol="0">
            <a:spAutoFit/>
          </a:bodyPr>
          <a:lstStyle/>
          <a:p>
            <a:pPr marL="216074" indent="-190574">
              <a:spcBef>
                <a:spcPts val="1215"/>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Usually the first healthcare provider we are exposed to in the healthcare sector</a:t>
            </a:r>
            <a:endParaRPr sz="2200" dirty="0">
              <a:latin typeface="Times New Roman" panose="02020603050405020304" pitchFamily="18" charset="0"/>
              <a:cs typeface="Times New Roman" panose="02020603050405020304" pitchFamily="18" charset="0"/>
            </a:endParaRPr>
          </a:p>
          <a:p>
            <a:pPr marL="216074" indent="-190574">
              <a:spcBef>
                <a:spcPts val="993"/>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In Canada, they are the “gatekeeper” to many specialty services</a:t>
            </a:r>
            <a:endParaRPr sz="2200" dirty="0">
              <a:latin typeface="Times New Roman" panose="02020603050405020304" pitchFamily="18" charset="0"/>
              <a:cs typeface="Times New Roman" panose="02020603050405020304" pitchFamily="18" charset="0"/>
            </a:endParaRPr>
          </a:p>
          <a:p>
            <a:pPr marL="216074" indent="-190574">
              <a:spcBef>
                <a:spcPts val="528"/>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Their decisions matter!</a:t>
            </a:r>
            <a:endParaRPr sz="2200" dirty="0">
              <a:latin typeface="Times New Roman" panose="02020603050405020304" pitchFamily="18" charset="0"/>
              <a:cs typeface="Times New Roman" panose="02020603050405020304" pitchFamily="18" charset="0"/>
            </a:endParaRPr>
          </a:p>
          <a:p>
            <a:pPr marL="696536" lvl="1" indent="-182522">
              <a:spcBef>
                <a:spcPts val="528"/>
              </a:spcBef>
              <a:buChar char="•"/>
              <a:tabLst>
                <a:tab pos="697878" algn="l"/>
              </a:tabLst>
            </a:pPr>
            <a:r>
              <a:rPr sz="2200" dirty="0">
                <a:solidFill>
                  <a:srgbClr val="22373A"/>
                </a:solidFill>
                <a:latin typeface="Times New Roman" panose="02020603050405020304" pitchFamily="18" charset="0"/>
                <a:cs typeface="Times New Roman" panose="02020603050405020304" pitchFamily="18" charset="0"/>
              </a:rPr>
              <a:t>Order tests, interpret results, decide appropriate action</a:t>
            </a:r>
            <a:endParaRPr sz="2200" dirty="0">
              <a:latin typeface="Times New Roman" panose="02020603050405020304" pitchFamily="18" charset="0"/>
              <a:cs typeface="Times New Roman" panose="02020603050405020304" pitchFamily="18" charset="0"/>
            </a:endParaRPr>
          </a:p>
          <a:p>
            <a:pPr marL="216074" marR="10737" indent="-190574">
              <a:spcBef>
                <a:spcPts val="676"/>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Physicians possess more (but incomplete) information than the patient</a:t>
            </a:r>
            <a:endParaRPr lang="en-CA" sz="2200" dirty="0">
              <a:solidFill>
                <a:srgbClr val="22373A"/>
              </a:solidFill>
              <a:latin typeface="Times New Roman" panose="02020603050405020304" pitchFamily="18" charset="0"/>
              <a:cs typeface="Times New Roman" panose="02020603050405020304" pitchFamily="18" charset="0"/>
            </a:endParaRPr>
          </a:p>
          <a:p>
            <a:pPr marL="216074" marR="10737"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But </a:t>
            </a:r>
            <a:r>
              <a:rPr lang="en-CA" sz="2200" b="1" dirty="0">
                <a:solidFill>
                  <a:srgbClr val="22373A"/>
                </a:solidFill>
                <a:latin typeface="Times New Roman" panose="02020603050405020304" pitchFamily="18" charset="0"/>
                <a:cs typeface="Times New Roman" panose="02020603050405020304" pitchFamily="18" charset="0"/>
              </a:rPr>
              <a:t>physicians are humans too!</a:t>
            </a:r>
            <a:r>
              <a:rPr lang="en-CA" sz="2200" dirty="0">
                <a:solidFill>
                  <a:srgbClr val="22373A"/>
                </a:solidFill>
                <a:latin typeface="Times New Roman" panose="02020603050405020304" pitchFamily="18" charset="0"/>
                <a:cs typeface="Times New Roman" panose="02020603050405020304" pitchFamily="18" charset="0"/>
              </a:rPr>
              <a:t> They also respond to: </a:t>
            </a: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Heuristics</a:t>
            </a: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Patient risk </a:t>
            </a:r>
            <a:r>
              <a:rPr lang="en-CA" sz="2200" i="1" dirty="0">
                <a:solidFill>
                  <a:srgbClr val="22373A"/>
                </a:solidFill>
                <a:latin typeface="Times New Roman" panose="02020603050405020304" pitchFamily="18" charset="0"/>
                <a:cs typeface="Times New Roman" panose="02020603050405020304" pitchFamily="18" charset="0"/>
              </a:rPr>
              <a:t>proxies</a:t>
            </a:r>
          </a:p>
          <a:p>
            <a:pPr marL="673274" marR="10737" lvl="1" indent="-190574">
              <a:spcBef>
                <a:spcPts val="676"/>
              </a:spcBef>
              <a:buChar char="•"/>
              <a:tabLst>
                <a:tab pos="217416" algn="l"/>
              </a:tabLst>
            </a:pPr>
            <a:r>
              <a:rPr lang="en-CA" sz="2200" b="1" dirty="0">
                <a:solidFill>
                  <a:srgbClr val="22373A"/>
                </a:solidFill>
                <a:latin typeface="Times New Roman" panose="02020603050405020304" pitchFamily="18" charset="0"/>
                <a:cs typeface="Times New Roman" panose="02020603050405020304" pitchFamily="18" charset="0"/>
              </a:rPr>
              <a:t>Incentives</a:t>
            </a:r>
            <a:r>
              <a:rPr sz="2200" b="1" dirty="0">
                <a:solidFill>
                  <a:srgbClr val="22373A"/>
                </a:solidFill>
                <a:latin typeface="Times New Roman" panose="02020603050405020304" pitchFamily="18" charset="0"/>
                <a:cs typeface="Times New Roman" panose="02020603050405020304" pitchFamily="18" charset="0"/>
              </a:rPr>
              <a:t> (e.g., financial, malpractice, etc.)</a:t>
            </a:r>
            <a:endParaRPr lang="en-CA" sz="2200" b="1" dirty="0">
              <a:solidFill>
                <a:srgbClr val="22373A"/>
              </a:solidFill>
              <a:latin typeface="Times New Roman" panose="02020603050405020304" pitchFamily="18" charset="0"/>
              <a:cs typeface="Times New Roman" panose="02020603050405020304" pitchFamily="18" charset="0"/>
            </a:endParaRPr>
          </a:p>
          <a:p>
            <a:pPr marL="673274" marR="10737" lvl="1" indent="-190574">
              <a:spcBef>
                <a:spcPts val="67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P</a:t>
            </a:r>
            <a:r>
              <a:rPr sz="2200" dirty="0" err="1">
                <a:solidFill>
                  <a:srgbClr val="22373A"/>
                </a:solidFill>
                <a:latin typeface="Times New Roman" panose="02020603050405020304" pitchFamily="18" charset="0"/>
                <a:cs typeface="Times New Roman" panose="02020603050405020304" pitchFamily="18" charset="0"/>
              </a:rPr>
              <a:t>rejudices</a:t>
            </a:r>
            <a:endParaRPr sz="2200" dirty="0">
              <a:latin typeface="Times New Roman" panose="02020603050405020304" pitchFamily="18" charset="0"/>
              <a:cs typeface="Times New Roman" panose="02020603050405020304" pitchFamily="18" charset="0"/>
            </a:endParaRPr>
          </a:p>
        </p:txBody>
      </p:sp>
      <p:sp>
        <p:nvSpPr>
          <p:cNvPr id="7" name="object 7"/>
          <p:cNvSpPr txBox="1"/>
          <p:nvPr/>
        </p:nvSpPr>
        <p:spPr>
          <a:xfrm>
            <a:off x="11803331" y="6397071"/>
            <a:ext cx="244258" cy="233063"/>
          </a:xfrm>
          <a:prstGeom prst="rect">
            <a:avLst/>
          </a:prstGeom>
        </p:spPr>
        <p:txBody>
          <a:bodyPr vert="horz" wrap="square" lIns="0" tIns="37578" rIns="0" bIns="0" rtlCol="0">
            <a:spAutoFit/>
          </a:bodyPr>
          <a:lstStyle/>
          <a:p>
            <a:pPr marL="80524">
              <a:spcBef>
                <a:spcPts val="296"/>
              </a:spcBef>
            </a:pPr>
            <a:fld id="{81D60167-4931-47E6-BA6A-407CBD079E47}" type="slidenum">
              <a:rPr sz="1268" spc="-201" dirty="0">
                <a:solidFill>
                  <a:srgbClr val="22373A"/>
                </a:solidFill>
                <a:latin typeface="Arial Black"/>
                <a:cs typeface="Arial Black"/>
              </a:rPr>
              <a:pPr marL="80524">
                <a:spcBef>
                  <a:spcPts val="296"/>
                </a:spcBef>
              </a:pPr>
              <a:t>6</a:t>
            </a:fld>
            <a:endParaRPr sz="1268">
              <a:latin typeface="Arial Black"/>
              <a:cs typeface="Arial Black"/>
            </a:endParaRPr>
          </a:p>
        </p:txBody>
      </p:sp>
    </p:spTree>
    <p:extLst>
      <p:ext uri="{BB962C8B-B14F-4D97-AF65-F5344CB8AC3E}">
        <p14:creationId xmlns:p14="http://schemas.microsoft.com/office/powerpoint/2010/main" val="3411423665"/>
      </p:ext>
    </p:extLst>
  </p:cSld>
  <p:clrMapOvr>
    <a:masterClrMapping/>
  </p:clrMapOvr>
  <p:transition>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11219" y="125145"/>
            <a:ext cx="10913981" cy="472024"/>
          </a:xfrm>
          <a:prstGeom prst="rect">
            <a:avLst/>
          </a:prstGeom>
        </p:spPr>
        <p:txBody>
          <a:bodyPr vert="horz" wrap="square" lIns="0" tIns="25499" rIns="0" bIns="0" rtlCol="0">
            <a:spAutoFit/>
          </a:bodyPr>
          <a:lstStyle/>
          <a:p>
            <a:pPr marL="26841">
              <a:spcBef>
                <a:spcPts val="201"/>
              </a:spcBef>
            </a:pPr>
            <a:r>
              <a:rPr sz="2900" spc="106" dirty="0">
                <a:latin typeface="Times New Roman" panose="02020603050405020304" pitchFamily="18" charset="0"/>
                <a:cs typeface="Times New Roman" panose="02020603050405020304" pitchFamily="18" charset="0"/>
              </a:rPr>
              <a:t>Physicians </a:t>
            </a:r>
            <a:r>
              <a:rPr sz="2900" spc="95" dirty="0">
                <a:latin typeface="Times New Roman" panose="02020603050405020304" pitchFamily="18" charset="0"/>
                <a:cs typeface="Times New Roman" panose="02020603050405020304" pitchFamily="18" charset="0"/>
              </a:rPr>
              <a:t>make </a:t>
            </a:r>
            <a:r>
              <a:rPr sz="2900" spc="106" dirty="0">
                <a:latin typeface="Times New Roman" panose="02020603050405020304" pitchFamily="18" charset="0"/>
                <a:cs typeface="Times New Roman" panose="02020603050405020304" pitchFamily="18" charset="0"/>
              </a:rPr>
              <a:t>up </a:t>
            </a:r>
            <a:r>
              <a:rPr sz="2900" spc="11" dirty="0">
                <a:latin typeface="Times New Roman" panose="02020603050405020304" pitchFamily="18" charset="0"/>
                <a:cs typeface="Times New Roman" panose="02020603050405020304" pitchFamily="18" charset="0"/>
              </a:rPr>
              <a:t>14.9% </a:t>
            </a:r>
            <a:r>
              <a:rPr sz="2900" spc="85" dirty="0">
                <a:latin typeface="Times New Roman" panose="02020603050405020304" pitchFamily="18" charset="0"/>
                <a:cs typeface="Times New Roman" panose="02020603050405020304" pitchFamily="18" charset="0"/>
              </a:rPr>
              <a:t>of Canada’s total healthcare</a:t>
            </a:r>
            <a:r>
              <a:rPr sz="2900" spc="127" dirty="0">
                <a:latin typeface="Times New Roman" panose="02020603050405020304" pitchFamily="18" charset="0"/>
                <a:cs typeface="Times New Roman" panose="02020603050405020304" pitchFamily="18" charset="0"/>
              </a:rPr>
              <a:t> </a:t>
            </a:r>
            <a:r>
              <a:rPr sz="2900" spc="85" dirty="0">
                <a:latin typeface="Times New Roman" panose="02020603050405020304" pitchFamily="18" charset="0"/>
                <a:cs typeface="Times New Roman" panose="02020603050405020304" pitchFamily="18" charset="0"/>
              </a:rPr>
              <a:t>expenditure</a:t>
            </a:r>
            <a:endParaRPr sz="2900" dirty="0">
              <a:latin typeface="Times New Roman" panose="02020603050405020304" pitchFamily="18" charset="0"/>
              <a:cs typeface="Times New Roman" panose="02020603050405020304" pitchFamily="18" charset="0"/>
            </a:endParaRPr>
          </a:p>
        </p:txBody>
      </p:sp>
      <p:sp>
        <p:nvSpPr>
          <p:cNvPr id="6" name="object 6"/>
          <p:cNvSpPr/>
          <p:nvPr/>
        </p:nvSpPr>
        <p:spPr>
          <a:xfrm>
            <a:off x="2671445" y="913787"/>
            <a:ext cx="5739078" cy="5749947"/>
          </a:xfrm>
          <a:prstGeom prst="rect">
            <a:avLst/>
          </a:prstGeom>
          <a:blipFill>
            <a:blip r:embed="rId3" cstate="print"/>
            <a:stretch>
              <a:fillRect/>
            </a:stretch>
          </a:blipFill>
        </p:spPr>
        <p:txBody>
          <a:bodyPr wrap="square" lIns="0" tIns="0" rIns="0" bIns="0" rtlCol="0"/>
          <a:lstStyle/>
          <a:p>
            <a:endParaRPr sz="3804"/>
          </a:p>
        </p:txBody>
      </p:sp>
      <p:sp>
        <p:nvSpPr>
          <p:cNvPr id="7" name="object 7"/>
          <p:cNvSpPr txBox="1"/>
          <p:nvPr/>
        </p:nvSpPr>
        <p:spPr>
          <a:xfrm>
            <a:off x="11803331" y="6397071"/>
            <a:ext cx="244258" cy="233063"/>
          </a:xfrm>
          <a:prstGeom prst="rect">
            <a:avLst/>
          </a:prstGeom>
        </p:spPr>
        <p:txBody>
          <a:bodyPr vert="horz" wrap="square" lIns="0" tIns="37578" rIns="0" bIns="0" rtlCol="0">
            <a:spAutoFit/>
          </a:bodyPr>
          <a:lstStyle/>
          <a:p>
            <a:pPr marL="80524">
              <a:spcBef>
                <a:spcPts val="296"/>
              </a:spcBef>
            </a:pPr>
            <a:fld id="{81D60167-4931-47E6-BA6A-407CBD079E47}" type="slidenum">
              <a:rPr sz="1268" spc="-201" dirty="0">
                <a:solidFill>
                  <a:srgbClr val="22373A"/>
                </a:solidFill>
                <a:latin typeface="Arial Black"/>
                <a:cs typeface="Arial Black"/>
              </a:rPr>
              <a:pPr marL="80524">
                <a:spcBef>
                  <a:spcPts val="296"/>
                </a:spcBef>
              </a:pPr>
              <a:t>7</a:t>
            </a:fld>
            <a:endParaRPr sz="1268">
              <a:latin typeface="Arial Black"/>
              <a:cs typeface="Arial Black"/>
            </a:endParaRPr>
          </a:p>
        </p:txBody>
      </p:sp>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1217" y="30443"/>
            <a:ext cx="9694783" cy="702856"/>
          </a:xfrm>
          <a:prstGeom prst="rect">
            <a:avLst/>
          </a:prstGeom>
        </p:spPr>
        <p:txBody>
          <a:bodyPr vert="horz" wrap="square" lIns="0" tIns="25499" rIns="0" bIns="0" rtlCol="0" anchor="b">
            <a:spAutoFit/>
          </a:bodyPr>
          <a:lstStyle/>
          <a:p>
            <a:pPr marL="26841">
              <a:lnSpc>
                <a:spcPct val="100000"/>
              </a:lnSpc>
              <a:spcBef>
                <a:spcPts val="201"/>
              </a:spcBef>
            </a:pPr>
            <a:r>
              <a:rPr spc="95" dirty="0"/>
              <a:t>Physician</a:t>
            </a:r>
            <a:r>
              <a:rPr lang="en-CA" spc="95" dirty="0"/>
              <a:t>s</a:t>
            </a:r>
            <a:r>
              <a:rPr spc="95" dirty="0"/>
              <a:t> </a:t>
            </a:r>
            <a:r>
              <a:rPr spc="74" dirty="0"/>
              <a:t>are </a:t>
            </a:r>
            <a:r>
              <a:rPr spc="106" dirty="0"/>
              <a:t>paid </a:t>
            </a:r>
            <a:r>
              <a:rPr spc="116" dirty="0"/>
              <a:t>a</a:t>
            </a:r>
            <a:r>
              <a:rPr spc="-42" dirty="0"/>
              <a:t> </a:t>
            </a:r>
            <a:r>
              <a:rPr spc="95" dirty="0"/>
              <a:t>lot</a:t>
            </a:r>
          </a:p>
        </p:txBody>
      </p:sp>
      <p:sp>
        <p:nvSpPr>
          <p:cNvPr id="6" name="object 6"/>
          <p:cNvSpPr/>
          <p:nvPr/>
        </p:nvSpPr>
        <p:spPr>
          <a:xfrm>
            <a:off x="1219200" y="743450"/>
            <a:ext cx="8077200" cy="4742949"/>
          </a:xfrm>
          <a:prstGeom prst="rect">
            <a:avLst/>
          </a:prstGeom>
          <a:blipFill>
            <a:blip r:embed="rId3" cstate="print"/>
            <a:stretch>
              <a:fillRect/>
            </a:stretch>
          </a:blipFill>
        </p:spPr>
        <p:txBody>
          <a:bodyPr wrap="square" lIns="0" tIns="0" rIns="0" bIns="0" rtlCol="0"/>
          <a:lstStyle/>
          <a:p>
            <a:endParaRPr sz="3804"/>
          </a:p>
        </p:txBody>
      </p:sp>
      <p:sp>
        <p:nvSpPr>
          <p:cNvPr id="7" name="object 7"/>
          <p:cNvSpPr txBox="1"/>
          <p:nvPr/>
        </p:nvSpPr>
        <p:spPr>
          <a:xfrm>
            <a:off x="762000" y="5473145"/>
            <a:ext cx="10352762" cy="1141494"/>
          </a:xfrm>
          <a:prstGeom prst="rect">
            <a:avLst/>
          </a:prstGeom>
        </p:spPr>
        <p:txBody>
          <a:bodyPr vert="horz" wrap="square" lIns="0" tIns="73814" rIns="0" bIns="0" rtlCol="0">
            <a:spAutoFit/>
          </a:bodyPr>
          <a:lstStyle/>
          <a:p>
            <a:pPr marL="26841">
              <a:spcBef>
                <a:spcPts val="581"/>
              </a:spcBef>
            </a:pPr>
            <a:r>
              <a:rPr sz="2200" i="1" dirty="0">
                <a:solidFill>
                  <a:srgbClr val="22373A"/>
                </a:solidFill>
                <a:latin typeface="Times New Roman" panose="02020603050405020304" pitchFamily="18" charset="0"/>
                <a:cs typeface="Times New Roman" panose="02020603050405020304" pitchFamily="18" charset="0"/>
              </a:rPr>
              <a:t>Source: </a:t>
            </a:r>
            <a:r>
              <a:rPr sz="2200" dirty="0">
                <a:solidFill>
                  <a:srgbClr val="22373A"/>
                </a:solidFill>
                <a:latin typeface="Times New Roman" panose="02020603050405020304" pitchFamily="18" charset="0"/>
                <a:cs typeface="Times New Roman" panose="02020603050405020304" pitchFamily="18" charset="0"/>
              </a:rPr>
              <a:t>Gottlieb et al. 2020 </a:t>
            </a:r>
            <a:r>
              <a:rPr lang="en-CA" sz="2200" dirty="0">
                <a:solidFill>
                  <a:srgbClr val="22373A"/>
                </a:solidFill>
                <a:latin typeface="Times New Roman" panose="02020603050405020304" pitchFamily="18" charset="0"/>
                <a:cs typeface="Times New Roman" panose="02020603050405020304" pitchFamily="18" charset="0"/>
              </a:rPr>
              <a:t>(</a:t>
            </a:r>
            <a:r>
              <a:rPr sz="2200" dirty="0">
                <a:solidFill>
                  <a:srgbClr val="22373A"/>
                </a:solidFill>
                <a:latin typeface="Times New Roman" panose="02020603050405020304" pitchFamily="18" charset="0"/>
                <a:cs typeface="Times New Roman" panose="02020603050405020304" pitchFamily="18" charset="0"/>
              </a:rPr>
              <a:t>administrative tax records of all US physicians</a:t>
            </a:r>
            <a:r>
              <a:rPr lang="en-CA" sz="2200" dirty="0">
                <a:solidFill>
                  <a:srgbClr val="22373A"/>
                </a:solidFill>
                <a:latin typeface="Times New Roman" panose="02020603050405020304" pitchFamily="18" charset="0"/>
                <a:cs typeface="Times New Roman" panose="02020603050405020304" pitchFamily="18" charset="0"/>
              </a:rPr>
              <a:t>)</a:t>
            </a:r>
            <a:endParaRPr sz="2200" dirty="0">
              <a:latin typeface="Times New Roman" panose="02020603050405020304" pitchFamily="18" charset="0"/>
              <a:cs typeface="Times New Roman" panose="02020603050405020304" pitchFamily="18" charset="0"/>
            </a:endParaRPr>
          </a:p>
          <a:p>
            <a:pPr marL="26841">
              <a:spcBef>
                <a:spcPts val="370"/>
              </a:spcBef>
            </a:pPr>
            <a:r>
              <a:rPr sz="2200" dirty="0">
                <a:solidFill>
                  <a:srgbClr val="22373A"/>
                </a:solidFill>
                <a:latin typeface="Times New Roman" panose="02020603050405020304" pitchFamily="18" charset="0"/>
                <a:cs typeface="Times New Roman" panose="02020603050405020304" pitchFamily="18" charset="0"/>
              </a:rPr>
              <a:t>Canada: probably level shift down by </a:t>
            </a:r>
            <a:r>
              <a:rPr sz="2200" i="1" dirty="0">
                <a:solidFill>
                  <a:srgbClr val="22373A"/>
                </a:solidFill>
                <a:latin typeface="Times New Roman" panose="02020603050405020304" pitchFamily="18" charset="0"/>
                <a:cs typeface="Times New Roman" panose="02020603050405020304" pitchFamily="18" charset="0"/>
              </a:rPr>
              <a:t>≈ </a:t>
            </a:r>
            <a:r>
              <a:rPr sz="2200" dirty="0">
                <a:solidFill>
                  <a:srgbClr val="22373A"/>
                </a:solidFill>
                <a:latin typeface="Times New Roman" panose="02020603050405020304" pitchFamily="18" charset="0"/>
                <a:cs typeface="Times New Roman" panose="02020603050405020304" pitchFamily="18" charset="0"/>
              </a:rPr>
              <a:t>30 </a:t>
            </a:r>
            <a:r>
              <a:rPr sz="2200" i="1" dirty="0">
                <a:solidFill>
                  <a:srgbClr val="22373A"/>
                </a:solidFill>
                <a:latin typeface="Times New Roman" panose="02020603050405020304" pitchFamily="18" charset="0"/>
                <a:cs typeface="Times New Roman" panose="02020603050405020304" pitchFamily="18" charset="0"/>
              </a:rPr>
              <a:t>− </a:t>
            </a:r>
            <a:r>
              <a:rPr sz="2200" dirty="0">
                <a:solidFill>
                  <a:srgbClr val="22373A"/>
                </a:solidFill>
                <a:latin typeface="Times New Roman" panose="02020603050405020304" pitchFamily="18" charset="0"/>
                <a:cs typeface="Times New Roman" panose="02020603050405020304" pitchFamily="18" charset="0"/>
              </a:rPr>
              <a:t>40%, with a flatter slope, </a:t>
            </a:r>
            <a:r>
              <a:rPr lang="en-CA" sz="2200" dirty="0">
                <a:solidFill>
                  <a:srgbClr val="22373A"/>
                </a:solidFill>
                <a:latin typeface="Times New Roman" panose="02020603050405020304" pitchFamily="18" charset="0"/>
                <a:cs typeface="Times New Roman" panose="02020603050405020304" pitchFamily="18" charset="0"/>
              </a:rPr>
              <a:t>but subtract </a:t>
            </a:r>
            <a:r>
              <a:rPr sz="2200" dirty="0">
                <a:solidFill>
                  <a:srgbClr val="22373A"/>
                </a:solidFill>
                <a:latin typeface="Times New Roman" panose="02020603050405020304" pitchFamily="18" charset="0"/>
                <a:cs typeface="Times New Roman" panose="02020603050405020304" pitchFamily="18" charset="0"/>
              </a:rPr>
              <a:t>business income</a:t>
            </a:r>
            <a:endParaRPr sz="2200" dirty="0">
              <a:latin typeface="Times New Roman" panose="02020603050405020304" pitchFamily="18" charset="0"/>
              <a:cs typeface="Times New Roman" panose="02020603050405020304" pitchFamily="18" charset="0"/>
            </a:endParaRPr>
          </a:p>
        </p:txBody>
      </p:sp>
      <p:sp>
        <p:nvSpPr>
          <p:cNvPr id="9" name="object 9"/>
          <p:cNvSpPr txBox="1"/>
          <p:nvPr/>
        </p:nvSpPr>
        <p:spPr>
          <a:xfrm>
            <a:off x="11862007" y="6407020"/>
            <a:ext cx="132865" cy="220866"/>
          </a:xfrm>
          <a:prstGeom prst="rect">
            <a:avLst/>
          </a:prstGeom>
        </p:spPr>
        <p:txBody>
          <a:bodyPr vert="horz" wrap="square" lIns="0" tIns="25499" rIns="0" bIns="0" rtlCol="0">
            <a:spAutoFit/>
          </a:bodyPr>
          <a:lstStyle/>
          <a:p>
            <a:pPr marL="26841">
              <a:spcBef>
                <a:spcPts val="201"/>
              </a:spcBef>
            </a:pPr>
            <a:r>
              <a:rPr sz="1268" spc="-232" dirty="0">
                <a:solidFill>
                  <a:srgbClr val="22373A"/>
                </a:solidFill>
                <a:latin typeface="Arial Black"/>
                <a:cs typeface="Arial Black"/>
              </a:rPr>
              <a:t>5</a:t>
            </a:r>
            <a:endParaRPr sz="1268">
              <a:latin typeface="Arial Black"/>
              <a:cs typeface="Arial Black"/>
            </a:endParaRPr>
          </a:p>
        </p:txBody>
      </p:sp>
    </p:spTree>
  </p:cSld>
  <p:clrMapOvr>
    <a:masterClrMapping/>
  </p:clrMapOvr>
  <p:transition>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228600"/>
            <a:ext cx="11066383" cy="641301"/>
          </a:xfrm>
          <a:prstGeom prst="rect">
            <a:avLst/>
          </a:prstGeom>
        </p:spPr>
        <p:txBody>
          <a:bodyPr vert="horz" wrap="square" lIns="0" tIns="25499" rIns="0" bIns="0" rtlCol="0" anchor="b">
            <a:spAutoFit/>
          </a:bodyPr>
          <a:lstStyle/>
          <a:p>
            <a:pPr marL="26841">
              <a:lnSpc>
                <a:spcPct val="100000"/>
              </a:lnSpc>
              <a:spcBef>
                <a:spcPts val="201"/>
              </a:spcBef>
            </a:pPr>
            <a:r>
              <a:rPr sz="4000" spc="95" dirty="0"/>
              <a:t>Physician </a:t>
            </a:r>
            <a:r>
              <a:rPr sz="4000" spc="85" dirty="0"/>
              <a:t>wages </a:t>
            </a:r>
            <a:r>
              <a:rPr sz="4000" spc="63" dirty="0"/>
              <a:t>reflect </a:t>
            </a:r>
            <a:r>
              <a:rPr sz="4000" spc="106" dirty="0"/>
              <a:t>long periods </a:t>
            </a:r>
            <a:r>
              <a:rPr sz="4000" spc="85" dirty="0"/>
              <a:t>of</a:t>
            </a:r>
            <a:r>
              <a:rPr sz="4000" spc="53" dirty="0"/>
              <a:t> </a:t>
            </a:r>
            <a:r>
              <a:rPr sz="4000" spc="85" dirty="0"/>
              <a:t>training</a:t>
            </a:r>
            <a:r>
              <a:rPr lang="en-CA" sz="4000" spc="85" dirty="0"/>
              <a:t>…</a:t>
            </a:r>
            <a:endParaRPr sz="4000" spc="85" dirty="0"/>
          </a:p>
        </p:txBody>
      </p:sp>
      <p:sp>
        <p:nvSpPr>
          <p:cNvPr id="6" name="object 6"/>
          <p:cNvSpPr/>
          <p:nvPr/>
        </p:nvSpPr>
        <p:spPr>
          <a:xfrm>
            <a:off x="2200453" y="985341"/>
            <a:ext cx="7657500" cy="4918531"/>
          </a:xfrm>
          <a:prstGeom prst="rect">
            <a:avLst/>
          </a:prstGeom>
          <a:blipFill>
            <a:blip r:embed="rId3" cstate="print"/>
            <a:stretch>
              <a:fillRect/>
            </a:stretch>
          </a:blipFill>
        </p:spPr>
        <p:txBody>
          <a:bodyPr wrap="square" lIns="0" tIns="0" rIns="0" bIns="0" rtlCol="0"/>
          <a:lstStyle/>
          <a:p>
            <a:endParaRPr sz="3804"/>
          </a:p>
        </p:txBody>
      </p:sp>
      <p:sp>
        <p:nvSpPr>
          <p:cNvPr id="7" name="object 7"/>
          <p:cNvSpPr txBox="1"/>
          <p:nvPr/>
        </p:nvSpPr>
        <p:spPr>
          <a:xfrm>
            <a:off x="736989" y="6205337"/>
            <a:ext cx="8637591" cy="318457"/>
          </a:xfrm>
          <a:prstGeom prst="rect">
            <a:avLst/>
          </a:prstGeom>
        </p:spPr>
        <p:txBody>
          <a:bodyPr vert="horz" wrap="square" lIns="0" tIns="25499" rIns="0" bIns="0" rtlCol="0">
            <a:spAutoFit/>
          </a:bodyPr>
          <a:lstStyle/>
          <a:p>
            <a:pPr marL="26841">
              <a:spcBef>
                <a:spcPts val="201"/>
              </a:spcBef>
            </a:pPr>
            <a:r>
              <a:rPr sz="1902" i="1" dirty="0">
                <a:solidFill>
                  <a:srgbClr val="22373A"/>
                </a:solidFill>
                <a:latin typeface="Times New Roman" panose="02020603050405020304" pitchFamily="18" charset="0"/>
                <a:cs typeface="Times New Roman" panose="02020603050405020304" pitchFamily="18" charset="0"/>
              </a:rPr>
              <a:t>Source: </a:t>
            </a:r>
            <a:r>
              <a:rPr sz="1902" dirty="0">
                <a:solidFill>
                  <a:srgbClr val="22373A"/>
                </a:solidFill>
                <a:latin typeface="Times New Roman" panose="02020603050405020304" pitchFamily="18" charset="0"/>
                <a:cs typeface="Times New Roman" panose="02020603050405020304" pitchFamily="18" charset="0"/>
              </a:rPr>
              <a:t>Gottlieb et al. 2020 using administrative tax records of all US physicians.</a:t>
            </a:r>
            <a:endParaRPr sz="1902" dirty="0">
              <a:latin typeface="Times New Roman" panose="02020603050405020304" pitchFamily="18" charset="0"/>
              <a:cs typeface="Times New Roman" panose="02020603050405020304" pitchFamily="18" charset="0"/>
            </a:endParaRPr>
          </a:p>
        </p:txBody>
      </p:sp>
      <p:sp>
        <p:nvSpPr>
          <p:cNvPr id="8" name="object 8"/>
          <p:cNvSpPr txBox="1"/>
          <p:nvPr/>
        </p:nvSpPr>
        <p:spPr>
          <a:xfrm>
            <a:off x="11856049" y="6407020"/>
            <a:ext cx="138234" cy="220866"/>
          </a:xfrm>
          <a:prstGeom prst="rect">
            <a:avLst/>
          </a:prstGeom>
        </p:spPr>
        <p:txBody>
          <a:bodyPr vert="horz" wrap="square" lIns="0" tIns="25499" rIns="0" bIns="0" rtlCol="0">
            <a:spAutoFit/>
          </a:bodyPr>
          <a:lstStyle/>
          <a:p>
            <a:pPr marL="26841">
              <a:spcBef>
                <a:spcPts val="201"/>
              </a:spcBef>
            </a:pPr>
            <a:r>
              <a:rPr sz="1268" spc="-190" dirty="0">
                <a:solidFill>
                  <a:srgbClr val="22373A"/>
                </a:solidFill>
                <a:latin typeface="Arial Black"/>
                <a:cs typeface="Arial Black"/>
              </a:rPr>
              <a:t>6</a:t>
            </a:r>
            <a:endParaRPr sz="1268">
              <a:latin typeface="Arial Black"/>
              <a:cs typeface="Arial Black"/>
            </a:endParaRPr>
          </a:p>
        </p:txBody>
      </p:sp>
    </p:spTree>
  </p:cSld>
  <p:clrMapOvr>
    <a:masterClrMapping/>
  </p:clrMapOvr>
  <p:transition>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8306" y="228600"/>
            <a:ext cx="10898048" cy="702856"/>
          </a:xfrm>
          <a:prstGeom prst="rect">
            <a:avLst/>
          </a:prstGeom>
        </p:spPr>
        <p:txBody>
          <a:bodyPr vert="horz" wrap="square" lIns="0" tIns="25499" rIns="0" bIns="0" rtlCol="0" anchor="b">
            <a:spAutoFit/>
          </a:bodyPr>
          <a:lstStyle/>
          <a:p>
            <a:pPr marL="26841">
              <a:lnSpc>
                <a:spcPct val="100000"/>
              </a:lnSpc>
              <a:spcBef>
                <a:spcPts val="201"/>
              </a:spcBef>
            </a:pPr>
            <a:r>
              <a:rPr lang="en-CA" spc="95" dirty="0"/>
              <a:t>…and large </a:t>
            </a:r>
            <a:r>
              <a:rPr spc="85" dirty="0"/>
              <a:t>barriers </a:t>
            </a:r>
            <a:r>
              <a:rPr spc="63" dirty="0"/>
              <a:t>to</a:t>
            </a:r>
            <a:r>
              <a:rPr spc="42" dirty="0"/>
              <a:t> </a:t>
            </a:r>
            <a:r>
              <a:rPr spc="74" dirty="0"/>
              <a:t>entry</a:t>
            </a:r>
          </a:p>
        </p:txBody>
      </p:sp>
      <p:sp>
        <p:nvSpPr>
          <p:cNvPr id="6" name="object 6"/>
          <p:cNvSpPr txBox="1"/>
          <p:nvPr/>
        </p:nvSpPr>
        <p:spPr>
          <a:xfrm>
            <a:off x="533400" y="1025953"/>
            <a:ext cx="10080321" cy="2885551"/>
          </a:xfrm>
          <a:prstGeom prst="rect">
            <a:avLst/>
          </a:prstGeom>
        </p:spPr>
        <p:txBody>
          <a:bodyPr vert="horz" wrap="square" lIns="0" tIns="101998" rIns="0" bIns="0" rtlCol="0">
            <a:spAutoFit/>
          </a:bodyPr>
          <a:lstStyle/>
          <a:p>
            <a:pPr marL="216074" indent="-190574">
              <a:spcBef>
                <a:spcPts val="803"/>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The Canadian Medical Association (CMA) has monopoly power to</a:t>
            </a:r>
            <a:endParaRPr sz="2200" dirty="0">
              <a:latin typeface="Times New Roman" panose="02020603050405020304" pitchFamily="18" charset="0"/>
              <a:cs typeface="Times New Roman" panose="02020603050405020304" pitchFamily="18" charset="0"/>
            </a:endParaRPr>
          </a:p>
          <a:p>
            <a:pPr marL="696536" lvl="1" indent="-182522">
              <a:spcBef>
                <a:spcPts val="528"/>
              </a:spcBef>
              <a:buChar char="•"/>
              <a:tabLst>
                <a:tab pos="697878" algn="l"/>
              </a:tabLst>
            </a:pPr>
            <a:r>
              <a:rPr sz="2200" dirty="0">
                <a:solidFill>
                  <a:srgbClr val="22373A"/>
                </a:solidFill>
                <a:latin typeface="Times New Roman" panose="02020603050405020304" pitchFamily="18" charset="0"/>
                <a:cs typeface="Times New Roman" panose="02020603050405020304" pitchFamily="18" charset="0"/>
              </a:rPr>
              <a:t>Govern the educational requirements to become a physician</a:t>
            </a:r>
            <a:endParaRPr sz="2200" dirty="0">
              <a:latin typeface="Times New Roman" panose="02020603050405020304" pitchFamily="18" charset="0"/>
              <a:cs typeface="Times New Roman" panose="02020603050405020304" pitchFamily="18" charset="0"/>
            </a:endParaRPr>
          </a:p>
          <a:p>
            <a:pPr marL="696536" lvl="1" indent="-182522">
              <a:spcBef>
                <a:spcPts val="148"/>
              </a:spcBef>
              <a:buChar char="•"/>
              <a:tabLst>
                <a:tab pos="697878" algn="l"/>
              </a:tabLst>
            </a:pPr>
            <a:r>
              <a:rPr sz="2200" dirty="0">
                <a:solidFill>
                  <a:srgbClr val="22373A"/>
                </a:solidFill>
                <a:latin typeface="Times New Roman" panose="02020603050405020304" pitchFamily="18" charset="0"/>
                <a:cs typeface="Times New Roman" panose="02020603050405020304" pitchFamily="18" charset="0"/>
              </a:rPr>
              <a:t>Grant licenses</a:t>
            </a:r>
            <a:endParaRPr sz="2200" dirty="0">
              <a:latin typeface="Times New Roman" panose="02020603050405020304" pitchFamily="18" charset="0"/>
              <a:cs typeface="Times New Roman" panose="02020603050405020304" pitchFamily="18" charset="0"/>
            </a:endParaRPr>
          </a:p>
          <a:p>
            <a:pPr marL="696536" lvl="1" indent="-182522">
              <a:spcBef>
                <a:spcPts val="159"/>
              </a:spcBef>
              <a:buChar char="•"/>
              <a:tabLst>
                <a:tab pos="697878" algn="l"/>
              </a:tabLst>
            </a:pPr>
            <a:r>
              <a:rPr sz="2200" dirty="0">
                <a:solidFill>
                  <a:srgbClr val="22373A"/>
                </a:solidFill>
                <a:latin typeface="Times New Roman" panose="02020603050405020304" pitchFamily="18" charset="0"/>
                <a:cs typeface="Times New Roman" panose="02020603050405020304" pitchFamily="18" charset="0"/>
              </a:rPr>
              <a:t>Determine the number of new residency slots to new physicians</a:t>
            </a:r>
            <a:endParaRPr sz="2200" dirty="0">
              <a:latin typeface="Times New Roman" panose="02020603050405020304" pitchFamily="18" charset="0"/>
              <a:cs typeface="Times New Roman" panose="02020603050405020304" pitchFamily="18" charset="0"/>
            </a:endParaRPr>
          </a:p>
          <a:p>
            <a:pPr marL="216074" marR="10737" indent="-190574">
              <a:lnSpc>
                <a:spcPct val="116199"/>
              </a:lnSpc>
              <a:spcBef>
                <a:spcPts val="666"/>
              </a:spcBef>
              <a:buChar char="•"/>
              <a:tabLst>
                <a:tab pos="217416" algn="l"/>
              </a:tabLst>
            </a:pPr>
            <a:r>
              <a:rPr sz="2200" dirty="0">
                <a:solidFill>
                  <a:srgbClr val="22373A"/>
                </a:solidFill>
                <a:latin typeface="Times New Roman" panose="02020603050405020304" pitchFamily="18" charset="0"/>
                <a:cs typeface="Times New Roman" panose="02020603050405020304" pitchFamily="18" charset="0"/>
              </a:rPr>
              <a:t>While these regulations </a:t>
            </a:r>
            <a:r>
              <a:rPr lang="en-CA" sz="2200" dirty="0">
                <a:solidFill>
                  <a:srgbClr val="22373A"/>
                </a:solidFill>
                <a:latin typeface="Times New Roman" panose="02020603050405020304" pitchFamily="18" charset="0"/>
                <a:cs typeface="Times New Roman" panose="02020603050405020304" pitchFamily="18" charset="0"/>
              </a:rPr>
              <a:t>aid </a:t>
            </a:r>
            <a:r>
              <a:rPr sz="2200" dirty="0">
                <a:solidFill>
                  <a:srgbClr val="22373A"/>
                </a:solidFill>
                <a:latin typeface="Times New Roman" panose="02020603050405020304" pitchFamily="18" charset="0"/>
                <a:cs typeface="Times New Roman" panose="02020603050405020304" pitchFamily="18" charset="0"/>
              </a:rPr>
              <a:t>a well-functioning healthcare sector, they also keep physician wages high (not unique to physicians)</a:t>
            </a:r>
            <a:endParaRPr lang="en-CA" sz="2200" dirty="0">
              <a:solidFill>
                <a:srgbClr val="22373A"/>
              </a:solidFill>
              <a:latin typeface="Times New Roman" panose="02020603050405020304" pitchFamily="18" charset="0"/>
              <a:cs typeface="Times New Roman" panose="02020603050405020304" pitchFamily="18" charset="0"/>
            </a:endParaRPr>
          </a:p>
          <a:p>
            <a:pPr marL="216074" marR="10737" indent="-190574">
              <a:lnSpc>
                <a:spcPct val="116199"/>
              </a:lnSpc>
              <a:spcBef>
                <a:spcPts val="666"/>
              </a:spcBef>
              <a:buChar char="•"/>
              <a:tabLst>
                <a:tab pos="217416" algn="l"/>
              </a:tabLst>
            </a:pPr>
            <a:r>
              <a:rPr lang="en-CA" sz="2200" dirty="0">
                <a:solidFill>
                  <a:srgbClr val="22373A"/>
                </a:solidFill>
                <a:latin typeface="Times New Roman" panose="02020603050405020304" pitchFamily="18" charset="0"/>
                <a:cs typeface="Times New Roman" panose="02020603050405020304" pitchFamily="18" charset="0"/>
              </a:rPr>
              <a:t>Think about recent expansions of </a:t>
            </a:r>
            <a:r>
              <a:rPr lang="en-CA" sz="2200" b="1" dirty="0">
                <a:solidFill>
                  <a:srgbClr val="22373A"/>
                </a:solidFill>
                <a:latin typeface="Times New Roman" panose="02020603050405020304" pitchFamily="18" charset="0"/>
                <a:cs typeface="Times New Roman" panose="02020603050405020304" pitchFamily="18" charset="0"/>
              </a:rPr>
              <a:t>scope of practice </a:t>
            </a:r>
            <a:r>
              <a:rPr lang="en-CA" sz="2200" dirty="0">
                <a:solidFill>
                  <a:srgbClr val="22373A"/>
                </a:solidFill>
                <a:latin typeface="Times New Roman" panose="02020603050405020304" pitchFamily="18" charset="0"/>
                <a:cs typeface="Times New Roman" panose="02020603050405020304" pitchFamily="18" charset="0"/>
              </a:rPr>
              <a:t>(dental therapists, pharmacists)</a:t>
            </a:r>
            <a:endParaRPr sz="2200" dirty="0">
              <a:latin typeface="Times New Roman" panose="02020603050405020304" pitchFamily="18" charset="0"/>
              <a:cs typeface="Times New Roman" panose="02020603050405020304" pitchFamily="18" charset="0"/>
            </a:endParaRPr>
          </a:p>
        </p:txBody>
      </p:sp>
      <p:sp>
        <p:nvSpPr>
          <p:cNvPr id="7" name="object 7"/>
          <p:cNvSpPr txBox="1"/>
          <p:nvPr/>
        </p:nvSpPr>
        <p:spPr>
          <a:xfrm>
            <a:off x="11870006" y="6407476"/>
            <a:ext cx="124813" cy="220866"/>
          </a:xfrm>
          <a:prstGeom prst="rect">
            <a:avLst/>
          </a:prstGeom>
        </p:spPr>
        <p:txBody>
          <a:bodyPr vert="horz" wrap="square" lIns="0" tIns="25499" rIns="0" bIns="0" rtlCol="0">
            <a:spAutoFit/>
          </a:bodyPr>
          <a:lstStyle/>
          <a:p>
            <a:pPr marL="26841">
              <a:spcBef>
                <a:spcPts val="201"/>
              </a:spcBef>
            </a:pPr>
            <a:r>
              <a:rPr sz="1268" spc="-296" dirty="0">
                <a:solidFill>
                  <a:srgbClr val="22373A"/>
                </a:solidFill>
                <a:latin typeface="Arial Black"/>
                <a:cs typeface="Arial Black"/>
              </a:rPr>
              <a:t>7</a:t>
            </a:r>
            <a:endParaRPr sz="1268">
              <a:latin typeface="Arial Black"/>
              <a:cs typeface="Arial Black"/>
            </a:endParaRPr>
          </a:p>
        </p:txBody>
      </p:sp>
    </p:spTree>
  </p:cSld>
  <p:clrMapOvr>
    <a:masterClrMapping/>
  </p:clrMapOvr>
  <p:transition>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90806"/>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a:t>
            </a:r>
            <a:r>
              <a:rPr sz="3600" spc="85" dirty="0"/>
              <a:t> of </a:t>
            </a:r>
            <a:r>
              <a:rPr lang="en-CA" sz="3600" spc="85" dirty="0"/>
              <a:t>Canadian </a:t>
            </a:r>
            <a:r>
              <a:rPr sz="3600" spc="106" dirty="0"/>
              <a:t>physicians </a:t>
            </a:r>
            <a:r>
              <a:rPr lang="en-CA" sz="3600" spc="95" dirty="0"/>
              <a:t>lags</a:t>
            </a:r>
            <a:r>
              <a:rPr sz="3600" spc="106" dirty="0"/>
              <a:t> </a:t>
            </a:r>
            <a:r>
              <a:rPr sz="3600" spc="85" dirty="0"/>
              <a:t>other </a:t>
            </a:r>
            <a:r>
              <a:rPr sz="3600" spc="53" dirty="0"/>
              <a:t>OECD</a:t>
            </a:r>
            <a:r>
              <a:rPr sz="3600" spc="-74" dirty="0"/>
              <a:t> </a:t>
            </a:r>
            <a:r>
              <a:rPr sz="3600" spc="95" dirty="0"/>
              <a:t>countries</a:t>
            </a:r>
          </a:p>
        </p:txBody>
      </p:sp>
      <p:sp>
        <p:nvSpPr>
          <p:cNvPr id="6" name="object 6"/>
          <p:cNvSpPr/>
          <p:nvPr/>
        </p:nvSpPr>
        <p:spPr>
          <a:xfrm>
            <a:off x="1602031" y="838877"/>
            <a:ext cx="8021876" cy="5047096"/>
          </a:xfrm>
          <a:prstGeom prst="rect">
            <a:avLst/>
          </a:prstGeom>
          <a:blipFill>
            <a:blip r:embed="rId2" cstate="print"/>
            <a:stretch>
              <a:fillRect/>
            </a:stretch>
          </a:blipFill>
        </p:spPr>
        <p:txBody>
          <a:bodyPr wrap="square" lIns="0" tIns="0" rIns="0" bIns="0" rtlCol="0"/>
          <a:lstStyle/>
          <a:p>
            <a:endParaRPr sz="3804"/>
          </a:p>
        </p:txBody>
      </p:sp>
      <p:sp>
        <p:nvSpPr>
          <p:cNvPr id="7" name="object 7"/>
          <p:cNvSpPr txBox="1"/>
          <p:nvPr/>
        </p:nvSpPr>
        <p:spPr>
          <a:xfrm>
            <a:off x="736990" y="6222624"/>
            <a:ext cx="7492610" cy="364302"/>
          </a:xfrm>
          <a:prstGeom prst="rect">
            <a:avLst/>
          </a:prstGeom>
        </p:spPr>
        <p:txBody>
          <a:bodyPr vert="horz" wrap="square" lIns="0" tIns="25499" rIns="0" bIns="0" rtlCol="0">
            <a:spAutoFit/>
          </a:bodyPr>
          <a:lstStyle/>
          <a:p>
            <a:pPr marL="26841">
              <a:spcBef>
                <a:spcPts val="201"/>
              </a:spcBef>
            </a:pPr>
            <a:r>
              <a:rPr lang="en-US" sz="2200" dirty="0">
                <a:solidFill>
                  <a:srgbClr val="22373A"/>
                </a:solidFill>
                <a:latin typeface="Times New Roman" panose="02020603050405020304" pitchFamily="18" charset="0"/>
                <a:cs typeface="Times New Roman" panose="02020603050405020304" pitchFamily="18" charset="0"/>
              </a:rPr>
              <a:t>Especially concerning given the aging population..</a:t>
            </a:r>
            <a:endParaRPr lang="en-US" sz="2200" dirty="0">
              <a:latin typeface="Times New Roman" panose="02020603050405020304" pitchFamily="18" charset="0"/>
              <a:cs typeface="Times New Roman" panose="02020603050405020304" pitchFamily="18" charset="0"/>
            </a:endParaRPr>
          </a:p>
        </p:txBody>
      </p:sp>
      <p:sp>
        <p:nvSpPr>
          <p:cNvPr id="8" name="object 8"/>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90806"/>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Brief Overview of Payment Models</a:t>
            </a:r>
            <a:endParaRPr sz="3600" spc="95" dirty="0"/>
          </a:p>
        </p:txBody>
      </p:sp>
      <p:sp>
        <p:nvSpPr>
          <p:cNvPr id="8" name="object 8"/>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graphicFrame>
        <p:nvGraphicFramePr>
          <p:cNvPr id="10" name="Table 10">
            <a:extLst>
              <a:ext uri="{FF2B5EF4-FFF2-40B4-BE49-F238E27FC236}">
                <a16:creationId xmlns:a16="http://schemas.microsoft.com/office/drawing/2014/main" id="{DE25C448-F317-F761-972D-60AF30FF1608}"/>
              </a:ext>
            </a:extLst>
          </p:cNvPr>
          <p:cNvGraphicFramePr>
            <a:graphicFrameLocks noGrp="1"/>
          </p:cNvGraphicFramePr>
          <p:nvPr>
            <p:extLst>
              <p:ext uri="{D42A27DB-BD31-4B8C-83A1-F6EECF244321}">
                <p14:modId xmlns:p14="http://schemas.microsoft.com/office/powerpoint/2010/main" val="1848560088"/>
              </p:ext>
            </p:extLst>
          </p:nvPr>
        </p:nvGraphicFramePr>
        <p:xfrm>
          <a:off x="304800" y="719666"/>
          <a:ext cx="10820400" cy="5034280"/>
        </p:xfrm>
        <a:graphic>
          <a:graphicData uri="http://schemas.openxmlformats.org/drawingml/2006/table">
            <a:tbl>
              <a:tblPr firstRow="1" bandRow="1">
                <a:tableStyleId>{5C22544A-7EE6-4342-B048-85BDC9FD1C3A}</a:tableStyleId>
              </a:tblPr>
              <a:tblGrid>
                <a:gridCol w="2209800">
                  <a:extLst>
                    <a:ext uri="{9D8B030D-6E8A-4147-A177-3AD203B41FA5}">
                      <a16:colId xmlns:a16="http://schemas.microsoft.com/office/drawing/2014/main" val="4007734747"/>
                    </a:ext>
                  </a:extLst>
                </a:gridCol>
                <a:gridCol w="3200400">
                  <a:extLst>
                    <a:ext uri="{9D8B030D-6E8A-4147-A177-3AD203B41FA5}">
                      <a16:colId xmlns:a16="http://schemas.microsoft.com/office/drawing/2014/main" val="2094428368"/>
                    </a:ext>
                  </a:extLst>
                </a:gridCol>
                <a:gridCol w="3276600">
                  <a:extLst>
                    <a:ext uri="{9D8B030D-6E8A-4147-A177-3AD203B41FA5}">
                      <a16:colId xmlns:a16="http://schemas.microsoft.com/office/drawing/2014/main" val="3806109294"/>
                    </a:ext>
                  </a:extLst>
                </a:gridCol>
                <a:gridCol w="2133600">
                  <a:extLst>
                    <a:ext uri="{9D8B030D-6E8A-4147-A177-3AD203B41FA5}">
                      <a16:colId xmlns:a16="http://schemas.microsoft.com/office/drawing/2014/main" val="2876004070"/>
                    </a:ext>
                  </a:extLst>
                </a:gridCol>
              </a:tblGrid>
              <a:tr h="370840">
                <a:tc>
                  <a:txBody>
                    <a:bodyPr/>
                    <a:lstStyle/>
                    <a:p>
                      <a:r>
                        <a:rPr lang="en-CA" dirty="0"/>
                        <a:t>Payment Method</a:t>
                      </a:r>
                    </a:p>
                  </a:txBody>
                  <a:tcPr/>
                </a:tc>
                <a:tc>
                  <a:txBody>
                    <a:bodyPr/>
                    <a:lstStyle/>
                    <a:p>
                      <a:r>
                        <a:rPr lang="en-CA" dirty="0"/>
                        <a:t>Description</a:t>
                      </a:r>
                    </a:p>
                  </a:txBody>
                  <a:tcPr/>
                </a:tc>
                <a:tc>
                  <a:txBody>
                    <a:bodyPr/>
                    <a:lstStyle/>
                    <a:p>
                      <a:r>
                        <a:rPr lang="en-CA" dirty="0"/>
                        <a:t>Where Used</a:t>
                      </a:r>
                    </a:p>
                  </a:txBody>
                  <a:tcPr/>
                </a:tc>
                <a:tc>
                  <a:txBody>
                    <a:bodyPr/>
                    <a:lstStyle/>
                    <a:p>
                      <a:r>
                        <a:rPr lang="en-CA" dirty="0"/>
                        <a:t>Provider Incentives</a:t>
                      </a:r>
                    </a:p>
                  </a:txBody>
                  <a:tcPr/>
                </a:tc>
                <a:extLst>
                  <a:ext uri="{0D108BD9-81ED-4DB2-BD59-A6C34878D82A}">
                    <a16:rowId xmlns:a16="http://schemas.microsoft.com/office/drawing/2014/main" val="257230613"/>
                  </a:ext>
                </a:extLst>
              </a:tr>
              <a:tr h="370840">
                <a:tc>
                  <a:txBody>
                    <a:bodyPr/>
                    <a:lstStyle/>
                    <a:p>
                      <a:r>
                        <a:rPr lang="en-CA" dirty="0"/>
                        <a:t>Salary </a:t>
                      </a:r>
                    </a:p>
                  </a:txBody>
                  <a:tcPr/>
                </a:tc>
                <a:tc>
                  <a:txBody>
                    <a:bodyPr/>
                    <a:lstStyle/>
                    <a:p>
                      <a:r>
                        <a:rPr lang="en-CA" dirty="0"/>
                        <a:t>Pay independent of workload/quality</a:t>
                      </a:r>
                    </a:p>
                  </a:txBody>
                  <a:tcPr/>
                </a:tc>
                <a:tc>
                  <a:txBody>
                    <a:bodyPr/>
                    <a:lstStyle/>
                    <a:p>
                      <a:r>
                        <a:rPr lang="en-CA" dirty="0"/>
                        <a:t>Academic hospitals, community health centers</a:t>
                      </a:r>
                    </a:p>
                  </a:txBody>
                  <a:tcPr/>
                </a:tc>
                <a:tc>
                  <a:txBody>
                    <a:bodyPr/>
                    <a:lstStyle/>
                    <a:p>
                      <a:endParaRPr lang="en-CA" dirty="0"/>
                    </a:p>
                  </a:txBody>
                  <a:tcPr/>
                </a:tc>
                <a:extLst>
                  <a:ext uri="{0D108BD9-81ED-4DB2-BD59-A6C34878D82A}">
                    <a16:rowId xmlns:a16="http://schemas.microsoft.com/office/drawing/2014/main" val="3763307949"/>
                  </a:ext>
                </a:extLst>
              </a:tr>
              <a:tr h="370840">
                <a:tc>
                  <a:txBody>
                    <a:bodyPr/>
                    <a:lstStyle/>
                    <a:p>
                      <a:r>
                        <a:rPr lang="en-CA" dirty="0"/>
                        <a:t>Capitation</a:t>
                      </a:r>
                    </a:p>
                  </a:txBody>
                  <a:tcPr/>
                </a:tc>
                <a:tc>
                  <a:txBody>
                    <a:bodyPr/>
                    <a:lstStyle/>
                    <a:p>
                      <a:r>
                        <a:rPr lang="en-CA" dirty="0"/>
                        <a:t>Pay according to # of patients on roster</a:t>
                      </a:r>
                    </a:p>
                  </a:txBody>
                  <a:tcPr/>
                </a:tc>
                <a:tc>
                  <a:txBody>
                    <a:bodyPr/>
                    <a:lstStyle/>
                    <a:p>
                      <a:endParaRPr lang="en-CA" dirty="0"/>
                    </a:p>
                  </a:txBody>
                  <a:tcPr/>
                </a:tc>
                <a:tc>
                  <a:txBody>
                    <a:bodyPr/>
                    <a:lstStyle/>
                    <a:p>
                      <a:endParaRPr lang="en-CA" dirty="0"/>
                    </a:p>
                  </a:txBody>
                  <a:tcPr/>
                </a:tc>
                <a:extLst>
                  <a:ext uri="{0D108BD9-81ED-4DB2-BD59-A6C34878D82A}">
                    <a16:rowId xmlns:a16="http://schemas.microsoft.com/office/drawing/2014/main" val="3067109709"/>
                  </a:ext>
                </a:extLst>
              </a:tr>
              <a:tr h="370840">
                <a:tc>
                  <a:txBody>
                    <a:bodyPr/>
                    <a:lstStyle/>
                    <a:p>
                      <a:r>
                        <a:rPr lang="en-CA" dirty="0"/>
                        <a:t>Fee for Service</a:t>
                      </a:r>
                    </a:p>
                  </a:txBody>
                  <a:tcPr/>
                </a:tc>
                <a:tc>
                  <a:txBody>
                    <a:bodyPr/>
                    <a:lstStyle/>
                    <a:p>
                      <a:r>
                        <a:rPr lang="en-CA" dirty="0"/>
                        <a:t>Pay for individual items of care</a:t>
                      </a:r>
                    </a:p>
                  </a:txBody>
                  <a:tcPr/>
                </a:tc>
                <a:tc>
                  <a:txBody>
                    <a:bodyPr/>
                    <a:lstStyle/>
                    <a:p>
                      <a:r>
                        <a:rPr lang="en-CA" dirty="0"/>
                        <a:t>General Practitioners + Many Specialists</a:t>
                      </a:r>
                    </a:p>
                  </a:txBody>
                  <a:tcPr/>
                </a:tc>
                <a:tc>
                  <a:txBody>
                    <a:bodyPr/>
                    <a:lstStyle/>
                    <a:p>
                      <a:endParaRPr lang="en-CA" dirty="0"/>
                    </a:p>
                  </a:txBody>
                  <a:tcPr/>
                </a:tc>
                <a:extLst>
                  <a:ext uri="{0D108BD9-81ED-4DB2-BD59-A6C34878D82A}">
                    <a16:rowId xmlns:a16="http://schemas.microsoft.com/office/drawing/2014/main" val="179513913"/>
                  </a:ext>
                </a:extLst>
              </a:tr>
              <a:tr h="370840">
                <a:tc>
                  <a:txBody>
                    <a:bodyPr/>
                    <a:lstStyle/>
                    <a:p>
                      <a:r>
                        <a:rPr lang="en-CA" dirty="0"/>
                        <a:t>Enhanced FFS</a:t>
                      </a:r>
                    </a:p>
                  </a:txBody>
                  <a:tcPr/>
                </a:tc>
                <a:tc>
                  <a:txBody>
                    <a:bodyPr/>
                    <a:lstStyle/>
                    <a:p>
                      <a:r>
                        <a:rPr lang="en-CA" dirty="0"/>
                        <a:t>Bonuses on top of FFS (e.g., chronic disease management, admission premia)</a:t>
                      </a:r>
                    </a:p>
                  </a:txBody>
                  <a:tcPr/>
                </a:tc>
                <a:tc>
                  <a:txBody>
                    <a:bodyPr/>
                    <a:lstStyle/>
                    <a:p>
                      <a:r>
                        <a:rPr lang="en-CA" dirty="0"/>
                        <a:t>Family Medicine</a:t>
                      </a:r>
                    </a:p>
                  </a:txBody>
                  <a:tcPr/>
                </a:tc>
                <a:tc>
                  <a:txBody>
                    <a:bodyPr/>
                    <a:lstStyle/>
                    <a:p>
                      <a:endParaRPr lang="en-CA" dirty="0"/>
                    </a:p>
                  </a:txBody>
                  <a:tcPr/>
                </a:tc>
                <a:extLst>
                  <a:ext uri="{0D108BD9-81ED-4DB2-BD59-A6C34878D82A}">
                    <a16:rowId xmlns:a16="http://schemas.microsoft.com/office/drawing/2014/main" val="4277567574"/>
                  </a:ext>
                </a:extLst>
              </a:tr>
              <a:tr h="370840">
                <a:tc>
                  <a:txBody>
                    <a:bodyPr/>
                    <a:lstStyle/>
                    <a:p>
                      <a:r>
                        <a:rPr lang="en-CA" dirty="0"/>
                        <a:t>Pay for Performance</a:t>
                      </a:r>
                    </a:p>
                  </a:txBody>
                  <a:tcPr/>
                </a:tc>
                <a:tc>
                  <a:txBody>
                    <a:bodyPr/>
                    <a:lstStyle/>
                    <a:p>
                      <a:r>
                        <a:rPr lang="en-CA" dirty="0"/>
                        <a:t>Pay for specific health outcomes</a:t>
                      </a:r>
                    </a:p>
                  </a:txBody>
                  <a:tcPr/>
                </a:tc>
                <a:tc>
                  <a:txBody>
                    <a:bodyPr/>
                    <a:lstStyle/>
                    <a:p>
                      <a:r>
                        <a:rPr lang="en-CA" dirty="0"/>
                        <a:t>Family Medicine (e.g., vaccinating elderly patients against flu)</a:t>
                      </a:r>
                    </a:p>
                  </a:txBody>
                  <a:tcPr/>
                </a:tc>
                <a:tc>
                  <a:txBody>
                    <a:bodyPr/>
                    <a:lstStyle/>
                    <a:p>
                      <a:endParaRPr lang="en-CA" dirty="0"/>
                    </a:p>
                  </a:txBody>
                  <a:tcPr/>
                </a:tc>
                <a:extLst>
                  <a:ext uri="{0D108BD9-81ED-4DB2-BD59-A6C34878D82A}">
                    <a16:rowId xmlns:a16="http://schemas.microsoft.com/office/drawing/2014/main" val="3325724380"/>
                  </a:ext>
                </a:extLst>
              </a:tr>
              <a:tr h="370840">
                <a:tc>
                  <a:txBody>
                    <a:bodyPr/>
                    <a:lstStyle/>
                    <a:p>
                      <a:r>
                        <a:rPr lang="en-CA" dirty="0"/>
                        <a:t>Others?</a:t>
                      </a:r>
                    </a:p>
                  </a:txBody>
                  <a:tcPr/>
                </a:tc>
                <a:tc>
                  <a:txBody>
                    <a:bodyPr/>
                    <a:lstStyle/>
                    <a:p>
                      <a:endParaRPr lang="en-CA" dirty="0"/>
                    </a:p>
                  </a:txBody>
                  <a:tcPr/>
                </a:tc>
                <a:tc>
                  <a:txBody>
                    <a:bodyPr/>
                    <a:lstStyle/>
                    <a:p>
                      <a:endParaRPr lang="en-CA" dirty="0"/>
                    </a:p>
                  </a:txBody>
                  <a:tcPr/>
                </a:tc>
                <a:tc>
                  <a:txBody>
                    <a:bodyPr/>
                    <a:lstStyle/>
                    <a:p>
                      <a:endParaRPr lang="en-CA" dirty="0"/>
                    </a:p>
                  </a:txBody>
                  <a:tcPr/>
                </a:tc>
                <a:extLst>
                  <a:ext uri="{0D108BD9-81ED-4DB2-BD59-A6C34878D82A}">
                    <a16:rowId xmlns:a16="http://schemas.microsoft.com/office/drawing/2014/main" val="1557018234"/>
                  </a:ext>
                </a:extLst>
              </a:tr>
            </a:tbl>
          </a:graphicData>
        </a:graphic>
      </p:graphicFrame>
    </p:spTree>
    <p:extLst>
      <p:ext uri="{BB962C8B-B14F-4D97-AF65-F5344CB8AC3E}">
        <p14:creationId xmlns:p14="http://schemas.microsoft.com/office/powerpoint/2010/main" val="168090599"/>
      </p:ext>
    </p:extLst>
  </p:cSld>
  <p:clrMapOvr>
    <a:masterClrMapping/>
  </p:clrMapOvr>
  <p:transition>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90806"/>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Brief Overview of Payment Models</a:t>
            </a:r>
            <a:endParaRPr sz="3600" spc="95" dirty="0"/>
          </a:p>
        </p:txBody>
      </p:sp>
      <p:sp>
        <p:nvSpPr>
          <p:cNvPr id="8" name="object 8"/>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graphicFrame>
        <p:nvGraphicFramePr>
          <p:cNvPr id="10" name="Table 10">
            <a:extLst>
              <a:ext uri="{FF2B5EF4-FFF2-40B4-BE49-F238E27FC236}">
                <a16:creationId xmlns:a16="http://schemas.microsoft.com/office/drawing/2014/main" id="{DE25C448-F317-F761-972D-60AF30FF1608}"/>
              </a:ext>
            </a:extLst>
          </p:cNvPr>
          <p:cNvGraphicFramePr>
            <a:graphicFrameLocks noGrp="1"/>
          </p:cNvGraphicFramePr>
          <p:nvPr/>
        </p:nvGraphicFramePr>
        <p:xfrm>
          <a:off x="304800" y="719666"/>
          <a:ext cx="10820400" cy="5034280"/>
        </p:xfrm>
        <a:graphic>
          <a:graphicData uri="http://schemas.openxmlformats.org/drawingml/2006/table">
            <a:tbl>
              <a:tblPr firstRow="1" bandRow="1">
                <a:tableStyleId>{5C22544A-7EE6-4342-B048-85BDC9FD1C3A}</a:tableStyleId>
              </a:tblPr>
              <a:tblGrid>
                <a:gridCol w="2209800">
                  <a:extLst>
                    <a:ext uri="{9D8B030D-6E8A-4147-A177-3AD203B41FA5}">
                      <a16:colId xmlns:a16="http://schemas.microsoft.com/office/drawing/2014/main" val="4007734747"/>
                    </a:ext>
                  </a:extLst>
                </a:gridCol>
                <a:gridCol w="3200400">
                  <a:extLst>
                    <a:ext uri="{9D8B030D-6E8A-4147-A177-3AD203B41FA5}">
                      <a16:colId xmlns:a16="http://schemas.microsoft.com/office/drawing/2014/main" val="2094428368"/>
                    </a:ext>
                  </a:extLst>
                </a:gridCol>
                <a:gridCol w="3276600">
                  <a:extLst>
                    <a:ext uri="{9D8B030D-6E8A-4147-A177-3AD203B41FA5}">
                      <a16:colId xmlns:a16="http://schemas.microsoft.com/office/drawing/2014/main" val="3806109294"/>
                    </a:ext>
                  </a:extLst>
                </a:gridCol>
                <a:gridCol w="2133600">
                  <a:extLst>
                    <a:ext uri="{9D8B030D-6E8A-4147-A177-3AD203B41FA5}">
                      <a16:colId xmlns:a16="http://schemas.microsoft.com/office/drawing/2014/main" val="2876004070"/>
                    </a:ext>
                  </a:extLst>
                </a:gridCol>
              </a:tblGrid>
              <a:tr h="370840">
                <a:tc>
                  <a:txBody>
                    <a:bodyPr/>
                    <a:lstStyle/>
                    <a:p>
                      <a:r>
                        <a:rPr lang="en-CA" dirty="0"/>
                        <a:t>Payment Method</a:t>
                      </a:r>
                    </a:p>
                  </a:txBody>
                  <a:tcPr/>
                </a:tc>
                <a:tc>
                  <a:txBody>
                    <a:bodyPr/>
                    <a:lstStyle/>
                    <a:p>
                      <a:r>
                        <a:rPr lang="en-CA" dirty="0"/>
                        <a:t>Description</a:t>
                      </a:r>
                    </a:p>
                  </a:txBody>
                  <a:tcPr/>
                </a:tc>
                <a:tc>
                  <a:txBody>
                    <a:bodyPr/>
                    <a:lstStyle/>
                    <a:p>
                      <a:r>
                        <a:rPr lang="en-CA" dirty="0"/>
                        <a:t>Where Used</a:t>
                      </a:r>
                    </a:p>
                  </a:txBody>
                  <a:tcPr/>
                </a:tc>
                <a:tc>
                  <a:txBody>
                    <a:bodyPr/>
                    <a:lstStyle/>
                    <a:p>
                      <a:r>
                        <a:rPr lang="en-CA" dirty="0"/>
                        <a:t>Provider Incentives</a:t>
                      </a:r>
                    </a:p>
                  </a:txBody>
                  <a:tcPr/>
                </a:tc>
                <a:extLst>
                  <a:ext uri="{0D108BD9-81ED-4DB2-BD59-A6C34878D82A}">
                    <a16:rowId xmlns:a16="http://schemas.microsoft.com/office/drawing/2014/main" val="257230613"/>
                  </a:ext>
                </a:extLst>
              </a:tr>
              <a:tr h="370840">
                <a:tc>
                  <a:txBody>
                    <a:bodyPr/>
                    <a:lstStyle/>
                    <a:p>
                      <a:r>
                        <a:rPr lang="en-CA" dirty="0"/>
                        <a:t>Salary </a:t>
                      </a:r>
                    </a:p>
                  </a:txBody>
                  <a:tcPr/>
                </a:tc>
                <a:tc>
                  <a:txBody>
                    <a:bodyPr/>
                    <a:lstStyle/>
                    <a:p>
                      <a:r>
                        <a:rPr lang="en-CA" dirty="0"/>
                        <a:t>Pay independent of workload/quality</a:t>
                      </a:r>
                    </a:p>
                  </a:txBody>
                  <a:tcPr/>
                </a:tc>
                <a:tc>
                  <a:txBody>
                    <a:bodyPr/>
                    <a:lstStyle/>
                    <a:p>
                      <a:r>
                        <a:rPr lang="en-CA" dirty="0"/>
                        <a:t>Academic hospitals, community health centers</a:t>
                      </a:r>
                    </a:p>
                  </a:txBody>
                  <a:tcPr/>
                </a:tc>
                <a:tc>
                  <a:txBody>
                    <a:bodyPr/>
                    <a:lstStyle/>
                    <a:p>
                      <a:r>
                        <a:rPr lang="en-CA" dirty="0" err="1"/>
                        <a:t>Underprovision</a:t>
                      </a:r>
                      <a:r>
                        <a:rPr lang="en-CA" dirty="0"/>
                        <a:t>, </a:t>
                      </a:r>
                    </a:p>
                    <a:p>
                      <a:r>
                        <a:rPr lang="en-CA" dirty="0"/>
                        <a:t>Low productivity</a:t>
                      </a:r>
                    </a:p>
                  </a:txBody>
                  <a:tcPr/>
                </a:tc>
                <a:extLst>
                  <a:ext uri="{0D108BD9-81ED-4DB2-BD59-A6C34878D82A}">
                    <a16:rowId xmlns:a16="http://schemas.microsoft.com/office/drawing/2014/main" val="3763307949"/>
                  </a:ext>
                </a:extLst>
              </a:tr>
              <a:tr h="370840">
                <a:tc>
                  <a:txBody>
                    <a:bodyPr/>
                    <a:lstStyle/>
                    <a:p>
                      <a:r>
                        <a:rPr lang="en-CA" dirty="0"/>
                        <a:t>Capitation</a:t>
                      </a:r>
                    </a:p>
                  </a:txBody>
                  <a:tcPr/>
                </a:tc>
                <a:tc>
                  <a:txBody>
                    <a:bodyPr/>
                    <a:lstStyle/>
                    <a:p>
                      <a:r>
                        <a:rPr lang="en-CA" dirty="0"/>
                        <a:t>Pay according to # of patients on roster</a:t>
                      </a:r>
                    </a:p>
                  </a:txBody>
                  <a:tcPr/>
                </a:tc>
                <a:tc>
                  <a:txBody>
                    <a:bodyPr/>
                    <a:lstStyle/>
                    <a:p>
                      <a:endParaRPr lang="en-CA" dirty="0"/>
                    </a:p>
                  </a:txBody>
                  <a:tcPr/>
                </a:tc>
                <a:tc>
                  <a:txBody>
                    <a:bodyPr/>
                    <a:lstStyle/>
                    <a:p>
                      <a:r>
                        <a:rPr lang="en-CA" dirty="0" err="1"/>
                        <a:t>Underprovision</a:t>
                      </a:r>
                      <a:r>
                        <a:rPr lang="en-CA" dirty="0"/>
                        <a:t>, dumping</a:t>
                      </a:r>
                    </a:p>
                  </a:txBody>
                  <a:tcPr/>
                </a:tc>
                <a:extLst>
                  <a:ext uri="{0D108BD9-81ED-4DB2-BD59-A6C34878D82A}">
                    <a16:rowId xmlns:a16="http://schemas.microsoft.com/office/drawing/2014/main" val="3067109709"/>
                  </a:ext>
                </a:extLst>
              </a:tr>
              <a:tr h="370840">
                <a:tc>
                  <a:txBody>
                    <a:bodyPr/>
                    <a:lstStyle/>
                    <a:p>
                      <a:r>
                        <a:rPr lang="en-CA" dirty="0"/>
                        <a:t>Fee for Service</a:t>
                      </a:r>
                    </a:p>
                  </a:txBody>
                  <a:tcPr/>
                </a:tc>
                <a:tc>
                  <a:txBody>
                    <a:bodyPr/>
                    <a:lstStyle/>
                    <a:p>
                      <a:r>
                        <a:rPr lang="en-CA" dirty="0"/>
                        <a:t>Pay for individual items of care</a:t>
                      </a:r>
                    </a:p>
                  </a:txBody>
                  <a:tcPr/>
                </a:tc>
                <a:tc>
                  <a:txBody>
                    <a:bodyPr/>
                    <a:lstStyle/>
                    <a:p>
                      <a:r>
                        <a:rPr lang="en-CA" dirty="0"/>
                        <a:t>General Practitioners + Many Specialists</a:t>
                      </a:r>
                    </a:p>
                  </a:txBody>
                  <a:tcPr/>
                </a:tc>
                <a:tc>
                  <a:txBody>
                    <a:bodyPr/>
                    <a:lstStyle/>
                    <a:p>
                      <a:r>
                        <a:rPr lang="en-CA" dirty="0"/>
                        <a:t>Overprovision, upcoding</a:t>
                      </a:r>
                    </a:p>
                  </a:txBody>
                  <a:tcPr/>
                </a:tc>
                <a:extLst>
                  <a:ext uri="{0D108BD9-81ED-4DB2-BD59-A6C34878D82A}">
                    <a16:rowId xmlns:a16="http://schemas.microsoft.com/office/drawing/2014/main" val="179513913"/>
                  </a:ext>
                </a:extLst>
              </a:tr>
              <a:tr h="370840">
                <a:tc>
                  <a:txBody>
                    <a:bodyPr/>
                    <a:lstStyle/>
                    <a:p>
                      <a:r>
                        <a:rPr lang="en-CA" dirty="0"/>
                        <a:t>Enhanced FFS</a:t>
                      </a:r>
                    </a:p>
                  </a:txBody>
                  <a:tcPr/>
                </a:tc>
                <a:tc>
                  <a:txBody>
                    <a:bodyPr/>
                    <a:lstStyle/>
                    <a:p>
                      <a:r>
                        <a:rPr lang="en-CA" dirty="0"/>
                        <a:t>Bonuses on top of FFS (e.g., chronic disease management, admission premia)</a:t>
                      </a:r>
                    </a:p>
                  </a:txBody>
                  <a:tcPr/>
                </a:tc>
                <a:tc>
                  <a:txBody>
                    <a:bodyPr/>
                    <a:lstStyle/>
                    <a:p>
                      <a:r>
                        <a:rPr lang="en-CA" dirty="0"/>
                        <a:t>Family Medicine</a:t>
                      </a:r>
                    </a:p>
                  </a:txBody>
                  <a:tcPr/>
                </a:tc>
                <a:tc>
                  <a:txBody>
                    <a:bodyPr/>
                    <a:lstStyle/>
                    <a:p>
                      <a:r>
                        <a:rPr lang="en-CA" dirty="0"/>
                        <a:t>Overprovision, inequitable access across patients</a:t>
                      </a:r>
                    </a:p>
                  </a:txBody>
                  <a:tcPr/>
                </a:tc>
                <a:extLst>
                  <a:ext uri="{0D108BD9-81ED-4DB2-BD59-A6C34878D82A}">
                    <a16:rowId xmlns:a16="http://schemas.microsoft.com/office/drawing/2014/main" val="4277567574"/>
                  </a:ext>
                </a:extLst>
              </a:tr>
              <a:tr h="370840">
                <a:tc>
                  <a:txBody>
                    <a:bodyPr/>
                    <a:lstStyle/>
                    <a:p>
                      <a:r>
                        <a:rPr lang="en-CA" dirty="0"/>
                        <a:t>Pay for Performance</a:t>
                      </a:r>
                    </a:p>
                  </a:txBody>
                  <a:tcPr/>
                </a:tc>
                <a:tc>
                  <a:txBody>
                    <a:bodyPr/>
                    <a:lstStyle/>
                    <a:p>
                      <a:r>
                        <a:rPr lang="en-CA" dirty="0"/>
                        <a:t>Pay for specific health outcomes</a:t>
                      </a:r>
                    </a:p>
                  </a:txBody>
                  <a:tcPr/>
                </a:tc>
                <a:tc>
                  <a:txBody>
                    <a:bodyPr/>
                    <a:lstStyle/>
                    <a:p>
                      <a:r>
                        <a:rPr lang="en-CA" dirty="0"/>
                        <a:t>Family Medicine (e.g., vaccinating elderly patients against flu)</a:t>
                      </a:r>
                    </a:p>
                  </a:txBody>
                  <a:tcPr/>
                </a:tc>
                <a:tc>
                  <a:txBody>
                    <a:bodyPr/>
                    <a:lstStyle/>
                    <a:p>
                      <a:r>
                        <a:rPr lang="en-CA" dirty="0"/>
                        <a:t>Inequitable access? </a:t>
                      </a:r>
                    </a:p>
                  </a:txBody>
                  <a:tcPr/>
                </a:tc>
                <a:extLst>
                  <a:ext uri="{0D108BD9-81ED-4DB2-BD59-A6C34878D82A}">
                    <a16:rowId xmlns:a16="http://schemas.microsoft.com/office/drawing/2014/main" val="3325724380"/>
                  </a:ext>
                </a:extLst>
              </a:tr>
              <a:tr h="370840">
                <a:tc>
                  <a:txBody>
                    <a:bodyPr/>
                    <a:lstStyle/>
                    <a:p>
                      <a:r>
                        <a:rPr lang="en-CA" dirty="0"/>
                        <a:t>Others?</a:t>
                      </a:r>
                    </a:p>
                  </a:txBody>
                  <a:tcPr/>
                </a:tc>
                <a:tc>
                  <a:txBody>
                    <a:bodyPr/>
                    <a:lstStyle/>
                    <a:p>
                      <a:endParaRPr lang="en-CA" dirty="0"/>
                    </a:p>
                  </a:txBody>
                  <a:tcPr/>
                </a:tc>
                <a:tc>
                  <a:txBody>
                    <a:bodyPr/>
                    <a:lstStyle/>
                    <a:p>
                      <a:endParaRPr lang="en-CA" dirty="0"/>
                    </a:p>
                  </a:txBody>
                  <a:tcPr/>
                </a:tc>
                <a:tc>
                  <a:txBody>
                    <a:bodyPr/>
                    <a:lstStyle/>
                    <a:p>
                      <a:r>
                        <a:rPr lang="en-CA" dirty="0"/>
                        <a:t>??</a:t>
                      </a:r>
                    </a:p>
                  </a:txBody>
                  <a:tcPr/>
                </a:tc>
                <a:extLst>
                  <a:ext uri="{0D108BD9-81ED-4DB2-BD59-A6C34878D82A}">
                    <a16:rowId xmlns:a16="http://schemas.microsoft.com/office/drawing/2014/main" val="1557018234"/>
                  </a:ext>
                </a:extLst>
              </a:tr>
            </a:tbl>
          </a:graphicData>
        </a:graphic>
      </p:graphicFrame>
    </p:spTree>
    <p:extLst>
      <p:ext uri="{BB962C8B-B14F-4D97-AF65-F5344CB8AC3E}">
        <p14:creationId xmlns:p14="http://schemas.microsoft.com/office/powerpoint/2010/main" val="1988440729"/>
      </p:ext>
    </p:extLst>
  </p:cSld>
  <p:clrMapOvr>
    <a:masterClrMapping/>
  </p:clrMapOvr>
  <p:transition>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90806"/>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Brief Overview of Payment Models</a:t>
            </a:r>
            <a:endParaRPr sz="3600" spc="95" dirty="0"/>
          </a:p>
        </p:txBody>
      </p:sp>
      <p:sp>
        <p:nvSpPr>
          <p:cNvPr id="8" name="object 8"/>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graphicFrame>
        <p:nvGraphicFramePr>
          <p:cNvPr id="10" name="Table 10">
            <a:extLst>
              <a:ext uri="{FF2B5EF4-FFF2-40B4-BE49-F238E27FC236}">
                <a16:creationId xmlns:a16="http://schemas.microsoft.com/office/drawing/2014/main" id="{DE25C448-F317-F761-972D-60AF30FF1608}"/>
              </a:ext>
            </a:extLst>
          </p:cNvPr>
          <p:cNvGraphicFramePr>
            <a:graphicFrameLocks noGrp="1"/>
          </p:cNvGraphicFramePr>
          <p:nvPr/>
        </p:nvGraphicFramePr>
        <p:xfrm>
          <a:off x="304800" y="719666"/>
          <a:ext cx="10820400" cy="5034280"/>
        </p:xfrm>
        <a:graphic>
          <a:graphicData uri="http://schemas.openxmlformats.org/drawingml/2006/table">
            <a:tbl>
              <a:tblPr firstRow="1" bandRow="1">
                <a:tableStyleId>{5C22544A-7EE6-4342-B048-85BDC9FD1C3A}</a:tableStyleId>
              </a:tblPr>
              <a:tblGrid>
                <a:gridCol w="2209800">
                  <a:extLst>
                    <a:ext uri="{9D8B030D-6E8A-4147-A177-3AD203B41FA5}">
                      <a16:colId xmlns:a16="http://schemas.microsoft.com/office/drawing/2014/main" val="4007734747"/>
                    </a:ext>
                  </a:extLst>
                </a:gridCol>
                <a:gridCol w="3200400">
                  <a:extLst>
                    <a:ext uri="{9D8B030D-6E8A-4147-A177-3AD203B41FA5}">
                      <a16:colId xmlns:a16="http://schemas.microsoft.com/office/drawing/2014/main" val="2094428368"/>
                    </a:ext>
                  </a:extLst>
                </a:gridCol>
                <a:gridCol w="3276600">
                  <a:extLst>
                    <a:ext uri="{9D8B030D-6E8A-4147-A177-3AD203B41FA5}">
                      <a16:colId xmlns:a16="http://schemas.microsoft.com/office/drawing/2014/main" val="3806109294"/>
                    </a:ext>
                  </a:extLst>
                </a:gridCol>
                <a:gridCol w="2133600">
                  <a:extLst>
                    <a:ext uri="{9D8B030D-6E8A-4147-A177-3AD203B41FA5}">
                      <a16:colId xmlns:a16="http://schemas.microsoft.com/office/drawing/2014/main" val="2876004070"/>
                    </a:ext>
                  </a:extLst>
                </a:gridCol>
              </a:tblGrid>
              <a:tr h="370840">
                <a:tc>
                  <a:txBody>
                    <a:bodyPr/>
                    <a:lstStyle/>
                    <a:p>
                      <a:r>
                        <a:rPr lang="en-CA" dirty="0"/>
                        <a:t>Payment Method</a:t>
                      </a:r>
                    </a:p>
                  </a:txBody>
                  <a:tcPr/>
                </a:tc>
                <a:tc>
                  <a:txBody>
                    <a:bodyPr/>
                    <a:lstStyle/>
                    <a:p>
                      <a:r>
                        <a:rPr lang="en-CA" dirty="0"/>
                        <a:t>Description</a:t>
                      </a:r>
                    </a:p>
                  </a:txBody>
                  <a:tcPr/>
                </a:tc>
                <a:tc>
                  <a:txBody>
                    <a:bodyPr/>
                    <a:lstStyle/>
                    <a:p>
                      <a:r>
                        <a:rPr lang="en-CA" dirty="0"/>
                        <a:t>Where Used</a:t>
                      </a:r>
                    </a:p>
                  </a:txBody>
                  <a:tcPr/>
                </a:tc>
                <a:tc>
                  <a:txBody>
                    <a:bodyPr/>
                    <a:lstStyle/>
                    <a:p>
                      <a:r>
                        <a:rPr lang="en-CA" dirty="0"/>
                        <a:t>Provider Incentives</a:t>
                      </a:r>
                    </a:p>
                  </a:txBody>
                  <a:tcPr/>
                </a:tc>
                <a:extLst>
                  <a:ext uri="{0D108BD9-81ED-4DB2-BD59-A6C34878D82A}">
                    <a16:rowId xmlns:a16="http://schemas.microsoft.com/office/drawing/2014/main" val="257230613"/>
                  </a:ext>
                </a:extLst>
              </a:tr>
              <a:tr h="370840">
                <a:tc>
                  <a:txBody>
                    <a:bodyPr/>
                    <a:lstStyle/>
                    <a:p>
                      <a:r>
                        <a:rPr lang="en-CA" dirty="0"/>
                        <a:t>Salary </a:t>
                      </a:r>
                    </a:p>
                  </a:txBody>
                  <a:tcPr/>
                </a:tc>
                <a:tc>
                  <a:txBody>
                    <a:bodyPr/>
                    <a:lstStyle/>
                    <a:p>
                      <a:r>
                        <a:rPr lang="en-CA" dirty="0"/>
                        <a:t>Pay independent of workload/quality</a:t>
                      </a:r>
                    </a:p>
                  </a:txBody>
                  <a:tcPr/>
                </a:tc>
                <a:tc>
                  <a:txBody>
                    <a:bodyPr/>
                    <a:lstStyle/>
                    <a:p>
                      <a:r>
                        <a:rPr lang="en-CA" dirty="0"/>
                        <a:t>Academic hospitals, community health centers</a:t>
                      </a:r>
                    </a:p>
                  </a:txBody>
                  <a:tcPr/>
                </a:tc>
                <a:tc>
                  <a:txBody>
                    <a:bodyPr/>
                    <a:lstStyle/>
                    <a:p>
                      <a:r>
                        <a:rPr lang="en-CA" dirty="0" err="1"/>
                        <a:t>Underprovision</a:t>
                      </a:r>
                      <a:r>
                        <a:rPr lang="en-CA" dirty="0"/>
                        <a:t>, </a:t>
                      </a:r>
                    </a:p>
                    <a:p>
                      <a:r>
                        <a:rPr lang="en-CA" dirty="0"/>
                        <a:t>Low productivity</a:t>
                      </a:r>
                    </a:p>
                  </a:txBody>
                  <a:tcPr/>
                </a:tc>
                <a:extLst>
                  <a:ext uri="{0D108BD9-81ED-4DB2-BD59-A6C34878D82A}">
                    <a16:rowId xmlns:a16="http://schemas.microsoft.com/office/drawing/2014/main" val="3763307949"/>
                  </a:ext>
                </a:extLst>
              </a:tr>
              <a:tr h="370840">
                <a:tc>
                  <a:txBody>
                    <a:bodyPr/>
                    <a:lstStyle/>
                    <a:p>
                      <a:r>
                        <a:rPr lang="en-CA" dirty="0"/>
                        <a:t>Capitation</a:t>
                      </a:r>
                    </a:p>
                  </a:txBody>
                  <a:tcPr/>
                </a:tc>
                <a:tc>
                  <a:txBody>
                    <a:bodyPr/>
                    <a:lstStyle/>
                    <a:p>
                      <a:r>
                        <a:rPr lang="en-CA" dirty="0"/>
                        <a:t>Pay according to # of patients on roster</a:t>
                      </a:r>
                    </a:p>
                  </a:txBody>
                  <a:tcPr/>
                </a:tc>
                <a:tc>
                  <a:txBody>
                    <a:bodyPr/>
                    <a:lstStyle/>
                    <a:p>
                      <a:endParaRPr lang="en-CA" dirty="0"/>
                    </a:p>
                  </a:txBody>
                  <a:tcPr/>
                </a:tc>
                <a:tc>
                  <a:txBody>
                    <a:bodyPr/>
                    <a:lstStyle/>
                    <a:p>
                      <a:r>
                        <a:rPr lang="en-CA" dirty="0" err="1"/>
                        <a:t>Underprovision</a:t>
                      </a:r>
                      <a:r>
                        <a:rPr lang="en-CA" dirty="0"/>
                        <a:t>, dumping</a:t>
                      </a:r>
                    </a:p>
                  </a:txBody>
                  <a:tcPr/>
                </a:tc>
                <a:extLst>
                  <a:ext uri="{0D108BD9-81ED-4DB2-BD59-A6C34878D82A}">
                    <a16:rowId xmlns:a16="http://schemas.microsoft.com/office/drawing/2014/main" val="3067109709"/>
                  </a:ext>
                </a:extLst>
              </a:tr>
              <a:tr h="370840">
                <a:tc>
                  <a:txBody>
                    <a:bodyPr/>
                    <a:lstStyle/>
                    <a:p>
                      <a:r>
                        <a:rPr lang="en-CA" dirty="0"/>
                        <a:t>Fee for Service</a:t>
                      </a:r>
                    </a:p>
                  </a:txBody>
                  <a:tcPr/>
                </a:tc>
                <a:tc>
                  <a:txBody>
                    <a:bodyPr/>
                    <a:lstStyle/>
                    <a:p>
                      <a:r>
                        <a:rPr lang="en-CA" dirty="0"/>
                        <a:t>Pay for individual items of care</a:t>
                      </a:r>
                    </a:p>
                  </a:txBody>
                  <a:tcPr/>
                </a:tc>
                <a:tc>
                  <a:txBody>
                    <a:bodyPr/>
                    <a:lstStyle/>
                    <a:p>
                      <a:r>
                        <a:rPr lang="en-CA" dirty="0"/>
                        <a:t>General Practitioners + Many Specialists</a:t>
                      </a:r>
                    </a:p>
                  </a:txBody>
                  <a:tcPr/>
                </a:tc>
                <a:tc>
                  <a:txBody>
                    <a:bodyPr/>
                    <a:lstStyle/>
                    <a:p>
                      <a:r>
                        <a:rPr lang="en-CA" dirty="0"/>
                        <a:t>Overprovision, upcoding</a:t>
                      </a:r>
                    </a:p>
                  </a:txBody>
                  <a:tcPr/>
                </a:tc>
                <a:extLst>
                  <a:ext uri="{0D108BD9-81ED-4DB2-BD59-A6C34878D82A}">
                    <a16:rowId xmlns:a16="http://schemas.microsoft.com/office/drawing/2014/main" val="179513913"/>
                  </a:ext>
                </a:extLst>
              </a:tr>
              <a:tr h="370840">
                <a:tc>
                  <a:txBody>
                    <a:bodyPr/>
                    <a:lstStyle/>
                    <a:p>
                      <a:r>
                        <a:rPr lang="en-CA" dirty="0"/>
                        <a:t>Enhanced FFS</a:t>
                      </a:r>
                    </a:p>
                  </a:txBody>
                  <a:tcPr/>
                </a:tc>
                <a:tc>
                  <a:txBody>
                    <a:bodyPr/>
                    <a:lstStyle/>
                    <a:p>
                      <a:r>
                        <a:rPr lang="en-CA" dirty="0"/>
                        <a:t>Bonuses on top of FFS (e.g., chronic disease management, admission premia)</a:t>
                      </a:r>
                    </a:p>
                  </a:txBody>
                  <a:tcPr/>
                </a:tc>
                <a:tc>
                  <a:txBody>
                    <a:bodyPr/>
                    <a:lstStyle/>
                    <a:p>
                      <a:r>
                        <a:rPr lang="en-CA" dirty="0"/>
                        <a:t>Family Medicine</a:t>
                      </a:r>
                    </a:p>
                  </a:txBody>
                  <a:tcPr/>
                </a:tc>
                <a:tc>
                  <a:txBody>
                    <a:bodyPr/>
                    <a:lstStyle/>
                    <a:p>
                      <a:r>
                        <a:rPr lang="en-CA" dirty="0"/>
                        <a:t>Overprovision, inequitable access across patients</a:t>
                      </a:r>
                    </a:p>
                  </a:txBody>
                  <a:tcPr/>
                </a:tc>
                <a:extLst>
                  <a:ext uri="{0D108BD9-81ED-4DB2-BD59-A6C34878D82A}">
                    <a16:rowId xmlns:a16="http://schemas.microsoft.com/office/drawing/2014/main" val="4277567574"/>
                  </a:ext>
                </a:extLst>
              </a:tr>
              <a:tr h="370840">
                <a:tc>
                  <a:txBody>
                    <a:bodyPr/>
                    <a:lstStyle/>
                    <a:p>
                      <a:r>
                        <a:rPr lang="en-CA" dirty="0"/>
                        <a:t>Pay for Performance</a:t>
                      </a:r>
                    </a:p>
                  </a:txBody>
                  <a:tcPr/>
                </a:tc>
                <a:tc>
                  <a:txBody>
                    <a:bodyPr/>
                    <a:lstStyle/>
                    <a:p>
                      <a:r>
                        <a:rPr lang="en-CA" dirty="0"/>
                        <a:t>Pay for specific health outcomes</a:t>
                      </a:r>
                    </a:p>
                  </a:txBody>
                  <a:tcPr/>
                </a:tc>
                <a:tc>
                  <a:txBody>
                    <a:bodyPr/>
                    <a:lstStyle/>
                    <a:p>
                      <a:r>
                        <a:rPr lang="en-CA" dirty="0"/>
                        <a:t>Family Medicine (e.g., vaccinating elderly patients against flu)</a:t>
                      </a:r>
                    </a:p>
                  </a:txBody>
                  <a:tcPr/>
                </a:tc>
                <a:tc>
                  <a:txBody>
                    <a:bodyPr/>
                    <a:lstStyle/>
                    <a:p>
                      <a:r>
                        <a:rPr lang="en-CA" dirty="0"/>
                        <a:t>Inequitable access? </a:t>
                      </a:r>
                    </a:p>
                  </a:txBody>
                  <a:tcPr/>
                </a:tc>
                <a:extLst>
                  <a:ext uri="{0D108BD9-81ED-4DB2-BD59-A6C34878D82A}">
                    <a16:rowId xmlns:a16="http://schemas.microsoft.com/office/drawing/2014/main" val="3325724380"/>
                  </a:ext>
                </a:extLst>
              </a:tr>
              <a:tr h="370840">
                <a:tc>
                  <a:txBody>
                    <a:bodyPr/>
                    <a:lstStyle/>
                    <a:p>
                      <a:r>
                        <a:rPr lang="en-CA" dirty="0"/>
                        <a:t>Others?</a:t>
                      </a:r>
                    </a:p>
                  </a:txBody>
                  <a:tcPr/>
                </a:tc>
                <a:tc>
                  <a:txBody>
                    <a:bodyPr/>
                    <a:lstStyle/>
                    <a:p>
                      <a:endParaRPr lang="en-CA" dirty="0"/>
                    </a:p>
                  </a:txBody>
                  <a:tcPr/>
                </a:tc>
                <a:tc>
                  <a:txBody>
                    <a:bodyPr/>
                    <a:lstStyle/>
                    <a:p>
                      <a:endParaRPr lang="en-CA" dirty="0"/>
                    </a:p>
                  </a:txBody>
                  <a:tcPr/>
                </a:tc>
                <a:tc>
                  <a:txBody>
                    <a:bodyPr/>
                    <a:lstStyle/>
                    <a:p>
                      <a:r>
                        <a:rPr lang="en-CA" dirty="0"/>
                        <a:t>??</a:t>
                      </a:r>
                    </a:p>
                  </a:txBody>
                  <a:tcPr/>
                </a:tc>
                <a:extLst>
                  <a:ext uri="{0D108BD9-81ED-4DB2-BD59-A6C34878D82A}">
                    <a16:rowId xmlns:a16="http://schemas.microsoft.com/office/drawing/2014/main" val="1557018234"/>
                  </a:ext>
                </a:extLst>
              </a:tr>
            </a:tbl>
          </a:graphicData>
        </a:graphic>
      </p:graphicFrame>
      <p:sp>
        <p:nvSpPr>
          <p:cNvPr id="3" name="TextBox 2">
            <a:extLst>
              <a:ext uri="{FF2B5EF4-FFF2-40B4-BE49-F238E27FC236}">
                <a16:creationId xmlns:a16="http://schemas.microsoft.com/office/drawing/2014/main" id="{63A978E3-3A0F-BA63-705D-BF144E660FCC}"/>
              </a:ext>
            </a:extLst>
          </p:cNvPr>
          <p:cNvSpPr txBox="1"/>
          <p:nvPr/>
        </p:nvSpPr>
        <p:spPr>
          <a:xfrm>
            <a:off x="3399591" y="1828800"/>
            <a:ext cx="4724400" cy="2800767"/>
          </a:xfrm>
          <a:prstGeom prst="rect">
            <a:avLst/>
          </a:prstGeom>
          <a:solidFill>
            <a:schemeClr val="accent5">
              <a:lumMod val="75000"/>
            </a:schemeClr>
          </a:solidFill>
          <a:ln w="76200">
            <a:solidFill>
              <a:schemeClr val="accent5">
                <a:lumMod val="50000"/>
              </a:schemeClr>
            </a:solidFill>
          </a:ln>
        </p:spPr>
        <p:txBody>
          <a:bodyPr wrap="square" rtlCol="0">
            <a:spAutoFit/>
          </a:bodyPr>
          <a:lstStyle/>
          <a:p>
            <a:r>
              <a:rPr lang="en-CA" sz="8800" dirty="0">
                <a:solidFill>
                  <a:schemeClr val="bg1"/>
                </a:solidFill>
              </a:rPr>
              <a:t>Which is best?</a:t>
            </a:r>
          </a:p>
        </p:txBody>
      </p:sp>
    </p:spTree>
    <p:extLst>
      <p:ext uri="{BB962C8B-B14F-4D97-AF65-F5344CB8AC3E}">
        <p14:creationId xmlns:p14="http://schemas.microsoft.com/office/powerpoint/2010/main" val="342792670"/>
      </p:ext>
    </p:extLst>
  </p:cSld>
  <p:clrMapOvr>
    <a:masterClrMapping/>
  </p:clrMapOvr>
  <p:transition>
    <p:cut/>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p:txBody>
          <a:bodyPr vert="horz" lIns="91440" tIns="45720" rIns="91440" bIns="45720" rtlCol="0" anchor="b">
            <a:noAutofit/>
          </a:bodyPr>
          <a:lstStyle/>
          <a:p>
            <a:r>
              <a:rPr lang="en-US" sz="4800" dirty="0">
                <a:solidFill>
                  <a:srgbClr val="FFFFFF"/>
                </a:solidFill>
                <a:latin typeface="+mj-lt"/>
              </a:rPr>
              <a:t>“There are many mechanisms for paying physicians, some are good, and some are bad. </a:t>
            </a:r>
            <a:br>
              <a:rPr lang="en-US" sz="4800" dirty="0">
                <a:solidFill>
                  <a:srgbClr val="FFFFFF"/>
                </a:solidFill>
                <a:latin typeface="+mj-lt"/>
              </a:rPr>
            </a:br>
            <a:br>
              <a:rPr lang="en-US" sz="4800" dirty="0">
                <a:solidFill>
                  <a:srgbClr val="FFFFFF"/>
                </a:solidFill>
                <a:latin typeface="+mj-lt"/>
              </a:rPr>
            </a:br>
            <a:r>
              <a:rPr lang="en-US" sz="4800" dirty="0">
                <a:solidFill>
                  <a:srgbClr val="FFFFFF"/>
                </a:solidFill>
                <a:latin typeface="+mj-lt"/>
              </a:rPr>
              <a:t>The three worst are fee-for-service, capitation and salary. ”</a:t>
            </a:r>
          </a:p>
        </p:txBody>
      </p:sp>
      <p:sp>
        <p:nvSpPr>
          <p:cNvPr id="3075" name="Rectangle 3"/>
          <p:cNvSpPr>
            <a:spLocks noGrp="1" noChangeArrowheads="1"/>
          </p:cNvSpPr>
          <p:nvPr>
            <p:ph type="subTitle" idx="1"/>
          </p:nvPr>
        </p:nvSpPr>
        <p:spPr/>
        <p:txBody>
          <a:bodyPr vert="horz" lIns="91440" tIns="45720" rIns="91440" bIns="45720" rtlCol="0">
            <a:normAutofit lnSpcReduction="10000"/>
          </a:bodyPr>
          <a:lstStyle/>
          <a:p>
            <a:pPr indent="-182880"/>
            <a:endParaRPr lang="en-US">
              <a:solidFill>
                <a:srgbClr val="FFFFFF"/>
              </a:solidFill>
              <a:latin typeface="+mn-lt"/>
            </a:endParaRPr>
          </a:p>
          <a:p>
            <a:pPr indent="-182880"/>
            <a:endParaRPr lang="en-US">
              <a:solidFill>
                <a:srgbClr val="FFFFFF"/>
              </a:solidFill>
              <a:latin typeface="+mn-lt"/>
            </a:endParaRPr>
          </a:p>
          <a:p>
            <a:pPr indent="-182880"/>
            <a:r>
              <a:rPr lang="en-US">
                <a:solidFill>
                  <a:srgbClr val="FFFFFF"/>
                </a:solidFill>
                <a:latin typeface="+mn-lt"/>
              </a:rPr>
              <a:t>Jamie Robinson, “Theory and Practice in the Design of Physician Payment Incentives,” </a:t>
            </a:r>
            <a:r>
              <a:rPr lang="en-US" i="1">
                <a:solidFill>
                  <a:srgbClr val="FFFFFF"/>
                </a:solidFill>
                <a:latin typeface="+mn-lt"/>
              </a:rPr>
              <a:t>Milbank Q., </a:t>
            </a:r>
            <a:r>
              <a:rPr lang="en-US">
                <a:solidFill>
                  <a:srgbClr val="FFFFFF"/>
                </a:solidFill>
                <a:latin typeface="+mn-lt"/>
              </a:rPr>
              <a:t>2001 p. 149.</a:t>
            </a:r>
          </a:p>
        </p:txBody>
      </p:sp>
    </p:spTree>
    <p:extLst>
      <p:ext uri="{BB962C8B-B14F-4D97-AF65-F5344CB8AC3E}">
        <p14:creationId xmlns:p14="http://schemas.microsoft.com/office/powerpoint/2010/main" val="813352242"/>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D862A-9FB7-FED5-4151-06E22A24727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965D17B-720B-03EB-3110-81024B572A86}"/>
              </a:ext>
            </a:extLst>
          </p:cNvPr>
          <p:cNvSpPr txBox="1">
            <a:spLocks noGrp="1"/>
          </p:cNvSpPr>
          <p:nvPr>
            <p:ph type="title"/>
          </p:nvPr>
        </p:nvSpPr>
        <p:spPr>
          <a:xfrm>
            <a:off x="152400" y="228600"/>
            <a:ext cx="11218783" cy="1133744"/>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Do physicians even respond to payment incentives? </a:t>
            </a:r>
            <a:br>
              <a:rPr lang="en-CA" sz="3600" spc="85" dirty="0"/>
            </a:br>
            <a:endParaRPr sz="3600" spc="95" dirty="0"/>
          </a:p>
        </p:txBody>
      </p:sp>
      <p:sp>
        <p:nvSpPr>
          <p:cNvPr id="8" name="object 8">
            <a:extLst>
              <a:ext uri="{FF2B5EF4-FFF2-40B4-BE49-F238E27FC236}">
                <a16:creationId xmlns:a16="http://schemas.microsoft.com/office/drawing/2014/main" id="{8E87B64C-A3AF-09B7-B4BF-AD9873BDEA3F}"/>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sp>
        <p:nvSpPr>
          <p:cNvPr id="4" name="TextBox 3">
            <a:extLst>
              <a:ext uri="{FF2B5EF4-FFF2-40B4-BE49-F238E27FC236}">
                <a16:creationId xmlns:a16="http://schemas.microsoft.com/office/drawing/2014/main" id="{999AFFBE-8F24-F7E5-41BB-2C663FECD453}"/>
              </a:ext>
            </a:extLst>
          </p:cNvPr>
          <p:cNvSpPr txBox="1"/>
          <p:nvPr/>
        </p:nvSpPr>
        <p:spPr>
          <a:xfrm>
            <a:off x="304800" y="6248400"/>
            <a:ext cx="4982454" cy="369332"/>
          </a:xfrm>
          <a:prstGeom prst="rect">
            <a:avLst/>
          </a:prstGeom>
          <a:noFill/>
        </p:spPr>
        <p:txBody>
          <a:bodyPr wrap="none" rtlCol="0">
            <a:spAutoFit/>
          </a:bodyPr>
          <a:lstStyle/>
          <a:p>
            <a:r>
              <a:rPr lang="en-US" dirty="0"/>
              <a:t>Source: </a:t>
            </a:r>
            <a:r>
              <a:rPr lang="en-US" dirty="0">
                <a:hlinkClick r:id="rId3"/>
              </a:rPr>
              <a:t>Jacobson et al. (2010), </a:t>
            </a:r>
            <a:r>
              <a:rPr lang="en-US" i="1" dirty="0">
                <a:hlinkClick r:id="rId3"/>
              </a:rPr>
              <a:t>Health Affairs</a:t>
            </a:r>
            <a:endParaRPr lang="en-US" i="1" dirty="0"/>
          </a:p>
        </p:txBody>
      </p:sp>
      <p:pic>
        <p:nvPicPr>
          <p:cNvPr id="6" name="Picture 5">
            <a:extLst>
              <a:ext uri="{FF2B5EF4-FFF2-40B4-BE49-F238E27FC236}">
                <a16:creationId xmlns:a16="http://schemas.microsoft.com/office/drawing/2014/main" id="{CCCB886D-C2FB-0D1D-A9C6-2A20F7EF73BF}"/>
              </a:ext>
            </a:extLst>
          </p:cNvPr>
          <p:cNvPicPr>
            <a:picLocks noChangeAspect="1"/>
          </p:cNvPicPr>
          <p:nvPr/>
        </p:nvPicPr>
        <p:blipFill>
          <a:blip r:embed="rId4"/>
          <a:stretch>
            <a:fillRect/>
          </a:stretch>
        </p:blipFill>
        <p:spPr>
          <a:xfrm>
            <a:off x="304800" y="838200"/>
            <a:ext cx="7309903" cy="5181600"/>
          </a:xfrm>
          <a:prstGeom prst="rect">
            <a:avLst/>
          </a:prstGeom>
        </p:spPr>
      </p:pic>
    </p:spTree>
    <p:extLst>
      <p:ext uri="{BB962C8B-B14F-4D97-AF65-F5344CB8AC3E}">
        <p14:creationId xmlns:p14="http://schemas.microsoft.com/office/powerpoint/2010/main" val="983400471"/>
      </p:ext>
    </p:extLst>
  </p:cSld>
  <p:clrMapOvr>
    <a:masterClrMapping/>
  </p:clrMapOvr>
  <p:transition>
    <p:cut/>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2DFEF-5BDF-4666-183C-2579A04B91B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7C677B2-EA01-A832-D2D2-8AB82E6AA9B1}"/>
              </a:ext>
            </a:extLst>
          </p:cNvPr>
          <p:cNvSpPr txBox="1">
            <a:spLocks noGrp="1"/>
          </p:cNvSpPr>
          <p:nvPr>
            <p:ph type="title"/>
          </p:nvPr>
        </p:nvSpPr>
        <p:spPr>
          <a:xfrm>
            <a:off x="152400" y="228600"/>
            <a:ext cx="11218783" cy="1133744"/>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Do physicians even respond to payment incentives? </a:t>
            </a:r>
            <a:br>
              <a:rPr lang="en-CA" sz="3600" spc="85" dirty="0"/>
            </a:br>
            <a:endParaRPr sz="3600" spc="95" dirty="0"/>
          </a:p>
        </p:txBody>
      </p:sp>
      <p:sp>
        <p:nvSpPr>
          <p:cNvPr id="8" name="object 8">
            <a:extLst>
              <a:ext uri="{FF2B5EF4-FFF2-40B4-BE49-F238E27FC236}">
                <a16:creationId xmlns:a16="http://schemas.microsoft.com/office/drawing/2014/main" id="{5DEA2FD9-1A8D-6D62-B6E7-AF86562E261D}"/>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sp>
        <p:nvSpPr>
          <p:cNvPr id="4" name="TextBox 3">
            <a:extLst>
              <a:ext uri="{FF2B5EF4-FFF2-40B4-BE49-F238E27FC236}">
                <a16:creationId xmlns:a16="http://schemas.microsoft.com/office/drawing/2014/main" id="{49C30FF3-8974-A066-73F4-8A61220ED903}"/>
              </a:ext>
            </a:extLst>
          </p:cNvPr>
          <p:cNvSpPr txBox="1"/>
          <p:nvPr/>
        </p:nvSpPr>
        <p:spPr>
          <a:xfrm>
            <a:off x="304800" y="6248400"/>
            <a:ext cx="4982454" cy="369332"/>
          </a:xfrm>
          <a:prstGeom prst="rect">
            <a:avLst/>
          </a:prstGeom>
          <a:noFill/>
        </p:spPr>
        <p:txBody>
          <a:bodyPr wrap="none" rtlCol="0">
            <a:spAutoFit/>
          </a:bodyPr>
          <a:lstStyle/>
          <a:p>
            <a:r>
              <a:rPr lang="en-US" dirty="0"/>
              <a:t>Source: </a:t>
            </a:r>
            <a:r>
              <a:rPr lang="en-US" dirty="0">
                <a:hlinkClick r:id="rId3"/>
              </a:rPr>
              <a:t>Jacobson et al. (2010), </a:t>
            </a:r>
            <a:r>
              <a:rPr lang="en-US" i="1" dirty="0">
                <a:hlinkClick r:id="rId3"/>
              </a:rPr>
              <a:t>Health Affairs</a:t>
            </a:r>
            <a:endParaRPr lang="en-US" i="1" dirty="0"/>
          </a:p>
        </p:txBody>
      </p:sp>
      <p:pic>
        <p:nvPicPr>
          <p:cNvPr id="5" name="Picture 4">
            <a:extLst>
              <a:ext uri="{FF2B5EF4-FFF2-40B4-BE49-F238E27FC236}">
                <a16:creationId xmlns:a16="http://schemas.microsoft.com/office/drawing/2014/main" id="{16A7755C-C09B-DC2C-E89F-82A88AA576C2}"/>
              </a:ext>
            </a:extLst>
          </p:cNvPr>
          <p:cNvPicPr>
            <a:picLocks noChangeAspect="1"/>
          </p:cNvPicPr>
          <p:nvPr/>
        </p:nvPicPr>
        <p:blipFill>
          <a:blip r:embed="rId4"/>
          <a:stretch>
            <a:fillRect/>
          </a:stretch>
        </p:blipFill>
        <p:spPr>
          <a:xfrm>
            <a:off x="272441" y="804997"/>
            <a:ext cx="7653991" cy="5248006"/>
          </a:xfrm>
          <a:prstGeom prst="rect">
            <a:avLst/>
          </a:prstGeom>
        </p:spPr>
      </p:pic>
    </p:spTree>
    <p:extLst>
      <p:ext uri="{BB962C8B-B14F-4D97-AF65-F5344CB8AC3E}">
        <p14:creationId xmlns:p14="http://schemas.microsoft.com/office/powerpoint/2010/main" val="735734776"/>
      </p:ext>
    </p:extLst>
  </p:cSld>
  <p:clrMapOvr>
    <a:masterClrMapping/>
  </p:clrMapOvr>
  <p:transition>
    <p:cu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60556-53BE-3D42-EE72-31DA822F9B6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BF854F3-359E-BC4E-4FBB-D72C69D7171F}"/>
              </a:ext>
            </a:extLst>
          </p:cNvPr>
          <p:cNvSpPr txBox="1">
            <a:spLocks noGrp="1"/>
          </p:cNvSpPr>
          <p:nvPr>
            <p:ph type="title"/>
          </p:nvPr>
        </p:nvSpPr>
        <p:spPr>
          <a:xfrm>
            <a:off x="0" y="225251"/>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What about healthcare </a:t>
            </a:r>
            <a:r>
              <a:rPr lang="en-CA" sz="3600" b="1" spc="85" dirty="0"/>
              <a:t>institutions?</a:t>
            </a:r>
            <a:endParaRPr sz="3600" spc="95" dirty="0"/>
          </a:p>
        </p:txBody>
      </p:sp>
      <p:sp>
        <p:nvSpPr>
          <p:cNvPr id="8" name="object 8">
            <a:extLst>
              <a:ext uri="{FF2B5EF4-FFF2-40B4-BE49-F238E27FC236}">
                <a16:creationId xmlns:a16="http://schemas.microsoft.com/office/drawing/2014/main" id="{C820A0A3-8C2E-F56A-50E4-1CA18B5AB849}"/>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sp>
        <p:nvSpPr>
          <p:cNvPr id="4" name="TextBox 3">
            <a:extLst>
              <a:ext uri="{FF2B5EF4-FFF2-40B4-BE49-F238E27FC236}">
                <a16:creationId xmlns:a16="http://schemas.microsoft.com/office/drawing/2014/main" id="{88029047-A7E2-2B3D-0BEF-067D8A0CCBD1}"/>
              </a:ext>
            </a:extLst>
          </p:cNvPr>
          <p:cNvSpPr txBox="1"/>
          <p:nvPr/>
        </p:nvSpPr>
        <p:spPr>
          <a:xfrm>
            <a:off x="304800" y="6248400"/>
            <a:ext cx="3847592" cy="369332"/>
          </a:xfrm>
          <a:prstGeom prst="rect">
            <a:avLst/>
          </a:prstGeom>
          <a:noFill/>
        </p:spPr>
        <p:txBody>
          <a:bodyPr wrap="none" rtlCol="0">
            <a:spAutoFit/>
          </a:bodyPr>
          <a:lstStyle/>
          <a:p>
            <a:r>
              <a:rPr lang="en-US" dirty="0"/>
              <a:t>Source: </a:t>
            </a:r>
            <a:r>
              <a:rPr lang="da-DK" dirty="0">
                <a:hlinkClick r:id="rId3"/>
              </a:rPr>
              <a:t>Eliason et al., (2018), </a:t>
            </a:r>
            <a:r>
              <a:rPr lang="da-DK" i="1" dirty="0">
                <a:hlinkClick r:id="rId3"/>
              </a:rPr>
              <a:t>AER</a:t>
            </a:r>
            <a:endParaRPr lang="en-US" i="1" dirty="0"/>
          </a:p>
        </p:txBody>
      </p:sp>
      <p:pic>
        <p:nvPicPr>
          <p:cNvPr id="6" name="Picture 5">
            <a:extLst>
              <a:ext uri="{FF2B5EF4-FFF2-40B4-BE49-F238E27FC236}">
                <a16:creationId xmlns:a16="http://schemas.microsoft.com/office/drawing/2014/main" id="{70ECB864-3916-8339-EBE7-DB2082785E28}"/>
              </a:ext>
            </a:extLst>
          </p:cNvPr>
          <p:cNvPicPr>
            <a:picLocks noChangeAspect="1"/>
          </p:cNvPicPr>
          <p:nvPr/>
        </p:nvPicPr>
        <p:blipFill>
          <a:blip r:embed="rId4"/>
          <a:stretch>
            <a:fillRect/>
          </a:stretch>
        </p:blipFill>
        <p:spPr>
          <a:xfrm>
            <a:off x="295405" y="895065"/>
            <a:ext cx="8369571" cy="5263266"/>
          </a:xfrm>
          <a:prstGeom prst="rect">
            <a:avLst/>
          </a:prstGeom>
        </p:spPr>
      </p:pic>
    </p:spTree>
    <p:extLst>
      <p:ext uri="{BB962C8B-B14F-4D97-AF65-F5344CB8AC3E}">
        <p14:creationId xmlns:p14="http://schemas.microsoft.com/office/powerpoint/2010/main" val="348185290"/>
      </p:ext>
    </p:extLst>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A9E21-CAD2-CC42-8B53-D92FE2D2EE3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34DC75C-8D52-98F8-BD9E-12149B27BFBA}"/>
              </a:ext>
            </a:extLst>
          </p:cNvPr>
          <p:cNvSpPr txBox="1">
            <a:spLocks noGrp="1"/>
          </p:cNvSpPr>
          <p:nvPr>
            <p:ph type="title"/>
          </p:nvPr>
        </p:nvSpPr>
        <p:spPr>
          <a:xfrm>
            <a:off x="0" y="225251"/>
            <a:ext cx="11218783" cy="579746"/>
          </a:xfrm>
          <a:prstGeom prst="rect">
            <a:avLst/>
          </a:prstGeom>
        </p:spPr>
        <p:txBody>
          <a:bodyPr vert="horz" wrap="square" lIns="0" tIns="25499" rIns="0" bIns="0" rtlCol="0" anchor="b">
            <a:spAutoFit/>
          </a:bodyPr>
          <a:lstStyle/>
          <a:p>
            <a:pPr marL="26841">
              <a:lnSpc>
                <a:spcPct val="100000"/>
              </a:lnSpc>
              <a:spcBef>
                <a:spcPts val="201"/>
              </a:spcBef>
            </a:pPr>
            <a:r>
              <a:rPr lang="en-CA" sz="3600" spc="85" dirty="0"/>
              <a:t>What about healthcare </a:t>
            </a:r>
            <a:r>
              <a:rPr lang="en-CA" sz="3600" b="1" spc="85" dirty="0"/>
              <a:t>institutions?</a:t>
            </a:r>
            <a:endParaRPr sz="3600" spc="95" dirty="0"/>
          </a:p>
        </p:txBody>
      </p:sp>
      <p:sp>
        <p:nvSpPr>
          <p:cNvPr id="8" name="object 8">
            <a:extLst>
              <a:ext uri="{FF2B5EF4-FFF2-40B4-BE49-F238E27FC236}">
                <a16:creationId xmlns:a16="http://schemas.microsoft.com/office/drawing/2014/main" id="{9B17C389-E254-8C5D-D183-47FF36AB7001}"/>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sp>
        <p:nvSpPr>
          <p:cNvPr id="4" name="TextBox 3">
            <a:extLst>
              <a:ext uri="{FF2B5EF4-FFF2-40B4-BE49-F238E27FC236}">
                <a16:creationId xmlns:a16="http://schemas.microsoft.com/office/drawing/2014/main" id="{1DA1B8CC-D2AC-6C1F-E449-0B2B05763C82}"/>
              </a:ext>
            </a:extLst>
          </p:cNvPr>
          <p:cNvSpPr txBox="1"/>
          <p:nvPr/>
        </p:nvSpPr>
        <p:spPr>
          <a:xfrm>
            <a:off x="304800" y="6248400"/>
            <a:ext cx="3847592" cy="369332"/>
          </a:xfrm>
          <a:prstGeom prst="rect">
            <a:avLst/>
          </a:prstGeom>
          <a:noFill/>
        </p:spPr>
        <p:txBody>
          <a:bodyPr wrap="none" rtlCol="0">
            <a:spAutoFit/>
          </a:bodyPr>
          <a:lstStyle/>
          <a:p>
            <a:r>
              <a:rPr lang="en-US" dirty="0"/>
              <a:t>Source: </a:t>
            </a:r>
            <a:r>
              <a:rPr lang="da-DK" dirty="0">
                <a:hlinkClick r:id="rId3"/>
              </a:rPr>
              <a:t>Eliason et al., (2018), </a:t>
            </a:r>
            <a:r>
              <a:rPr lang="da-DK" i="1" dirty="0">
                <a:hlinkClick r:id="rId3"/>
              </a:rPr>
              <a:t>AER</a:t>
            </a:r>
            <a:endParaRPr lang="en-US" i="1" dirty="0"/>
          </a:p>
        </p:txBody>
      </p:sp>
      <p:pic>
        <p:nvPicPr>
          <p:cNvPr id="5" name="Picture 4">
            <a:extLst>
              <a:ext uri="{FF2B5EF4-FFF2-40B4-BE49-F238E27FC236}">
                <a16:creationId xmlns:a16="http://schemas.microsoft.com/office/drawing/2014/main" id="{585AEF64-9581-4413-0134-2FB707665178}"/>
              </a:ext>
            </a:extLst>
          </p:cNvPr>
          <p:cNvPicPr>
            <a:picLocks noChangeAspect="1"/>
          </p:cNvPicPr>
          <p:nvPr/>
        </p:nvPicPr>
        <p:blipFill>
          <a:blip r:embed="rId4"/>
          <a:stretch>
            <a:fillRect/>
          </a:stretch>
        </p:blipFill>
        <p:spPr>
          <a:xfrm>
            <a:off x="342378" y="826918"/>
            <a:ext cx="8092202" cy="5231702"/>
          </a:xfrm>
          <a:prstGeom prst="rect">
            <a:avLst/>
          </a:prstGeom>
        </p:spPr>
      </p:pic>
    </p:spTree>
    <p:extLst>
      <p:ext uri="{BB962C8B-B14F-4D97-AF65-F5344CB8AC3E}">
        <p14:creationId xmlns:p14="http://schemas.microsoft.com/office/powerpoint/2010/main" val="1338228618"/>
      </p:ext>
    </p:extLst>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46A55-9D61-C761-2A70-05992621170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5E1B77B-9B50-5E84-6AEB-AC7D807A8795}"/>
              </a:ext>
            </a:extLst>
          </p:cNvPr>
          <p:cNvSpPr txBox="1">
            <a:spLocks noGrp="1"/>
          </p:cNvSpPr>
          <p:nvPr>
            <p:ph type="title"/>
          </p:nvPr>
        </p:nvSpPr>
        <p:spPr>
          <a:xfrm>
            <a:off x="152400" y="152282"/>
            <a:ext cx="11218783" cy="579746"/>
          </a:xfrm>
          <a:prstGeom prst="rect">
            <a:avLst/>
          </a:prstGeom>
        </p:spPr>
        <p:txBody>
          <a:bodyPr vert="horz" wrap="square" lIns="0" tIns="25499" rIns="0" bIns="0" rtlCol="0" anchor="b">
            <a:spAutoFit/>
          </a:bodyPr>
          <a:lstStyle/>
          <a:p>
            <a:r>
              <a:rPr lang="en-CA" sz="4000" b="1" dirty="0"/>
              <a:t>Can we solve things through payment reform? </a:t>
            </a:r>
          </a:p>
        </p:txBody>
      </p:sp>
      <p:sp>
        <p:nvSpPr>
          <p:cNvPr id="8" name="object 8">
            <a:extLst>
              <a:ext uri="{FF2B5EF4-FFF2-40B4-BE49-F238E27FC236}">
                <a16:creationId xmlns:a16="http://schemas.microsoft.com/office/drawing/2014/main" id="{495075A3-3545-1D84-5AF1-06762EEC73D9}"/>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pic>
        <p:nvPicPr>
          <p:cNvPr id="6" name="Picture 5">
            <a:extLst>
              <a:ext uri="{FF2B5EF4-FFF2-40B4-BE49-F238E27FC236}">
                <a16:creationId xmlns:a16="http://schemas.microsoft.com/office/drawing/2014/main" id="{8FF1526F-FA3F-9623-5C5B-CE59F8B06278}"/>
              </a:ext>
            </a:extLst>
          </p:cNvPr>
          <p:cNvPicPr>
            <a:picLocks noChangeAspect="1"/>
          </p:cNvPicPr>
          <p:nvPr/>
        </p:nvPicPr>
        <p:blipFill>
          <a:blip r:embed="rId3"/>
          <a:stretch>
            <a:fillRect/>
          </a:stretch>
        </p:blipFill>
        <p:spPr>
          <a:xfrm>
            <a:off x="180560" y="3626148"/>
            <a:ext cx="12192000" cy="2780872"/>
          </a:xfrm>
          <a:prstGeom prst="rect">
            <a:avLst/>
          </a:prstGeom>
        </p:spPr>
      </p:pic>
      <p:sp>
        <p:nvSpPr>
          <p:cNvPr id="7" name="TextBox 6">
            <a:extLst>
              <a:ext uri="{FF2B5EF4-FFF2-40B4-BE49-F238E27FC236}">
                <a16:creationId xmlns:a16="http://schemas.microsoft.com/office/drawing/2014/main" id="{3C5E9742-98A2-3532-9D2B-1C836CD67146}"/>
              </a:ext>
            </a:extLst>
          </p:cNvPr>
          <p:cNvSpPr txBox="1"/>
          <p:nvPr/>
        </p:nvSpPr>
        <p:spPr>
          <a:xfrm>
            <a:off x="533401" y="914400"/>
            <a:ext cx="9829800" cy="1938992"/>
          </a:xfrm>
          <a:prstGeom prst="rect">
            <a:avLst/>
          </a:prstGeom>
          <a:noFill/>
        </p:spPr>
        <p:txBody>
          <a:bodyPr wrap="square" rtlCol="0">
            <a:spAutoFit/>
          </a:bodyPr>
          <a:lstStyle/>
          <a:p>
            <a:pPr marL="285750" indent="-285750">
              <a:buFontTx/>
              <a:buChar char="-"/>
            </a:pPr>
            <a:r>
              <a:rPr lang="en-US" sz="2400" dirty="0"/>
              <a:t>In 1970s, some policymakers thought Canadian physicians were making too much money (in a fee-for-service environment)</a:t>
            </a:r>
          </a:p>
          <a:p>
            <a:pPr marL="285750" indent="-285750">
              <a:buFontTx/>
              <a:buChar char="-"/>
            </a:pPr>
            <a:r>
              <a:rPr lang="en-US" sz="2400" dirty="0"/>
              <a:t>So they imposed a cap on payments, after which fees were reduced to 25% of original schedule</a:t>
            </a:r>
          </a:p>
          <a:p>
            <a:pPr marL="285750" indent="-285750">
              <a:buFontTx/>
              <a:buChar char="-"/>
            </a:pPr>
            <a:r>
              <a:rPr lang="en-US" sz="2400" dirty="0"/>
              <a:t>The result? </a:t>
            </a:r>
          </a:p>
        </p:txBody>
      </p:sp>
    </p:spTree>
    <p:extLst>
      <p:ext uri="{BB962C8B-B14F-4D97-AF65-F5344CB8AC3E}">
        <p14:creationId xmlns:p14="http://schemas.microsoft.com/office/powerpoint/2010/main" val="3833929606"/>
      </p:ext>
    </p:extLst>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D0E17-18C4-2EB3-02C2-B3C872DAE9C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ED60D82-880D-D652-904A-C02A4962B189}"/>
              </a:ext>
            </a:extLst>
          </p:cNvPr>
          <p:cNvSpPr txBox="1">
            <a:spLocks noGrp="1"/>
          </p:cNvSpPr>
          <p:nvPr>
            <p:ph type="title"/>
          </p:nvPr>
        </p:nvSpPr>
        <p:spPr>
          <a:xfrm>
            <a:off x="152400" y="152282"/>
            <a:ext cx="11218783" cy="579746"/>
          </a:xfrm>
          <a:prstGeom prst="rect">
            <a:avLst/>
          </a:prstGeom>
        </p:spPr>
        <p:txBody>
          <a:bodyPr vert="horz" wrap="square" lIns="0" tIns="25499" rIns="0" bIns="0" rtlCol="0" anchor="b">
            <a:spAutoFit/>
          </a:bodyPr>
          <a:lstStyle/>
          <a:p>
            <a:r>
              <a:rPr lang="en-CA" sz="4000" b="1" dirty="0"/>
              <a:t>Can we solve things through payment reform? </a:t>
            </a:r>
          </a:p>
        </p:txBody>
      </p:sp>
      <p:sp>
        <p:nvSpPr>
          <p:cNvPr id="8" name="object 8">
            <a:extLst>
              <a:ext uri="{FF2B5EF4-FFF2-40B4-BE49-F238E27FC236}">
                <a16:creationId xmlns:a16="http://schemas.microsoft.com/office/drawing/2014/main" id="{F3D6981F-5BD3-796F-9608-D7804E303A58}"/>
              </a:ext>
            </a:extLst>
          </p:cNvPr>
          <p:cNvSpPr txBox="1"/>
          <p:nvPr/>
        </p:nvSpPr>
        <p:spPr>
          <a:xfrm>
            <a:off x="11853821" y="6407020"/>
            <a:ext cx="140918" cy="220866"/>
          </a:xfrm>
          <a:prstGeom prst="rect">
            <a:avLst/>
          </a:prstGeom>
        </p:spPr>
        <p:txBody>
          <a:bodyPr vert="horz" wrap="square" lIns="0" tIns="25499" rIns="0" bIns="0" rtlCol="0">
            <a:spAutoFit/>
          </a:bodyPr>
          <a:lstStyle/>
          <a:p>
            <a:pPr marL="26841">
              <a:spcBef>
                <a:spcPts val="201"/>
              </a:spcBef>
            </a:pPr>
            <a:r>
              <a:rPr sz="1268" spc="-169" dirty="0">
                <a:solidFill>
                  <a:srgbClr val="22373A"/>
                </a:solidFill>
                <a:latin typeface="Arial Black"/>
                <a:cs typeface="Arial Black"/>
              </a:rPr>
              <a:t>8</a:t>
            </a:r>
            <a:endParaRPr sz="1268">
              <a:latin typeface="Arial Black"/>
              <a:cs typeface="Arial Black"/>
            </a:endParaRPr>
          </a:p>
        </p:txBody>
      </p:sp>
      <p:pic>
        <p:nvPicPr>
          <p:cNvPr id="6" name="Picture 5">
            <a:extLst>
              <a:ext uri="{FF2B5EF4-FFF2-40B4-BE49-F238E27FC236}">
                <a16:creationId xmlns:a16="http://schemas.microsoft.com/office/drawing/2014/main" id="{7FFE713F-79CE-CC7C-9497-5C7E1EF7472E}"/>
              </a:ext>
            </a:extLst>
          </p:cNvPr>
          <p:cNvPicPr>
            <a:picLocks noChangeAspect="1"/>
          </p:cNvPicPr>
          <p:nvPr/>
        </p:nvPicPr>
        <p:blipFill>
          <a:blip r:embed="rId3"/>
          <a:stretch>
            <a:fillRect/>
          </a:stretch>
        </p:blipFill>
        <p:spPr>
          <a:xfrm>
            <a:off x="180560" y="3626148"/>
            <a:ext cx="12192000" cy="2780872"/>
          </a:xfrm>
          <a:prstGeom prst="rect">
            <a:avLst/>
          </a:prstGeom>
        </p:spPr>
      </p:pic>
      <p:sp>
        <p:nvSpPr>
          <p:cNvPr id="7" name="TextBox 6">
            <a:extLst>
              <a:ext uri="{FF2B5EF4-FFF2-40B4-BE49-F238E27FC236}">
                <a16:creationId xmlns:a16="http://schemas.microsoft.com/office/drawing/2014/main" id="{2D72F25A-B7FC-E038-B5DE-D88433C1BC1F}"/>
              </a:ext>
            </a:extLst>
          </p:cNvPr>
          <p:cNvSpPr txBox="1"/>
          <p:nvPr/>
        </p:nvSpPr>
        <p:spPr>
          <a:xfrm>
            <a:off x="533401" y="914400"/>
            <a:ext cx="9829800" cy="2308324"/>
          </a:xfrm>
          <a:prstGeom prst="rect">
            <a:avLst/>
          </a:prstGeom>
          <a:noFill/>
        </p:spPr>
        <p:txBody>
          <a:bodyPr wrap="square" rtlCol="0">
            <a:spAutoFit/>
          </a:bodyPr>
          <a:lstStyle/>
          <a:p>
            <a:pPr marL="285750" indent="-285750">
              <a:buFontTx/>
              <a:buChar char="-"/>
            </a:pPr>
            <a:r>
              <a:rPr lang="en-US" sz="2400" dirty="0"/>
              <a:t>In 1970s, some policymakers thought Canadian physicians were making too much money (in a fee-for-service environment)</a:t>
            </a:r>
          </a:p>
          <a:p>
            <a:pPr marL="285750" indent="-285750">
              <a:buFontTx/>
              <a:buChar char="-"/>
            </a:pPr>
            <a:r>
              <a:rPr lang="en-US" sz="2400" dirty="0"/>
              <a:t>So they imposed a cap on payments, after which fees were reduced to 25% of original schedule</a:t>
            </a:r>
          </a:p>
          <a:p>
            <a:pPr marL="285750" indent="-285750">
              <a:buFontTx/>
              <a:buChar char="-"/>
            </a:pPr>
            <a:r>
              <a:rPr lang="en-US" sz="2400" dirty="0"/>
              <a:t>The result? </a:t>
            </a:r>
          </a:p>
          <a:p>
            <a:pPr marL="285750" indent="-285750">
              <a:buFontTx/>
              <a:buChar char="-"/>
            </a:pPr>
            <a:r>
              <a:rPr lang="en-US" sz="2400" b="1" dirty="0"/>
              <a:t>Physicians’ vacation lengths increased by 70%</a:t>
            </a:r>
          </a:p>
        </p:txBody>
      </p:sp>
    </p:spTree>
    <p:extLst>
      <p:ext uri="{BB962C8B-B14F-4D97-AF65-F5344CB8AC3E}">
        <p14:creationId xmlns:p14="http://schemas.microsoft.com/office/powerpoint/2010/main" val="1433875845"/>
      </p:ext>
    </p:extLst>
  </p:cSld>
  <p:clrMapOvr>
    <a:masterClrMapping/>
  </p:clrMapOvr>
  <p:transition>
    <p:cut/>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fontScale="90000"/>
          </a:bodyPr>
          <a:lstStyle/>
          <a:p>
            <a:r>
              <a:rPr lang="en-US" dirty="0"/>
              <a:t>Ellis and McGuire (1986; 1990)</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“Provider behavior under prospective reimbursement.”</a:t>
            </a:r>
            <a:r>
              <a:rPr lang="en-US" i="1" dirty="0"/>
              <a:t> Journal of Health Economics</a:t>
            </a:r>
            <a:endParaRPr lang="en-US" dirty="0"/>
          </a:p>
          <a:p>
            <a:r>
              <a:rPr lang="en-US" dirty="0"/>
              <a:t>“Optimal payment systems for health services.” </a:t>
            </a:r>
            <a:r>
              <a:rPr lang="en-US" i="1" dirty="0"/>
              <a:t>Journal of Health Economics</a:t>
            </a:r>
            <a:endParaRPr lang="en-US" dirty="0"/>
          </a:p>
          <a:p>
            <a:endParaRPr lang="en-US" dirty="0"/>
          </a:p>
        </p:txBody>
      </p:sp>
    </p:spTree>
    <p:extLst>
      <p:ext uri="{BB962C8B-B14F-4D97-AF65-F5344CB8AC3E}">
        <p14:creationId xmlns:p14="http://schemas.microsoft.com/office/powerpoint/2010/main" val="4057525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5938" name="Rectangle 2"/>
          <p:cNvSpPr>
            <a:spLocks noGrp="1" noChangeArrowheads="1"/>
          </p:cNvSpPr>
          <p:nvPr>
            <p:ph type="title"/>
          </p:nvPr>
        </p:nvSpPr>
        <p:spPr>
          <a:xfrm>
            <a:off x="533400" y="365760"/>
            <a:ext cx="10591800" cy="736600"/>
          </a:xfrm>
        </p:spPr>
        <p:txBody>
          <a:bodyPr>
            <a:normAutofit/>
          </a:bodyPr>
          <a:lstStyle/>
          <a:p>
            <a:pPr>
              <a:defRPr/>
            </a:pPr>
            <a:r>
              <a:rPr lang="en-US" sz="4000" dirty="0"/>
              <a:t>Conventional conceptualization of provider payment</a:t>
            </a:r>
          </a:p>
        </p:txBody>
      </p:sp>
      <p:sp>
        <p:nvSpPr>
          <p:cNvPr id="4099" name="Rectangle 3"/>
          <p:cNvSpPr>
            <a:spLocks noGrp="1" noChangeArrowheads="1"/>
          </p:cNvSpPr>
          <p:nvPr>
            <p:ph type="body" idx="1"/>
          </p:nvPr>
        </p:nvSpPr>
        <p:spPr>
          <a:xfrm>
            <a:off x="533400" y="6172200"/>
            <a:ext cx="7724775" cy="736600"/>
          </a:xfrm>
        </p:spPr>
        <p:txBody>
          <a:bodyPr/>
          <a:lstStyle/>
          <a:p>
            <a:pPr>
              <a:buFont typeface="Symbol" pitchFamily="18" charset="2"/>
              <a:buNone/>
            </a:pPr>
            <a:r>
              <a:rPr lang="en-US" altLang="en-US"/>
              <a:t>Source: NRHII (2007);  Ellis (2002).</a:t>
            </a:r>
          </a:p>
          <a:p>
            <a:pPr>
              <a:lnSpc>
                <a:spcPct val="130000"/>
              </a:lnSpc>
              <a:buFont typeface="Symbol" pitchFamily="18" charset="2"/>
              <a:buNone/>
            </a:pPr>
            <a:endParaRPr lang="en-US" altLang="en-US" i="1">
              <a:solidFill>
                <a:schemeClr val="tx2"/>
              </a:solidFill>
            </a:endParaRPr>
          </a:p>
        </p:txBody>
      </p:sp>
      <p:pic>
        <p:nvPicPr>
          <p:cNvPr id="4100" name="Picture 1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599" y="1203582"/>
            <a:ext cx="10167365" cy="2987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35664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p:cNvSpPr>
          <p:nvPr>
            <p:ph type="title"/>
          </p:nvPr>
        </p:nvSpPr>
        <p:spPr>
          <a:xfrm>
            <a:off x="304800" y="152400"/>
            <a:ext cx="9692640" cy="624840"/>
          </a:xfrm>
        </p:spPr>
        <p:txBody>
          <a:bodyPr>
            <a:noAutofit/>
          </a:bodyPr>
          <a:lstStyle/>
          <a:p>
            <a:r>
              <a:rPr lang="en-US" sz="3600" dirty="0"/>
              <a:t>Sample </a:t>
            </a:r>
            <a:r>
              <a:rPr lang="en-US" sz="3600" dirty="0">
                <a:solidFill>
                  <a:srgbClr val="FF0000"/>
                </a:solidFill>
              </a:rPr>
              <a:t>primary care </a:t>
            </a:r>
            <a:r>
              <a:rPr lang="en-US" sz="3600" dirty="0"/>
              <a:t>procedures and payments</a:t>
            </a:r>
          </a:p>
        </p:txBody>
      </p:sp>
      <p:graphicFrame>
        <p:nvGraphicFramePr>
          <p:cNvPr id="43045" name="Group 37"/>
          <p:cNvGraphicFramePr>
            <a:graphicFrameLocks noGrp="1"/>
          </p:cNvGraphicFramePr>
          <p:nvPr>
            <p:ph idx="1"/>
            <p:extLst>
              <p:ext uri="{D42A27DB-BD31-4B8C-83A1-F6EECF244321}">
                <p14:modId xmlns:p14="http://schemas.microsoft.com/office/powerpoint/2010/main" val="2898513377"/>
              </p:ext>
            </p:extLst>
          </p:nvPr>
        </p:nvGraphicFramePr>
        <p:xfrm>
          <a:off x="381000" y="929480"/>
          <a:ext cx="10667999" cy="4687206"/>
        </p:xfrm>
        <a:graphic>
          <a:graphicData uri="http://schemas.openxmlformats.org/drawingml/2006/table">
            <a:tbl>
              <a:tblPr>
                <a:tableStyleId>{8A107856-5554-42FB-B03E-39F5DBC370BA}</a:tableStyleId>
              </a:tblPr>
              <a:tblGrid>
                <a:gridCol w="1284111">
                  <a:extLst>
                    <a:ext uri="{9D8B030D-6E8A-4147-A177-3AD203B41FA5}">
                      <a16:colId xmlns:a16="http://schemas.microsoft.com/office/drawing/2014/main" val="20000"/>
                    </a:ext>
                  </a:extLst>
                </a:gridCol>
                <a:gridCol w="7507111">
                  <a:extLst>
                    <a:ext uri="{9D8B030D-6E8A-4147-A177-3AD203B41FA5}">
                      <a16:colId xmlns:a16="http://schemas.microsoft.com/office/drawing/2014/main" val="20001"/>
                    </a:ext>
                  </a:extLst>
                </a:gridCol>
                <a:gridCol w="1876777">
                  <a:extLst>
                    <a:ext uri="{9D8B030D-6E8A-4147-A177-3AD203B41FA5}">
                      <a16:colId xmlns:a16="http://schemas.microsoft.com/office/drawing/2014/main" val="20002"/>
                    </a:ext>
                  </a:extLst>
                </a:gridCol>
              </a:tblGrid>
              <a:tr h="936513">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A005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lang="en-US" dirty="0">
                          <a:latin typeface="+mj-lt"/>
                        </a:rPr>
                        <a:t>Special family and general practice consultation</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84.45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extLst>
                  <a:ext uri="{0D108BD9-81ED-4DB2-BD59-A6C34878D82A}">
                    <a16:rowId xmlns:a16="http://schemas.microsoft.com/office/drawing/2014/main" val="10000"/>
                  </a:ext>
                </a:extLst>
              </a:tr>
              <a:tr h="930441">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K017</a:t>
                      </a:r>
                      <a:endParaRPr kumimoji="0" lang="en-US" sz="1800" b="0" i="0" u="none" strike="noStrike" cap="none" normalizeH="0" baseline="0" dirty="0">
                        <a:ln>
                          <a:noFill/>
                        </a:ln>
                        <a:solidFill>
                          <a:srgbClr val="000000"/>
                        </a:solidFill>
                        <a:effectLst/>
                        <a:latin typeface="+mj-lt"/>
                        <a:ea typeface="宋体"/>
                      </a:endParaRP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rPr>
                        <a:t>K130</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rPr>
                        <a:t>K131</a:t>
                      </a:r>
                      <a:endParaRPr kumimoji="0" lang="en-US" sz="1800" b="0" u="none" strike="noStrike" cap="none" normalizeH="0" baseline="0" dirty="0">
                        <a:ln>
                          <a:noFill/>
                        </a:ln>
                        <a:solidFill>
                          <a:srgbClr val="000000"/>
                        </a:solidFill>
                        <a:effectLst/>
                        <a:latin typeface="+mj-lt"/>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Wellness visit: child</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cs typeface="宋体"/>
                        </a:rPr>
                        <a:t>Adolescent</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cs typeface="宋体"/>
                        </a:rPr>
                        <a:t>Adult &lt; 64</a:t>
                      </a: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43.60</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77.20</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54.00 </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extLst>
                  <a:ext uri="{0D108BD9-81ED-4DB2-BD59-A6C34878D82A}">
                    <a16:rowId xmlns:a16="http://schemas.microsoft.com/office/drawing/2014/main" val="10001"/>
                  </a:ext>
                </a:extLst>
              </a:tr>
              <a:tr h="936513">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K082</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lang="en-US" sz="1800" b="0" i="0" kern="1200" dirty="0">
                          <a:solidFill>
                            <a:schemeClr val="dk1"/>
                          </a:solidFill>
                          <a:effectLst/>
                          <a:latin typeface="+mj-lt"/>
                          <a:ea typeface="+mn-ea"/>
                          <a:cs typeface="+mn-cs"/>
                        </a:rPr>
                        <a:t>Psychotherapy, psychiatric or primary mental health care counselling or Interview conducted by telephone or video per unit (unit means half hour or major part thereof)</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67.75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extLst>
                  <a:ext uri="{0D108BD9-81ED-4DB2-BD59-A6C34878D82A}">
                    <a16:rowId xmlns:a16="http://schemas.microsoft.com/office/drawing/2014/main" val="10002"/>
                  </a:ext>
                </a:extLst>
              </a:tr>
              <a:tr h="627913">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H065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Consultation in Emergency Medicine</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81.25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extLst>
                  <a:ext uri="{0D108BD9-81ED-4DB2-BD59-A6C34878D82A}">
                    <a16:rowId xmlns:a16="http://schemas.microsoft.com/office/drawing/2014/main" val="10004"/>
                  </a:ext>
                </a:extLst>
              </a:tr>
              <a:tr h="627913">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A330</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cs typeface="宋体"/>
                        </a:rPr>
                        <a:t>A332</a:t>
                      </a: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lang="en-US" dirty="0">
                          <a:latin typeface="+mj-lt"/>
                        </a:rPr>
                        <a:t>Radiology second opinion of CT study, per study.</a:t>
                      </a:r>
                    </a:p>
                    <a:p>
                      <a:pPr marL="0" marR="0" lvl="0" indent="0" algn="l" defTabSz="914400" rtl="0" eaLnBrk="1" fontAlgn="b" latinLnBrk="0" hangingPunct="1">
                        <a:lnSpc>
                          <a:spcPct val="100000"/>
                        </a:lnSpc>
                        <a:spcBef>
                          <a:spcPct val="0"/>
                        </a:spcBef>
                        <a:spcAft>
                          <a:spcPct val="0"/>
                        </a:spcAft>
                        <a:buClrTx/>
                        <a:buSzTx/>
                        <a:buFontTx/>
                        <a:buNone/>
                        <a:tabLst/>
                      </a:pPr>
                      <a:r>
                        <a:rPr lang="en-US" dirty="0">
                          <a:latin typeface="+mj-lt"/>
                        </a:rPr>
                        <a:t>Radiology second opinion of MRI study, per study</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89.50</a:t>
                      </a:r>
                    </a:p>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i="0" u="none" strike="noStrike" cap="none" normalizeH="0" baseline="0" dirty="0">
                          <a:ln>
                            <a:noFill/>
                          </a:ln>
                          <a:solidFill>
                            <a:srgbClr val="000000"/>
                          </a:solidFill>
                          <a:effectLst/>
                          <a:latin typeface="+mj-lt"/>
                          <a:ea typeface="宋体"/>
                          <a:cs typeface="宋体"/>
                        </a:rPr>
                        <a:t> $              199.70</a:t>
                      </a:r>
                    </a:p>
                  </a:txBody>
                  <a:tcPr marL="9525" marR="9525" marT="9525" marB="0" anchor="ctr" horzOverflow="overflow"/>
                </a:tc>
                <a:extLst>
                  <a:ext uri="{0D108BD9-81ED-4DB2-BD59-A6C34878D82A}">
                    <a16:rowId xmlns:a16="http://schemas.microsoft.com/office/drawing/2014/main" val="10005"/>
                  </a:ext>
                </a:extLst>
              </a:tr>
              <a:tr h="627913">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G176</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Electrocardiogram, </a:t>
                      </a:r>
                      <a:r>
                        <a:rPr lang="en-US" dirty="0">
                          <a:latin typeface="+mj-lt"/>
                        </a:rPr>
                        <a:t>Electrophysiologic Pacing, Mapping and Ablation</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latin typeface="+mj-lt"/>
                        </a:rPr>
                        <a:t> $               334.25</a:t>
                      </a:r>
                      <a:endParaRPr kumimoji="0" lang="en-US" sz="1800" b="0" i="0" u="none" strike="noStrike" cap="none" normalizeH="0" baseline="0" dirty="0">
                        <a:ln>
                          <a:noFill/>
                        </a:ln>
                        <a:solidFill>
                          <a:srgbClr val="000000"/>
                        </a:solidFill>
                        <a:effectLst/>
                        <a:latin typeface="+mj-lt"/>
                        <a:ea typeface="宋体"/>
                        <a:cs typeface="宋体"/>
                      </a:endParaRPr>
                    </a:p>
                  </a:txBody>
                  <a:tcPr marL="9525" marR="9525" marT="9525" marB="0" anchor="ctr" horzOverflow="overflow"/>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1672146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5093" name="Group 37"/>
          <p:cNvGraphicFramePr>
            <a:graphicFrameLocks noGrp="1"/>
          </p:cNvGraphicFramePr>
          <p:nvPr>
            <p:ph idx="1"/>
            <p:extLst>
              <p:ext uri="{D42A27DB-BD31-4B8C-83A1-F6EECF244321}">
                <p14:modId xmlns:p14="http://schemas.microsoft.com/office/powerpoint/2010/main" val="2056782245"/>
              </p:ext>
            </p:extLst>
          </p:nvPr>
        </p:nvGraphicFramePr>
        <p:xfrm>
          <a:off x="533400" y="939164"/>
          <a:ext cx="10591800" cy="5614036"/>
        </p:xfrm>
        <a:graphic>
          <a:graphicData uri="http://schemas.openxmlformats.org/drawingml/2006/table">
            <a:tbl>
              <a:tblPr>
                <a:tableStyleId>{8A107856-5554-42FB-B03E-39F5DBC370BA}</a:tableStyleId>
              </a:tblPr>
              <a:tblGrid>
                <a:gridCol w="1274939">
                  <a:extLst>
                    <a:ext uri="{9D8B030D-6E8A-4147-A177-3AD203B41FA5}">
                      <a16:colId xmlns:a16="http://schemas.microsoft.com/office/drawing/2014/main" val="20000"/>
                    </a:ext>
                  </a:extLst>
                </a:gridCol>
                <a:gridCol w="7453490">
                  <a:extLst>
                    <a:ext uri="{9D8B030D-6E8A-4147-A177-3AD203B41FA5}">
                      <a16:colId xmlns:a16="http://schemas.microsoft.com/office/drawing/2014/main" val="20001"/>
                    </a:ext>
                  </a:extLst>
                </a:gridCol>
                <a:gridCol w="1863371">
                  <a:extLst>
                    <a:ext uri="{9D8B030D-6E8A-4147-A177-3AD203B41FA5}">
                      <a16:colId xmlns:a16="http://schemas.microsoft.com/office/drawing/2014/main" val="20002"/>
                    </a:ext>
                  </a:extLst>
                </a:gridCol>
              </a:tblGrid>
              <a:tr h="938536">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99211</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3300"/>
                          </a:solidFill>
                          <a:effectLst/>
                        </a:rPr>
                        <a:t>Professor's </a:t>
                      </a:r>
                      <a:r>
                        <a:rPr kumimoji="0" lang="en-US" sz="1800" b="0" u="none" strike="noStrike" cap="none" normalizeH="0" baseline="0" dirty="0">
                          <a:ln>
                            <a:noFill/>
                          </a:ln>
                          <a:solidFill>
                            <a:srgbClr val="000000"/>
                          </a:solidFill>
                          <a:effectLst/>
                        </a:rPr>
                        <a:t>Office Visit For The Evaluation Of An Established </a:t>
                      </a:r>
                      <a:r>
                        <a:rPr kumimoji="0" lang="en-US" sz="1800" b="0" u="none" strike="noStrike" cap="none" normalizeH="0" baseline="0" dirty="0">
                          <a:ln>
                            <a:noFill/>
                          </a:ln>
                          <a:solidFill>
                            <a:srgbClr val="FF0000"/>
                          </a:solidFill>
                          <a:effectLst/>
                        </a:rPr>
                        <a:t>Student</a:t>
                      </a:r>
                      <a:r>
                        <a:rPr kumimoji="0" lang="en-US" sz="1800" b="0" u="none" strike="noStrike" cap="none" normalizeH="0" baseline="0" dirty="0">
                          <a:ln>
                            <a:noFill/>
                          </a:ln>
                          <a:solidFill>
                            <a:srgbClr val="000000"/>
                          </a:solidFill>
                          <a:effectLst/>
                        </a:rPr>
                        <a:t> With Minimal Problems Not Necessarily Requiring The Presence Of A </a:t>
                      </a:r>
                      <a:r>
                        <a:rPr kumimoji="0" lang="en-US" sz="1800" b="0" u="none" strike="noStrike" cap="none" normalizeH="0" baseline="0" dirty="0">
                          <a:ln>
                            <a:noFill/>
                          </a:ln>
                          <a:solidFill>
                            <a:srgbClr val="FF3300"/>
                          </a:solidFill>
                          <a:effectLst/>
                        </a:rPr>
                        <a:t>Professor</a:t>
                      </a:r>
                      <a:endParaRPr kumimoji="0" lang="en-US" sz="1800" b="0" i="0" u="none" strike="noStrike" cap="none" normalizeH="0" baseline="0" dirty="0">
                        <a:ln>
                          <a:noFill/>
                        </a:ln>
                        <a:solidFill>
                          <a:srgbClr val="FF33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25 </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0"/>
                  </a:ext>
                </a:extLst>
              </a:tr>
              <a:tr h="932452">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99212</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3300"/>
                          </a:solidFill>
                          <a:effectLst/>
                        </a:rPr>
                        <a:t>Professor's </a:t>
                      </a:r>
                      <a:r>
                        <a:rPr kumimoji="0" lang="en-US" sz="1800" b="0" u="none" strike="noStrike" cap="none" normalizeH="0" baseline="0" dirty="0">
                          <a:ln>
                            <a:noFill/>
                          </a:ln>
                          <a:solidFill>
                            <a:srgbClr val="000000"/>
                          </a:solidFill>
                          <a:effectLst/>
                        </a:rPr>
                        <a:t>Visit For The Evaluation Of An Established </a:t>
                      </a:r>
                      <a:r>
                        <a:rPr kumimoji="0" lang="en-US" sz="1800" b="0" u="none" strike="noStrike" cap="none" normalizeH="0" baseline="0" dirty="0">
                          <a:ln>
                            <a:noFill/>
                          </a:ln>
                          <a:solidFill>
                            <a:srgbClr val="FF3300"/>
                          </a:solidFill>
                          <a:effectLst/>
                        </a:rPr>
                        <a:t>Student</a:t>
                      </a:r>
                      <a:r>
                        <a:rPr kumimoji="0" lang="en-US" sz="1800" b="0" u="none" strike="noStrike" cap="none" normalizeH="0" baseline="0" dirty="0">
                          <a:ln>
                            <a:noFill/>
                          </a:ln>
                          <a:solidFill>
                            <a:srgbClr val="000000"/>
                          </a:solidFill>
                          <a:effectLst/>
                        </a:rPr>
                        <a:t> For A Problem-Focused Examination And A Simple Decision</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44 </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1"/>
                  </a:ext>
                </a:extLst>
              </a:tr>
              <a:tr h="938536">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99213</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3300"/>
                          </a:solidFill>
                          <a:effectLst/>
                        </a:rPr>
                        <a:t>Professor's </a:t>
                      </a:r>
                      <a:r>
                        <a:rPr kumimoji="0" lang="en-US" sz="1800" b="0" u="none" strike="noStrike" cap="none" normalizeH="0" baseline="0" dirty="0">
                          <a:ln>
                            <a:noFill/>
                          </a:ln>
                          <a:solidFill>
                            <a:srgbClr val="000000"/>
                          </a:solidFill>
                          <a:effectLst/>
                        </a:rPr>
                        <a:t>Visit For The Evaluation Of An Established </a:t>
                      </a:r>
                      <a:r>
                        <a:rPr kumimoji="0" lang="en-US" sz="1800" b="0" u="none" strike="noStrike" cap="none" normalizeH="0" baseline="0" dirty="0">
                          <a:ln>
                            <a:noFill/>
                          </a:ln>
                          <a:solidFill>
                            <a:srgbClr val="FF3300"/>
                          </a:solidFill>
                          <a:effectLst/>
                        </a:rPr>
                        <a:t>Student</a:t>
                      </a:r>
                      <a:r>
                        <a:rPr kumimoji="0" lang="en-US" sz="1800" b="0" u="none" strike="noStrike" cap="none" normalizeH="0" baseline="0" dirty="0">
                          <a:ln>
                            <a:noFill/>
                          </a:ln>
                          <a:solidFill>
                            <a:srgbClr val="000000"/>
                          </a:solidFill>
                          <a:effectLst/>
                        </a:rPr>
                        <a:t> For Expanded Examination And History Of A Problem Requiring A Fairly Simple Decision</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60 </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2"/>
                  </a:ext>
                </a:extLst>
              </a:tr>
              <a:tr h="938536">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99214</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3300"/>
                          </a:solidFill>
                          <a:effectLst/>
                        </a:rPr>
                        <a:t>Professor's </a:t>
                      </a:r>
                      <a:r>
                        <a:rPr kumimoji="0" lang="en-US" sz="1800" b="0" u="none" strike="noStrike" cap="none" normalizeH="0" baseline="0" dirty="0">
                          <a:ln>
                            <a:noFill/>
                          </a:ln>
                          <a:solidFill>
                            <a:srgbClr val="000000"/>
                          </a:solidFill>
                          <a:effectLst/>
                        </a:rPr>
                        <a:t>Visit For The Evaluation Of An Established </a:t>
                      </a:r>
                      <a:r>
                        <a:rPr kumimoji="0" lang="en-US" sz="1800" b="0" u="none" strike="noStrike" cap="none" normalizeH="0" baseline="0" dirty="0">
                          <a:ln>
                            <a:noFill/>
                          </a:ln>
                          <a:solidFill>
                            <a:srgbClr val="FF3300"/>
                          </a:solidFill>
                          <a:effectLst/>
                        </a:rPr>
                        <a:t>Student</a:t>
                      </a:r>
                      <a:r>
                        <a:rPr kumimoji="0" lang="en-US" sz="1800" b="0" u="none" strike="noStrike" cap="none" normalizeH="0" baseline="0" dirty="0">
                          <a:ln>
                            <a:noFill/>
                          </a:ln>
                          <a:solidFill>
                            <a:srgbClr val="000000"/>
                          </a:solidFill>
                          <a:effectLst/>
                        </a:rPr>
                        <a:t> For A Detailed History, Examination, And A Decision Of Moderate Complexity, Unlisted Evaluation</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 $             91 </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3"/>
                  </a:ext>
                </a:extLst>
              </a:tr>
              <a:tr h="629270">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99215</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Office/Op Visit, </a:t>
                      </a:r>
                      <a:r>
                        <a:rPr kumimoji="0" lang="en-US" sz="1800" b="0" u="none" strike="noStrike" cap="none" normalizeH="0" baseline="0" dirty="0" err="1">
                          <a:ln>
                            <a:noFill/>
                          </a:ln>
                          <a:solidFill>
                            <a:srgbClr val="000000"/>
                          </a:solidFill>
                          <a:effectLst/>
                        </a:rPr>
                        <a:t>Est</a:t>
                      </a:r>
                      <a:r>
                        <a:rPr kumimoji="0" lang="en-US" sz="1800" b="0" u="none" strike="noStrike" cap="none" normalizeH="0" baseline="0" dirty="0">
                          <a:ln>
                            <a:noFill/>
                          </a:ln>
                          <a:solidFill>
                            <a:srgbClr val="000000"/>
                          </a:solidFill>
                          <a:effectLst/>
                        </a:rPr>
                        <a:t> </a:t>
                      </a:r>
                      <a:r>
                        <a:rPr kumimoji="0" lang="en-US" sz="1800" b="0" u="none" strike="noStrike" cap="none" normalizeH="0" baseline="0" dirty="0">
                          <a:ln>
                            <a:noFill/>
                          </a:ln>
                          <a:solidFill>
                            <a:srgbClr val="FF0000"/>
                          </a:solidFill>
                          <a:effectLst/>
                        </a:rPr>
                        <a:t>Student</a:t>
                      </a:r>
                      <a:r>
                        <a:rPr kumimoji="0" lang="en-US" sz="1800" b="0" u="none" strike="noStrike" cap="none" normalizeH="0" baseline="0" dirty="0">
                          <a:ln>
                            <a:noFill/>
                          </a:ln>
                          <a:solidFill>
                            <a:srgbClr val="000000"/>
                          </a:solidFill>
                          <a:effectLst/>
                        </a:rPr>
                        <a:t>, 2 Key Components: comprehensive </a:t>
                      </a:r>
                      <a:r>
                        <a:rPr kumimoji="0" lang="en-US" sz="1800" b="0" u="none" strike="noStrike" cap="none" normalizeH="0" baseline="0" dirty="0" err="1">
                          <a:ln>
                            <a:noFill/>
                          </a:ln>
                          <a:solidFill>
                            <a:srgbClr val="000000"/>
                          </a:solidFill>
                          <a:effectLst/>
                        </a:rPr>
                        <a:t>Hx;comprehensiv</a:t>
                      </a:r>
                      <a:r>
                        <a:rPr kumimoji="0" lang="en-US" sz="1800" b="0" u="none" strike="noStrike" cap="none" normalizeH="0" baseline="0" dirty="0">
                          <a:ln>
                            <a:noFill/>
                          </a:ln>
                          <a:solidFill>
                            <a:srgbClr val="000000"/>
                          </a:solidFill>
                          <a:effectLst/>
                        </a:rPr>
                        <a:t> Exam; </a:t>
                      </a:r>
                      <a:r>
                        <a:rPr kumimoji="0" lang="en-US" sz="1800" b="0" u="none" strike="noStrike" cap="none" normalizeH="0" baseline="0" dirty="0" err="1">
                          <a:ln>
                            <a:noFill/>
                          </a:ln>
                          <a:solidFill>
                            <a:srgbClr val="000000"/>
                          </a:solidFill>
                          <a:effectLst/>
                        </a:rPr>
                        <a:t>Decisn</a:t>
                      </a:r>
                      <a:r>
                        <a:rPr kumimoji="0" lang="en-US" sz="1800" b="0" u="none" strike="noStrike" cap="none" normalizeH="0" baseline="0" dirty="0">
                          <a:ln>
                            <a:noFill/>
                          </a:ln>
                          <a:solidFill>
                            <a:srgbClr val="000000"/>
                          </a:solidFill>
                          <a:effectLst/>
                        </a:rPr>
                        <a:t> High Complex</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130 </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4"/>
                  </a:ext>
                </a:extLst>
              </a:tr>
              <a:tr h="624617">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87071</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0000"/>
                          </a:solidFill>
                          <a:effectLst/>
                        </a:rPr>
                        <a:t>Short hallway consult</a:t>
                      </a:r>
                      <a:endParaRPr kumimoji="0" lang="en-US" sz="1800" b="0" i="0" u="none" strike="noStrike" cap="none" normalizeH="0" baseline="0" dirty="0">
                        <a:ln>
                          <a:noFill/>
                        </a:ln>
                        <a:solidFill>
                          <a:srgbClr val="FF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13 </a:t>
                      </a:r>
                      <a:endParaRPr kumimoji="0" lang="en-US" sz="1800" b="0" i="0" u="none" strike="noStrike" cap="none" normalizeH="0" baseline="0" dirty="0">
                        <a:ln>
                          <a:noFill/>
                        </a:ln>
                        <a:solidFill>
                          <a:srgbClr val="00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5"/>
                  </a:ext>
                </a:extLst>
              </a:tr>
              <a:tr h="612089">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a:ln>
                            <a:noFill/>
                          </a:ln>
                          <a:solidFill>
                            <a:srgbClr val="000000"/>
                          </a:solidFill>
                          <a:effectLst/>
                        </a:rPr>
                        <a:t>93005</a:t>
                      </a:r>
                      <a:endParaRPr kumimoji="0" lang="en-US" sz="1800" b="0" i="0" u="none" strike="noStrike" cap="none" normalizeH="0" baseline="0">
                        <a:ln>
                          <a:noFill/>
                        </a:ln>
                        <a:solidFill>
                          <a:srgbClr val="000000"/>
                        </a:solidFill>
                        <a:effectLst/>
                        <a:latin typeface="Calibri" pitchFamily="34" charset="0"/>
                        <a:ea typeface="宋体"/>
                        <a:cs typeface="宋体"/>
                      </a:endParaRPr>
                    </a:p>
                  </a:txBody>
                  <a:tcPr marL="9525" marR="9525" marT="9525" marB="0" anchor="ctr" horzOverflow="overflow"/>
                </a:tc>
                <a:tc>
                  <a:txBody>
                    <a:bodyPr/>
                    <a:lstStyle/>
                    <a:p>
                      <a:pPr marL="0" marR="0" lvl="0" indent="0" algn="l"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FF0000"/>
                          </a:solidFill>
                          <a:effectLst/>
                        </a:rPr>
                        <a:t>Reading draft thesis chapter</a:t>
                      </a:r>
                      <a:endParaRPr kumimoji="0" lang="en-US" sz="1800" b="0" i="0" u="none" strike="noStrike" cap="none" normalizeH="0" baseline="0" dirty="0">
                        <a:ln>
                          <a:noFill/>
                        </a:ln>
                        <a:solidFill>
                          <a:srgbClr val="FF0000"/>
                        </a:solidFill>
                        <a:effectLst/>
                        <a:latin typeface="Calibri" pitchFamily="34" charset="0"/>
                        <a:ea typeface="宋体"/>
                        <a:cs typeface="宋体"/>
                      </a:endParaRPr>
                    </a:p>
                  </a:txBody>
                  <a:tcPr marL="9525" marR="9525" marT="9525" marB="0" anchor="ctr" horzOverflow="overflow"/>
                </a:tc>
                <a:tc>
                  <a:txBody>
                    <a:bodyPr/>
                    <a:lstStyle/>
                    <a:p>
                      <a:pPr marL="0" marR="0" lvl="0" indent="0" algn="r" defTabSz="914400" rtl="0" eaLnBrk="1" fontAlgn="b" latinLnBrk="0" hangingPunct="1">
                        <a:lnSpc>
                          <a:spcPct val="100000"/>
                        </a:lnSpc>
                        <a:spcBef>
                          <a:spcPct val="0"/>
                        </a:spcBef>
                        <a:spcAft>
                          <a:spcPct val="0"/>
                        </a:spcAft>
                        <a:buClrTx/>
                        <a:buSzTx/>
                        <a:buFontTx/>
                        <a:buNone/>
                        <a:tabLst/>
                      </a:pPr>
                      <a:r>
                        <a:rPr kumimoji="0" lang="en-US" sz="1800" b="0" u="none" strike="noStrike" cap="none" normalizeH="0" baseline="0" dirty="0">
                          <a:ln>
                            <a:noFill/>
                          </a:ln>
                          <a:solidFill>
                            <a:srgbClr val="000000"/>
                          </a:solidFill>
                          <a:effectLst/>
                        </a:rPr>
                        <a:t> $           </a:t>
                      </a:r>
                      <a:r>
                        <a:rPr kumimoji="0" lang="en-US" sz="1800" b="0" u="none" strike="noStrike" cap="none" normalizeH="0" baseline="0" dirty="0">
                          <a:ln>
                            <a:noFill/>
                          </a:ln>
                          <a:solidFill>
                            <a:srgbClr val="FF0000"/>
                          </a:solidFill>
                          <a:effectLst/>
                        </a:rPr>
                        <a:t>260</a:t>
                      </a:r>
                      <a:endParaRPr kumimoji="0" lang="en-US" sz="1800" b="0" i="0" u="none" strike="noStrike" cap="none" normalizeH="0" baseline="0" dirty="0">
                        <a:ln>
                          <a:noFill/>
                        </a:ln>
                        <a:solidFill>
                          <a:srgbClr val="FF0000"/>
                        </a:solidFill>
                        <a:effectLst/>
                        <a:latin typeface="Calibri" pitchFamily="34" charset="0"/>
                        <a:ea typeface="宋体"/>
                        <a:cs typeface="宋体"/>
                      </a:endParaRPr>
                    </a:p>
                  </a:txBody>
                  <a:tcPr marL="9525" marR="9525" marT="9525" marB="0" anchor="ctr" horzOverflow="overflow"/>
                </a:tc>
                <a:extLst>
                  <a:ext uri="{0D108BD9-81ED-4DB2-BD59-A6C34878D82A}">
                    <a16:rowId xmlns:a16="http://schemas.microsoft.com/office/drawing/2014/main" val="10006"/>
                  </a:ext>
                </a:extLst>
              </a:tr>
            </a:tbl>
          </a:graphicData>
        </a:graphic>
      </p:graphicFrame>
      <p:sp>
        <p:nvSpPr>
          <p:cNvPr id="2" name="Rectangle 2">
            <a:extLst>
              <a:ext uri="{FF2B5EF4-FFF2-40B4-BE49-F238E27FC236}">
                <a16:creationId xmlns:a16="http://schemas.microsoft.com/office/drawing/2014/main" id="{2B58D0AE-E9FF-8AB4-E10D-31A9EE5ECAF5}"/>
              </a:ext>
            </a:extLst>
          </p:cNvPr>
          <p:cNvSpPr txBox="1">
            <a:spLocks/>
          </p:cNvSpPr>
          <p:nvPr/>
        </p:nvSpPr>
        <p:spPr>
          <a:xfrm>
            <a:off x="304800" y="152400"/>
            <a:ext cx="969264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t>Analogous </a:t>
            </a:r>
            <a:r>
              <a:rPr lang="en-US" sz="3600" dirty="0">
                <a:solidFill>
                  <a:srgbClr val="FF3300"/>
                </a:solidFill>
              </a:rPr>
              <a:t>professor’s</a:t>
            </a:r>
            <a:r>
              <a:rPr lang="en-US" sz="3600" dirty="0"/>
              <a:t> office visit fees?</a:t>
            </a:r>
          </a:p>
        </p:txBody>
      </p:sp>
    </p:spTree>
    <p:extLst>
      <p:ext uri="{BB962C8B-B14F-4D97-AF65-F5344CB8AC3E}">
        <p14:creationId xmlns:p14="http://schemas.microsoft.com/office/powerpoint/2010/main" val="2677334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365760"/>
            <a:ext cx="10896600" cy="624840"/>
          </a:xfrm>
        </p:spPr>
        <p:txBody>
          <a:bodyPr>
            <a:normAutofit fontScale="90000"/>
          </a:bodyPr>
          <a:lstStyle/>
          <a:p>
            <a:pPr>
              <a:defRPr/>
            </a:pPr>
            <a:r>
              <a:rPr lang="en-US" sz="4000" dirty="0">
                <a:cs typeface="Times New Roman" panose="02020603050405020304" pitchFamily="18" charset="0"/>
              </a:rPr>
              <a:t>Ellis and McGuire (1986) model of provider payment</a:t>
            </a:r>
          </a:p>
        </p:txBody>
      </p:sp>
      <mc:AlternateContent xmlns:mc="http://schemas.openxmlformats.org/markup-compatibility/2006" xmlns:a14="http://schemas.microsoft.com/office/drawing/2010/main">
        <mc:Choice Requires="a14">
          <p:sp>
            <p:nvSpPr>
              <p:cNvPr id="16387" name="Content Placeholder 2"/>
              <p:cNvSpPr>
                <a:spLocks noGrp="1"/>
              </p:cNvSpPr>
              <p:nvPr>
                <p:ph idx="1"/>
              </p:nvPr>
            </p:nvSpPr>
            <p:spPr>
              <a:xfrm>
                <a:off x="457200" y="1011864"/>
                <a:ext cx="10363200" cy="5480375"/>
              </a:xfrm>
            </p:spPr>
            <p:txBody>
              <a:bodyPr>
                <a:normAutofit/>
              </a:bodyPr>
              <a:lstStyle/>
              <a:p>
                <a:r>
                  <a:rPr lang="en-US" altLang="en-US" sz="2400" dirty="0">
                    <a:cs typeface="Times New Roman" panose="02020603050405020304" pitchFamily="18" charset="0"/>
                  </a:rPr>
                  <a:t>In previous literature, modeled doctors and hospitals as simple profit maximizers</a:t>
                </a:r>
              </a:p>
              <a:p>
                <a:r>
                  <a:rPr lang="en-US" altLang="en-US" sz="2400" dirty="0">
                    <a:cs typeface="Times New Roman" panose="02020603050405020304" pitchFamily="18" charset="0"/>
                  </a:rPr>
                  <a:t>E&amp;M (1986) introduce the idea of an “altruistic provider” </a:t>
                </a:r>
              </a:p>
              <a:p>
                <a:r>
                  <a:rPr lang="en-US" altLang="en-US" sz="2400" dirty="0">
                    <a:cs typeface="Times New Roman" panose="02020603050405020304" pitchFamily="18" charset="0"/>
                  </a:rPr>
                  <a:t>Do so with a simple parameter </a:t>
                </a:r>
                <a14:m>
                  <m:oMath xmlns:m="http://schemas.openxmlformats.org/officeDocument/2006/math">
                    <m:r>
                      <a:rPr lang="en-CA" altLang="en-US" sz="2400" b="0" i="1" smtClean="0">
                        <a:latin typeface="Cambria Math" panose="02040503050406030204" pitchFamily="18" charset="0"/>
                        <a:cs typeface="Times New Roman" panose="02020603050405020304" pitchFamily="18" charset="0"/>
                      </a:rPr>
                      <m:t>𝛼</m:t>
                    </m:r>
                    <m:r>
                      <a:rPr lang="en-CA" altLang="en-US" sz="2400" b="0" i="1" smtClean="0">
                        <a:latin typeface="Cambria Math" panose="02040503050406030204" pitchFamily="18" charset="0"/>
                        <a:cs typeface="Times New Roman" panose="02020603050405020304" pitchFamily="18" charset="0"/>
                      </a:rPr>
                      <m:t>∈[0,1]</m:t>
                    </m:r>
                  </m:oMath>
                </a14:m>
                <a:endParaRPr lang="en-US" altLang="en-US" sz="2400" dirty="0">
                  <a:cs typeface="Times New Roman" panose="02020603050405020304" pitchFamily="18" charset="0"/>
                </a:endParaRPr>
              </a:p>
              <a:p>
                <a:pPr lvl="1"/>
                <a:r>
                  <a:rPr lang="en-US" altLang="en-US" sz="2200" dirty="0">
                    <a:cs typeface="Times New Roman" panose="02020603050405020304" pitchFamily="18" charset="0"/>
                  </a:rPr>
                  <a:t>Measures extent to which physicians care about own utility vs. others’</a:t>
                </a:r>
              </a:p>
              <a:p>
                <a:pPr marL="274320" lvl="1" indent="0">
                  <a:buNone/>
                </a:pPr>
                <a:endParaRPr lang="en-US" altLang="en-US" sz="2200" dirty="0">
                  <a:cs typeface="Times New Roman" panose="02020603050405020304" pitchFamily="18" charset="0"/>
                </a:endParaRPr>
              </a:p>
              <a:p>
                <a:pPr marL="0" indent="0">
                  <a:buNone/>
                </a:pPr>
                <a:r>
                  <a:rPr lang="en-US" altLang="en-US" sz="2400" dirty="0">
                    <a:latin typeface="Calibri" pitchFamily="34" charset="0"/>
                  </a:rPr>
                  <a:t>0-----------------------------------------------------------------------------1</a:t>
                </a:r>
              </a:p>
              <a:p>
                <a:pPr marL="0" indent="0">
                  <a:buNone/>
                </a:pPr>
                <a:r>
                  <a:rPr lang="en-US" altLang="en-US" sz="2400" b="1" u="sng" dirty="0">
                    <a:solidFill>
                      <a:schemeClr val="accent2">
                        <a:lumMod val="75000"/>
                      </a:schemeClr>
                    </a:solidFill>
                    <a:latin typeface="Calibri" pitchFamily="34" charset="0"/>
                  </a:rPr>
                  <a:t>Own utility only </a:t>
                </a:r>
                <a:r>
                  <a:rPr lang="en-US" altLang="en-US" sz="2400" dirty="0">
                    <a:latin typeface="Calibri" pitchFamily="34" charset="0"/>
                  </a:rPr>
                  <a:t>				                      </a:t>
                </a:r>
                <a:r>
                  <a:rPr lang="en-US" altLang="en-US" sz="2400" b="1" u="sng" dirty="0">
                    <a:solidFill>
                      <a:schemeClr val="accent3">
                        <a:lumMod val="50000"/>
                      </a:schemeClr>
                    </a:solidFill>
                    <a:latin typeface="Calibri" pitchFamily="34" charset="0"/>
                  </a:rPr>
                  <a:t>Others’ utility = yours</a:t>
                </a:r>
              </a:p>
              <a:p>
                <a:pPr marL="0" indent="0">
                  <a:buNone/>
                </a:pPr>
                <a:r>
                  <a:rPr lang="en-US" altLang="en-US" sz="2400" dirty="0">
                    <a:solidFill>
                      <a:schemeClr val="accent2">
                        <a:lumMod val="75000"/>
                      </a:schemeClr>
                    </a:solidFill>
                    <a:latin typeface="Calibri" pitchFamily="34" charset="0"/>
                  </a:rPr>
                  <a:t>Bankers</a:t>
                </a:r>
                <a:r>
                  <a:rPr lang="en-US" altLang="en-US" sz="2400" dirty="0">
                    <a:latin typeface="Calibri" pitchFamily="34" charset="0"/>
                  </a:rPr>
                  <a:t>			</a:t>
                </a:r>
                <a:r>
                  <a:rPr lang="en-US" altLang="en-US" sz="2800" b="1" u="sng" dirty="0">
                    <a:solidFill>
                      <a:schemeClr val="accent5">
                        <a:lumMod val="75000"/>
                      </a:schemeClr>
                    </a:solidFill>
                    <a:latin typeface="Calibri" pitchFamily="34" charset="0"/>
                  </a:rPr>
                  <a:t>doctors?</a:t>
                </a:r>
                <a:r>
                  <a:rPr lang="en-US" altLang="en-US" sz="2400" dirty="0">
                    <a:latin typeface="Calibri" pitchFamily="34" charset="0"/>
                  </a:rPr>
                  <a:t>	                       </a:t>
                </a:r>
                <a:r>
                  <a:rPr lang="en-US" altLang="en-US" sz="2400" dirty="0">
                    <a:solidFill>
                      <a:schemeClr val="accent3">
                        <a:lumMod val="50000"/>
                      </a:schemeClr>
                    </a:solidFill>
                    <a:latin typeface="Calibri" pitchFamily="34" charset="0"/>
                  </a:rPr>
                  <a:t>School teachers</a:t>
                </a:r>
              </a:p>
              <a:p>
                <a:pPr marL="0" indent="0">
                  <a:buNone/>
                </a:pPr>
                <a:r>
                  <a:rPr lang="en-US" altLang="en-US" sz="2400" dirty="0">
                    <a:solidFill>
                      <a:schemeClr val="accent2">
                        <a:lumMod val="75000"/>
                      </a:schemeClr>
                    </a:solidFill>
                    <a:latin typeface="Calibri" pitchFamily="34" charset="0"/>
                  </a:rPr>
                  <a:t>Health</a:t>
                </a:r>
                <a:r>
                  <a:rPr lang="en-US" altLang="en-US" sz="2400" dirty="0">
                    <a:latin typeface="Calibri" pitchFamily="34" charset="0"/>
                  </a:rPr>
                  <a:t> </a:t>
                </a:r>
                <a:r>
                  <a:rPr lang="en-US" altLang="en-US" sz="2400" dirty="0">
                    <a:solidFill>
                      <a:schemeClr val="accent2">
                        <a:lumMod val="75000"/>
                      </a:schemeClr>
                    </a:solidFill>
                    <a:latin typeface="Calibri" pitchFamily="34" charset="0"/>
                  </a:rPr>
                  <a:t>insurance</a:t>
                </a:r>
                <a:r>
                  <a:rPr lang="en-US" altLang="en-US" sz="2400" dirty="0">
                    <a:latin typeface="Calibri" pitchFamily="34" charset="0"/>
                  </a:rPr>
                  <a:t>			                      	          </a:t>
                </a:r>
                <a:r>
                  <a:rPr lang="en-US" altLang="en-US" sz="2400" dirty="0">
                    <a:solidFill>
                      <a:schemeClr val="accent3">
                        <a:lumMod val="50000"/>
                      </a:schemeClr>
                    </a:solidFill>
                    <a:latin typeface="Calibri" pitchFamily="34" charset="0"/>
                  </a:rPr>
                  <a:t>Charity workers</a:t>
                </a:r>
              </a:p>
              <a:p>
                <a:pPr marL="0" indent="0">
                  <a:buNone/>
                </a:pPr>
                <a:r>
                  <a:rPr lang="en-US" altLang="en-US" sz="2400" dirty="0">
                    <a:solidFill>
                      <a:schemeClr val="accent2">
                        <a:lumMod val="75000"/>
                      </a:schemeClr>
                    </a:solidFill>
                    <a:latin typeface="Calibri" pitchFamily="34" charset="0"/>
                  </a:rPr>
                  <a:t>Tourist</a:t>
                </a:r>
                <a:r>
                  <a:rPr lang="en-US" altLang="en-US" sz="2400" dirty="0">
                    <a:latin typeface="Calibri" pitchFamily="34" charset="0"/>
                  </a:rPr>
                  <a:t> </a:t>
                </a:r>
                <a:r>
                  <a:rPr lang="en-US" altLang="en-US" sz="2400" dirty="0">
                    <a:solidFill>
                      <a:schemeClr val="accent2">
                        <a:lumMod val="75000"/>
                      </a:schemeClr>
                    </a:solidFill>
                    <a:latin typeface="Calibri" pitchFamily="34" charset="0"/>
                  </a:rPr>
                  <a:t>shops</a:t>
                </a:r>
                <a:r>
                  <a:rPr lang="en-US" altLang="en-US" sz="2400" dirty="0">
                    <a:latin typeface="Calibri" pitchFamily="34" charset="0"/>
                  </a:rPr>
                  <a:t>			 		 			</a:t>
                </a:r>
              </a:p>
            </p:txBody>
          </p:sp>
        </mc:Choice>
        <mc:Fallback xmlns="">
          <p:sp>
            <p:nvSpPr>
              <p:cNvPr id="16387" name="Content Placeholder 2"/>
              <p:cNvSpPr>
                <a:spLocks noGrp="1" noRot="1" noChangeAspect="1" noMove="1" noResize="1" noEditPoints="1" noAdjustHandles="1" noChangeArrowheads="1" noChangeShapeType="1" noTextEdit="1"/>
              </p:cNvSpPr>
              <p:nvPr>
                <p:ph idx="1"/>
              </p:nvPr>
            </p:nvSpPr>
            <p:spPr>
              <a:xfrm>
                <a:off x="457200" y="1011864"/>
                <a:ext cx="10363200" cy="5480375"/>
              </a:xfrm>
              <a:blipFill>
                <a:blip r:embed="rId3"/>
                <a:stretch>
                  <a:fillRect l="-882" t="-1224" r="-294"/>
                </a:stretch>
              </a:blipFill>
            </p:spPr>
            <p:txBody>
              <a:bodyPr/>
              <a:lstStyle/>
              <a:p>
                <a:r>
                  <a:rPr lang="en-CA">
                    <a:noFill/>
                  </a:rPr>
                  <a:t> </a:t>
                </a:r>
              </a:p>
            </p:txBody>
          </p:sp>
        </mc:Fallback>
      </mc:AlternateContent>
    </p:spTree>
    <p:extLst>
      <p:ext uri="{BB962C8B-B14F-4D97-AF65-F5344CB8AC3E}">
        <p14:creationId xmlns:p14="http://schemas.microsoft.com/office/powerpoint/2010/main" val="19406787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Content Placeholder 2"/>
          <p:cNvSpPr>
            <a:spLocks noGrp="1"/>
          </p:cNvSpPr>
          <p:nvPr>
            <p:ph idx="1"/>
          </p:nvPr>
        </p:nvSpPr>
        <p:spPr>
          <a:xfrm>
            <a:off x="533400" y="914400"/>
            <a:ext cx="9753600" cy="5384800"/>
          </a:xfrm>
        </p:spPr>
        <p:txBody>
          <a:bodyPr>
            <a:normAutofit fontScale="92500" lnSpcReduction="10000"/>
          </a:bodyPr>
          <a:lstStyle/>
          <a:p>
            <a:pPr>
              <a:buFont typeface="Symbol" pitchFamily="18" charset="2"/>
              <a:buNone/>
            </a:pPr>
            <a:endParaRPr lang="en-US" altLang="en-US" sz="2400" dirty="0">
              <a:latin typeface="Calibri" pitchFamily="34" charset="0"/>
            </a:endParaRPr>
          </a:p>
          <a:p>
            <a:pPr>
              <a:buFont typeface="Symbol" pitchFamily="18" charset="2"/>
              <a:buNone/>
            </a:pPr>
            <a:r>
              <a:rPr lang="en-US" altLang="en-US" sz="2400" dirty="0">
                <a:latin typeface="Calibri" pitchFamily="34" charset="0"/>
              </a:rPr>
              <a:t>U=Provider utility  = Profits + </a:t>
            </a:r>
            <a:r>
              <a:rPr lang="el-GR" altLang="en-US" sz="2400" dirty="0">
                <a:latin typeface="Calibri" pitchFamily="34" charset="0"/>
              </a:rPr>
              <a:t>α</a:t>
            </a:r>
            <a:r>
              <a:rPr lang="en-US" altLang="en-US" sz="2400" dirty="0">
                <a:latin typeface="Calibri" pitchFamily="34" charset="0"/>
              </a:rPr>
              <a:t> Benefits</a:t>
            </a:r>
          </a:p>
          <a:p>
            <a:pPr>
              <a:buFont typeface="Symbol" pitchFamily="18" charset="2"/>
              <a:buNone/>
            </a:pPr>
            <a:r>
              <a:rPr lang="en-US" altLang="en-US" sz="2400" dirty="0">
                <a:latin typeface="Calibri" pitchFamily="34" charset="0"/>
              </a:rPr>
              <a:t>                      	  =   </a:t>
            </a:r>
            <a:r>
              <a:rPr lang="el-GR" altLang="en-US" sz="2400" dirty="0">
                <a:latin typeface="Calibri" pitchFamily="34" charset="0"/>
              </a:rPr>
              <a:t>Π</a:t>
            </a:r>
            <a:r>
              <a:rPr lang="en-US" altLang="en-US" sz="2400" dirty="0">
                <a:latin typeface="Calibri" pitchFamily="34" charset="0"/>
              </a:rPr>
              <a:t> (q)   +  </a:t>
            </a:r>
            <a:r>
              <a:rPr lang="el-GR" altLang="en-US" sz="2400" dirty="0">
                <a:latin typeface="Calibri" pitchFamily="34" charset="0"/>
              </a:rPr>
              <a:t>α</a:t>
            </a:r>
            <a:r>
              <a:rPr lang="en-US" altLang="en-US" sz="2400" dirty="0">
                <a:latin typeface="Calibri" pitchFamily="34" charset="0"/>
              </a:rPr>
              <a:t> B(q)</a:t>
            </a:r>
          </a:p>
          <a:p>
            <a:pPr>
              <a:buFont typeface="Symbol" pitchFamily="18" charset="2"/>
              <a:buNone/>
            </a:pPr>
            <a:r>
              <a:rPr lang="en-US" altLang="en-US" sz="2400" dirty="0">
                <a:latin typeface="Calibri" pitchFamily="34" charset="0"/>
              </a:rPr>
              <a:t>			  = R</a:t>
            </a:r>
            <a:r>
              <a:rPr lang="en-US" altLang="en-US" sz="2400" baseline="30000" dirty="0">
                <a:latin typeface="Calibri" pitchFamily="34" charset="0"/>
              </a:rPr>
              <a:t>0</a:t>
            </a:r>
            <a:r>
              <a:rPr lang="en-US" altLang="en-US" sz="2400" dirty="0">
                <a:latin typeface="Calibri" pitchFamily="34" charset="0"/>
              </a:rPr>
              <a:t> +(r-c) q + </a:t>
            </a:r>
            <a:r>
              <a:rPr lang="el-GR" altLang="en-US" sz="2400" dirty="0">
                <a:latin typeface="Calibri" pitchFamily="34" charset="0"/>
              </a:rPr>
              <a:t>α</a:t>
            </a:r>
            <a:r>
              <a:rPr lang="en-US" altLang="en-US" sz="2400" dirty="0">
                <a:latin typeface="Calibri" pitchFamily="34" charset="0"/>
              </a:rPr>
              <a:t> B(q)</a:t>
            </a:r>
          </a:p>
          <a:p>
            <a:pPr>
              <a:buFont typeface="Symbol" pitchFamily="18" charset="2"/>
              <a:buNone/>
            </a:pPr>
            <a:r>
              <a:rPr lang="en-US" altLang="en-US" sz="2400" dirty="0">
                <a:latin typeface="Calibri" pitchFamily="34" charset="0"/>
              </a:rPr>
              <a:t>Where:</a:t>
            </a:r>
          </a:p>
          <a:p>
            <a:pPr>
              <a:buFont typeface="Symbol" pitchFamily="18" charset="2"/>
              <a:buNone/>
            </a:pPr>
            <a:r>
              <a:rPr lang="en-US" altLang="en-US" sz="2400" dirty="0">
                <a:latin typeface="Calibri" pitchFamily="34" charset="0"/>
              </a:rPr>
              <a:t>	</a:t>
            </a:r>
            <a:r>
              <a:rPr lang="el-GR" altLang="en-US" sz="2400" dirty="0">
                <a:latin typeface="Calibri" pitchFamily="34" charset="0"/>
              </a:rPr>
              <a:t>α</a:t>
            </a:r>
            <a:r>
              <a:rPr lang="en-US" altLang="en-US" sz="2400" dirty="0">
                <a:latin typeface="Calibri" pitchFamily="34" charset="0"/>
              </a:rPr>
              <a:t> = agency index = weight assigned to B relative to </a:t>
            </a:r>
            <a:r>
              <a:rPr lang="el-GR" altLang="en-US" sz="2400" dirty="0">
                <a:latin typeface="Calibri" pitchFamily="34" charset="0"/>
              </a:rPr>
              <a:t>Π</a:t>
            </a:r>
            <a:endParaRPr lang="en-US" altLang="en-US" sz="2400" dirty="0">
              <a:latin typeface="Calibri" pitchFamily="34" charset="0"/>
            </a:endParaRPr>
          </a:p>
          <a:p>
            <a:pPr>
              <a:buFont typeface="Symbol" pitchFamily="18" charset="2"/>
              <a:buNone/>
            </a:pPr>
            <a:r>
              <a:rPr lang="en-US" altLang="en-US" sz="2400" dirty="0">
                <a:latin typeface="Calibri" pitchFamily="34" charset="0"/>
              </a:rPr>
              <a:t>	q = quantity of services (days, visits or tests)</a:t>
            </a:r>
          </a:p>
          <a:p>
            <a:pPr>
              <a:buFont typeface="Symbol" pitchFamily="18" charset="2"/>
              <a:buNone/>
            </a:pPr>
            <a:r>
              <a:rPr lang="en-US" altLang="en-US" sz="2400" dirty="0">
                <a:latin typeface="Calibri" pitchFamily="34" charset="0"/>
              </a:rPr>
              <a:t>     c = cost per unit of q</a:t>
            </a:r>
          </a:p>
          <a:p>
            <a:pPr>
              <a:buFont typeface="Symbol" pitchFamily="18" charset="2"/>
              <a:buNone/>
            </a:pPr>
            <a:r>
              <a:rPr lang="en-US" altLang="en-US" sz="2400" b="1" dirty="0">
                <a:latin typeface="Calibri" pitchFamily="34" charset="0"/>
              </a:rPr>
              <a:t>Payment System parameters</a:t>
            </a:r>
          </a:p>
          <a:p>
            <a:pPr>
              <a:buFont typeface="Symbol" pitchFamily="18" charset="2"/>
              <a:buNone/>
            </a:pPr>
            <a:r>
              <a:rPr lang="en-US" altLang="en-US" sz="2400" dirty="0">
                <a:latin typeface="Calibri" pitchFamily="34" charset="0"/>
              </a:rPr>
              <a:t> R</a:t>
            </a:r>
            <a:r>
              <a:rPr lang="en-US" altLang="en-US" sz="2400" baseline="30000" dirty="0">
                <a:latin typeface="Calibri" pitchFamily="34" charset="0"/>
              </a:rPr>
              <a:t>0 </a:t>
            </a:r>
            <a:r>
              <a:rPr lang="en-US" altLang="en-US" sz="2400" dirty="0">
                <a:latin typeface="Calibri" pitchFamily="34" charset="0"/>
              </a:rPr>
              <a:t>= bundled payment, such as DRGs or a capitation payment</a:t>
            </a:r>
          </a:p>
          <a:p>
            <a:pPr>
              <a:buFont typeface="Symbol" pitchFamily="18" charset="2"/>
              <a:buNone/>
            </a:pPr>
            <a:r>
              <a:rPr lang="en-US" altLang="en-US" sz="2400" dirty="0">
                <a:latin typeface="Calibri" pitchFamily="34" charset="0"/>
              </a:rPr>
              <a:t> r = payment per service provided, such as fee-for-service </a:t>
            </a:r>
          </a:p>
        </p:txBody>
      </p:sp>
      <p:sp>
        <p:nvSpPr>
          <p:cNvPr id="3" name="Title 1">
            <a:extLst>
              <a:ext uri="{FF2B5EF4-FFF2-40B4-BE49-F238E27FC236}">
                <a16:creationId xmlns:a16="http://schemas.microsoft.com/office/drawing/2014/main" id="{006550FE-9F08-2506-F527-9AE6B0A506BC}"/>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US" sz="4000" dirty="0">
                <a:cs typeface="Times New Roman" panose="02020603050405020304" pitchFamily="18" charset="0"/>
              </a:rPr>
              <a:t>Ellis and McGuire (1986) model of provider payment</a:t>
            </a:r>
          </a:p>
        </p:txBody>
      </p:sp>
    </p:spTree>
    <p:extLst>
      <p:ext uri="{BB962C8B-B14F-4D97-AF65-F5344CB8AC3E}">
        <p14:creationId xmlns:p14="http://schemas.microsoft.com/office/powerpoint/2010/main" val="9372250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D8E3D-AAD4-6021-DEAC-CC823A510110}"/>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2141CAD4-BB08-D50E-D5F0-AEBF2AA700CD}"/>
              </a:ext>
            </a:extLst>
          </p:cNvPr>
          <p:cNvPicPr>
            <a:picLocks noChangeAspect="1"/>
          </p:cNvPicPr>
          <p:nvPr/>
        </p:nvPicPr>
        <p:blipFill>
          <a:blip r:embed="rId3"/>
          <a:stretch>
            <a:fillRect/>
          </a:stretch>
        </p:blipFill>
        <p:spPr>
          <a:xfrm>
            <a:off x="304800" y="677863"/>
            <a:ext cx="9335803" cy="6325483"/>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US" sz="4000" dirty="0">
                    <a:cs typeface="Times New Roman" panose="02020603050405020304" pitchFamily="18" charset="0"/>
                  </a:rPr>
                  <a:t>What does </a:t>
                </a:r>
                <a14:m>
                  <m:oMath xmlns:m="http://schemas.openxmlformats.org/officeDocument/2006/math">
                    <m:r>
                      <a:rPr lang="en-CA" sz="4000" b="0" i="1" smtClean="0">
                        <a:latin typeface="Cambria Math" panose="02040503050406030204" pitchFamily="18" charset="0"/>
                        <a:cs typeface="Times New Roman" panose="02020603050405020304" pitchFamily="18" charset="0"/>
                      </a:rPr>
                      <m:t>𝐵</m:t>
                    </m:r>
                    <m:r>
                      <a:rPr lang="en-CA" sz="4000" b="0" i="1" smtClean="0">
                        <a:latin typeface="Cambria Math" panose="02040503050406030204" pitchFamily="18" charset="0"/>
                        <a:cs typeface="Times New Roman" panose="02020603050405020304" pitchFamily="18" charset="0"/>
                      </a:rPr>
                      <m:t>(</m:t>
                    </m:r>
                    <m:r>
                      <a:rPr lang="en-CA" sz="4000" b="0" i="1" smtClean="0">
                        <a:latin typeface="Cambria Math" panose="02040503050406030204" pitchFamily="18" charset="0"/>
                        <a:cs typeface="Times New Roman" panose="02020603050405020304" pitchFamily="18" charset="0"/>
                      </a:rPr>
                      <m:t>𝑞</m:t>
                    </m:r>
                    <m:r>
                      <a:rPr lang="en-CA" sz="4000" b="0" i="1" smtClean="0">
                        <a:latin typeface="Cambria Math" panose="02040503050406030204" pitchFamily="18" charset="0"/>
                        <a:cs typeface="Times New Roman" panose="02020603050405020304" pitchFamily="18" charset="0"/>
                      </a:rPr>
                      <m:t>)</m:t>
                    </m:r>
                  </m:oMath>
                </a14:m>
                <a:r>
                  <a:rPr lang="en-US" sz="4000" dirty="0">
                    <a:cs typeface="Times New Roman" panose="02020603050405020304" pitchFamily="18" charset="0"/>
                  </a:rPr>
                  <a:t> look like?</a:t>
                </a:r>
              </a:p>
            </p:txBody>
          </p:sp>
        </mc:Choice>
        <mc:Fallback xmlns="">
          <p:sp>
            <p:nvSpPr>
              <p:cNvPr id="6" name="Title 1">
                <a:extLst>
                  <a:ext uri="{FF2B5EF4-FFF2-40B4-BE49-F238E27FC236}">
                    <a16:creationId xmlns:a16="http://schemas.microsoft.com/office/drawing/2014/main" id="{7BD7A2E9-C7E8-9116-5BE2-1C6A3EE63774}"/>
                  </a:ext>
                </a:extLst>
              </p:cNvPr>
              <p:cNvSpPr txBox="1">
                <a:spLocks noRot="1" noChangeAspect="1" noMove="1" noResize="1" noEditPoints="1" noAdjustHandles="1" noChangeArrowheads="1" noChangeShapeType="1" noTextEdit="1"/>
              </p:cNvSpPr>
              <p:nvPr/>
            </p:nvSpPr>
            <p:spPr>
              <a:xfrm>
                <a:off x="304800" y="365760"/>
                <a:ext cx="10896600" cy="624840"/>
              </a:xfrm>
              <a:prstGeom prst="rect">
                <a:avLst/>
              </a:prstGeom>
              <a:blipFill>
                <a:blip r:embed="rId4"/>
                <a:stretch>
                  <a:fillRect l="-1902" t="-26214" b="-39806"/>
                </a:stretch>
              </a:blipFill>
            </p:spPr>
            <p:txBody>
              <a:bodyPr/>
              <a:lstStyle/>
              <a:p>
                <a:r>
                  <a:rPr lang="en-CA">
                    <a:noFill/>
                  </a:rPr>
                  <a:t> </a:t>
                </a:r>
              </a:p>
            </p:txBody>
          </p:sp>
        </mc:Fallback>
      </mc:AlternateContent>
    </p:spTree>
    <p:extLst>
      <p:ext uri="{BB962C8B-B14F-4D97-AF65-F5344CB8AC3E}">
        <p14:creationId xmlns:p14="http://schemas.microsoft.com/office/powerpoint/2010/main" val="32293828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533400" y="990600"/>
                <a:ext cx="9323832" cy="5189537"/>
              </a:xfrm>
            </p:spPr>
            <p:txBody>
              <a:bodyPr>
                <a:normAutofit/>
              </a:bodyPr>
              <a:lstStyle/>
              <a:p>
                <a:r>
                  <a:rPr lang="en-CA" sz="2400" dirty="0"/>
                  <a:t>What is the main equilibrium condition? </a:t>
                </a:r>
              </a:p>
              <a:p>
                <a:pPr marL="0" indent="0">
                  <a:buNone/>
                </a:pPr>
                <a14:m>
                  <m:oMathPara xmlns:m="http://schemas.openxmlformats.org/officeDocument/2006/math">
                    <m:oMathParaPr>
                      <m:jc m:val="centerGroup"/>
                    </m:oMathParaPr>
                    <m:oMath xmlns:m="http://schemas.openxmlformats.org/officeDocument/2006/math">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𝑈</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m:rPr>
                              <m:sty m:val="p"/>
                            </m:rPr>
                            <a:rPr lang="en-CA" sz="2400" b="0" i="0" smtClean="0">
                              <a:latin typeface="Cambria Math" panose="02040503050406030204" pitchFamily="18" charset="0"/>
                            </a:rPr>
                            <m:t>Π</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r>
                        <a:rPr lang="en-CA" sz="2400" b="0" i="1" smtClean="0">
                          <a:latin typeface="Cambria Math" panose="02040503050406030204" pitchFamily="18" charset="0"/>
                        </a:rPr>
                        <m:t>𝛼</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𝐵</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≡0</m:t>
                      </m:r>
                    </m:oMath>
                  </m:oMathPara>
                </a14:m>
                <a:endParaRPr lang="en-CA" sz="2400" b="0" dirty="0"/>
              </a:p>
              <a:p>
                <a:r>
                  <a:rPr lang="en-CA" sz="2400" dirty="0"/>
                  <a:t>What do we learn from this result? </a:t>
                </a:r>
              </a:p>
              <a:p>
                <a:pPr lvl="1"/>
                <a:r>
                  <a:rPr lang="en-CA" sz="2200" dirty="0"/>
                  <a:t>What are the signs of these derivatives? </a:t>
                </a:r>
              </a:p>
              <a:p>
                <a:pPr lvl="1"/>
                <a:r>
                  <a:rPr lang="en-CA" sz="2200" dirty="0"/>
                  <a:t>How do they differ based on payment schemes?</a:t>
                </a:r>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533400" y="990600"/>
                <a:ext cx="9323832" cy="5189537"/>
              </a:xfrm>
              <a:blipFill>
                <a:blip r:embed="rId3"/>
                <a:stretch>
                  <a:fillRect l="-523" t="-1293"/>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Characterizing an Equilibrium </a:t>
            </a:r>
            <a:endParaRPr lang="en-US" sz="4000" dirty="0">
              <a:cs typeface="Times New Roman" panose="02020603050405020304" pitchFamily="18" charset="0"/>
            </a:endParaRPr>
          </a:p>
        </p:txBody>
      </p:sp>
    </p:spTree>
    <p:extLst>
      <p:ext uri="{BB962C8B-B14F-4D97-AF65-F5344CB8AC3E}">
        <p14:creationId xmlns:p14="http://schemas.microsoft.com/office/powerpoint/2010/main" val="29343189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533400" y="990600"/>
                <a:ext cx="9323832" cy="5189537"/>
              </a:xfrm>
            </p:spPr>
            <p:txBody>
              <a:bodyPr>
                <a:normAutofit/>
              </a:bodyPr>
              <a:lstStyle/>
              <a:p>
                <a:r>
                  <a:rPr lang="en-CA" sz="2400" dirty="0"/>
                  <a:t>What if the payment scheme is capitation? </a:t>
                </a:r>
              </a:p>
              <a:p>
                <a:r>
                  <a:rPr lang="en-CA" sz="2400" dirty="0"/>
                  <a:t>Then </a:t>
                </a:r>
                <a14:m>
                  <m:oMath xmlns:m="http://schemas.openxmlformats.org/officeDocument/2006/math">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m:rPr>
                            <m:sty m:val="p"/>
                          </m:rPr>
                          <a:rPr lang="en-CA" sz="2400" b="0" i="0" smtClean="0">
                            <a:latin typeface="Cambria Math" panose="02040503050406030204" pitchFamily="18" charset="0"/>
                          </a:rPr>
                          <m:t>Π</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r>
                          <a:rPr lang="en-CA" sz="2400" b="0" i="1" smtClean="0">
                            <a:latin typeface="Cambria Math" panose="02040503050406030204" pitchFamily="18" charset="0"/>
                          </a:rPr>
                          <m:t> </m:t>
                        </m:r>
                      </m:den>
                    </m:f>
                    <m:r>
                      <a:rPr lang="en-CA" sz="2400" b="0" i="1" smtClean="0">
                        <a:latin typeface="Cambria Math" panose="02040503050406030204" pitchFamily="18" charset="0"/>
                      </a:rPr>
                      <m:t>=0</m:t>
                    </m:r>
                  </m:oMath>
                </a14:m>
                <a:endParaRPr lang="en-CA" sz="2400" dirty="0"/>
              </a:p>
              <a:p>
                <a:pPr marL="0" indent="0">
                  <a:buNone/>
                </a:pPr>
                <a14:m>
                  <m:oMathPara xmlns:m="http://schemas.openxmlformats.org/officeDocument/2006/math">
                    <m:oMathParaPr>
                      <m:jc m:val="centerGroup"/>
                    </m:oMathParaPr>
                    <m:oMath xmlns:m="http://schemas.openxmlformats.org/officeDocument/2006/math">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𝑈</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r>
                        <a:rPr lang="en-CA" sz="2400" b="0" i="1" smtClean="0">
                          <a:latin typeface="Cambria Math" panose="02040503050406030204" pitchFamily="18" charset="0"/>
                        </a:rPr>
                        <m:t>𝛼</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𝐵</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≡0</m:t>
                      </m:r>
                    </m:oMath>
                  </m:oMathPara>
                </a14:m>
                <a:endParaRPr lang="en-CA" sz="2400" b="0" dirty="0"/>
              </a:p>
              <a:p>
                <a:r>
                  <a:rPr lang="en-CA" sz="2400" dirty="0"/>
                  <a:t>What is the equilibrium level of quantity provided?</a:t>
                </a:r>
                <a:endParaRPr lang="en-CA" sz="2200" dirty="0"/>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533400" y="990600"/>
                <a:ext cx="9323832" cy="5189537"/>
              </a:xfrm>
              <a:blipFill>
                <a:blip r:embed="rId3"/>
                <a:stretch>
                  <a:fillRect l="-523" t="-1293"/>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Characterizing an Equilibrium </a:t>
            </a:r>
            <a:r>
              <a:rPr lang="en-CA" sz="4000" dirty="0">
                <a:solidFill>
                  <a:schemeClr val="accent2">
                    <a:lumMod val="75000"/>
                  </a:schemeClr>
                </a:solidFill>
                <a:cs typeface="Times New Roman" panose="02020603050405020304" pitchFamily="18" charset="0"/>
              </a:rPr>
              <a:t>1: Capitation</a:t>
            </a:r>
            <a:endParaRPr lang="en-US" sz="4000" dirty="0">
              <a:solidFill>
                <a:schemeClr val="accent2">
                  <a:lumMod val="75000"/>
                </a:schemeClr>
              </a:solidFill>
              <a:cs typeface="Times New Roman" panose="02020603050405020304" pitchFamily="18" charset="0"/>
            </a:endParaRPr>
          </a:p>
        </p:txBody>
      </p:sp>
    </p:spTree>
    <p:extLst>
      <p:ext uri="{BB962C8B-B14F-4D97-AF65-F5344CB8AC3E}">
        <p14:creationId xmlns:p14="http://schemas.microsoft.com/office/powerpoint/2010/main" val="719784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D8E3D-AAD4-6021-DEAC-CC823A510110}"/>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2141CAD4-BB08-D50E-D5F0-AEBF2AA700CD}"/>
              </a:ext>
            </a:extLst>
          </p:cNvPr>
          <p:cNvPicPr>
            <a:picLocks noChangeAspect="1"/>
          </p:cNvPicPr>
          <p:nvPr/>
        </p:nvPicPr>
        <p:blipFill>
          <a:blip r:embed="rId3"/>
          <a:stretch>
            <a:fillRect/>
          </a:stretch>
        </p:blipFill>
        <p:spPr>
          <a:xfrm>
            <a:off x="304800" y="677863"/>
            <a:ext cx="9335803" cy="6325483"/>
          </a:xfrm>
          <a:prstGeom prst="rect">
            <a:avLst/>
          </a:prstGeom>
        </p:spPr>
      </p:pic>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Characterizing an Equilibrium </a:t>
            </a:r>
            <a:r>
              <a:rPr lang="en-CA" sz="4000" dirty="0">
                <a:solidFill>
                  <a:schemeClr val="accent2">
                    <a:lumMod val="75000"/>
                  </a:schemeClr>
                </a:solidFill>
                <a:cs typeface="Times New Roman" panose="02020603050405020304" pitchFamily="18" charset="0"/>
              </a:rPr>
              <a:t>1: Capitation</a:t>
            </a:r>
            <a:endParaRPr lang="en-US" sz="4000" dirty="0">
              <a:solidFill>
                <a:schemeClr val="accent2">
                  <a:lumMod val="75000"/>
                </a:schemeClr>
              </a:solidFill>
              <a:cs typeface="Times New Roman" panose="02020603050405020304" pitchFamily="18" charset="0"/>
            </a:endParaRPr>
          </a:p>
        </p:txBody>
      </p:sp>
      <p:cxnSp>
        <p:nvCxnSpPr>
          <p:cNvPr id="7" name="Straight Connector 6">
            <a:extLst>
              <a:ext uri="{FF2B5EF4-FFF2-40B4-BE49-F238E27FC236}">
                <a16:creationId xmlns:a16="http://schemas.microsoft.com/office/drawing/2014/main" id="{A916F728-F070-D897-3324-D7335D6377D8}"/>
              </a:ext>
            </a:extLst>
          </p:cNvPr>
          <p:cNvCxnSpPr>
            <a:cxnSpLocks/>
          </p:cNvCxnSpPr>
          <p:nvPr/>
        </p:nvCxnSpPr>
        <p:spPr>
          <a:xfrm flipV="1">
            <a:off x="5486400" y="1219200"/>
            <a:ext cx="0" cy="419100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CFB1C04-5D97-9A03-7A42-3683531B0838}"/>
                  </a:ext>
                </a:extLst>
              </p:cNvPr>
              <p:cNvSpPr txBox="1"/>
              <p:nvPr/>
            </p:nvSpPr>
            <p:spPr>
              <a:xfrm>
                <a:off x="3928122" y="1224585"/>
                <a:ext cx="1341649" cy="370230"/>
              </a:xfrm>
              <a:prstGeom prst="rect">
                <a:avLst/>
              </a:prstGeom>
              <a:solidFill>
                <a:schemeClr val="accent2">
                  <a:lumMod val="75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CA" b="0" i="1" smtClean="0">
                              <a:solidFill>
                                <a:schemeClr val="bg1"/>
                              </a:solidFill>
                              <a:latin typeface="Cambria Math" panose="02040503050406030204" pitchFamily="18" charset="0"/>
                            </a:rPr>
                          </m:ctrlPr>
                        </m:sSupPr>
                        <m:e>
                          <m:r>
                            <a:rPr lang="en-CA" b="0" i="1" smtClean="0">
                              <a:solidFill>
                                <a:schemeClr val="bg1"/>
                              </a:solidFill>
                              <a:latin typeface="Cambria Math" panose="02040503050406030204" pitchFamily="18" charset="0"/>
                            </a:rPr>
                            <m:t>𝑞</m:t>
                          </m:r>
                        </m:e>
                        <m:sup>
                          <m:r>
                            <a:rPr lang="en-CA" b="0" i="1" smtClean="0">
                              <a:solidFill>
                                <a:schemeClr val="bg1"/>
                              </a:solidFill>
                              <a:latin typeface="Cambria Math" panose="02040503050406030204" pitchFamily="18" charset="0"/>
                            </a:rPr>
                            <m:t>𝐶𝐴𝑃</m:t>
                          </m:r>
                        </m:sup>
                      </m:sSup>
                      <m:r>
                        <a:rPr lang="en-CA" b="0" i="1" smtClean="0">
                          <a:solidFill>
                            <a:schemeClr val="bg1"/>
                          </a:solidFill>
                          <a:latin typeface="Cambria Math" panose="02040503050406030204" pitchFamily="18" charset="0"/>
                        </a:rPr>
                        <m:t>=</m:t>
                      </m:r>
                      <m:r>
                        <a:rPr lang="en-CA" b="0" i="1" smtClean="0">
                          <a:solidFill>
                            <a:schemeClr val="bg1"/>
                          </a:solidFill>
                          <a:latin typeface="Cambria Math" panose="02040503050406030204" pitchFamily="18" charset="0"/>
                        </a:rPr>
                        <m:t>𝛼</m:t>
                      </m:r>
                      <m:r>
                        <a:rPr lang="en-CA" b="0" i="1" smtClean="0">
                          <a:solidFill>
                            <a:schemeClr val="bg1"/>
                          </a:solidFill>
                          <a:latin typeface="Cambria Math" panose="02040503050406030204" pitchFamily="18" charset="0"/>
                        </a:rPr>
                        <m:t>𝑞</m:t>
                      </m:r>
                      <m:r>
                        <a:rPr lang="en-CA" b="0" i="1" smtClean="0">
                          <a:solidFill>
                            <a:schemeClr val="bg1"/>
                          </a:solidFill>
                          <a:latin typeface="Cambria Math" panose="02040503050406030204" pitchFamily="18" charset="0"/>
                        </a:rPr>
                        <m:t>′</m:t>
                      </m:r>
                    </m:oMath>
                  </m:oMathPara>
                </a14:m>
                <a:endParaRPr lang="en-CA" dirty="0">
                  <a:solidFill>
                    <a:schemeClr val="bg1"/>
                  </a:solidFill>
                </a:endParaRPr>
              </a:p>
            </p:txBody>
          </p:sp>
        </mc:Choice>
        <mc:Fallback xmlns="">
          <p:sp>
            <p:nvSpPr>
              <p:cNvPr id="9" name="TextBox 8">
                <a:extLst>
                  <a:ext uri="{FF2B5EF4-FFF2-40B4-BE49-F238E27FC236}">
                    <a16:creationId xmlns:a16="http://schemas.microsoft.com/office/drawing/2014/main" id="{FCFB1C04-5D97-9A03-7A42-3683531B0838}"/>
                  </a:ext>
                </a:extLst>
              </p:cNvPr>
              <p:cNvSpPr txBox="1">
                <a:spLocks noRot="1" noChangeAspect="1" noMove="1" noResize="1" noEditPoints="1" noAdjustHandles="1" noChangeArrowheads="1" noChangeShapeType="1" noTextEdit="1"/>
              </p:cNvSpPr>
              <p:nvPr/>
            </p:nvSpPr>
            <p:spPr>
              <a:xfrm>
                <a:off x="3928122" y="1224585"/>
                <a:ext cx="1341649" cy="370230"/>
              </a:xfrm>
              <a:prstGeom prst="rect">
                <a:avLst/>
              </a:prstGeom>
              <a:blipFill>
                <a:blip r:embed="rId4"/>
                <a:stretch>
                  <a:fillRect b="-16393"/>
                </a:stretch>
              </a:blipFill>
            </p:spPr>
            <p:txBody>
              <a:bodyPr/>
              <a:lstStyle/>
              <a:p>
                <a:r>
                  <a:rPr lang="en-CA">
                    <a:noFill/>
                  </a:rPr>
                  <a:t> </a:t>
                </a:r>
              </a:p>
            </p:txBody>
          </p:sp>
        </mc:Fallback>
      </mc:AlternateContent>
    </p:spTree>
    <p:extLst>
      <p:ext uri="{BB962C8B-B14F-4D97-AF65-F5344CB8AC3E}">
        <p14:creationId xmlns:p14="http://schemas.microsoft.com/office/powerpoint/2010/main" val="37436741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533400" y="990600"/>
                <a:ext cx="9323832" cy="5189537"/>
              </a:xfrm>
            </p:spPr>
            <p:txBody>
              <a:bodyPr>
                <a:normAutofit/>
              </a:bodyPr>
              <a:lstStyle/>
              <a:p>
                <a:r>
                  <a:rPr lang="en-CA" sz="2400" dirty="0"/>
                  <a:t>What if the payment scheme is full fee-for-service? </a:t>
                </a:r>
              </a:p>
              <a:p>
                <a:r>
                  <a:rPr lang="en-CA" sz="2400" dirty="0"/>
                  <a:t>Then suppose </a:t>
                </a:r>
                <a14:m>
                  <m:oMath xmlns:m="http://schemas.openxmlformats.org/officeDocument/2006/math">
                    <m:r>
                      <a:rPr lang="en-CA" sz="2400" b="0" i="1" smtClean="0">
                        <a:latin typeface="Cambria Math" panose="02040503050406030204" pitchFamily="18" charset="0"/>
                      </a:rPr>
                      <m:t>𝜋</m:t>
                    </m:r>
                    <m:r>
                      <a:rPr lang="en-CA" sz="2400" b="0" i="1" smtClean="0">
                        <a:latin typeface="Cambria Math" panose="02040503050406030204" pitchFamily="18" charset="0"/>
                      </a:rPr>
                      <m:t>=</m:t>
                    </m:r>
                    <m:r>
                      <a:rPr lang="en-CA" sz="2400" b="0" i="1" smtClean="0">
                        <a:latin typeface="Cambria Math" panose="02040503050406030204" pitchFamily="18" charset="0"/>
                      </a:rPr>
                      <m:t>𝑟𝑞</m:t>
                    </m:r>
                    <m:r>
                      <a:rPr lang="en-CA" sz="2400" b="0" i="1" smtClean="0">
                        <a:latin typeface="Cambria Math" panose="02040503050406030204" pitchFamily="18" charset="0"/>
                      </a:rPr>
                      <m:t>−</m:t>
                    </m:r>
                    <m:r>
                      <a:rPr lang="en-CA" sz="2400" b="0" i="1" smtClean="0">
                        <a:latin typeface="Cambria Math" panose="02040503050406030204" pitchFamily="18" charset="0"/>
                      </a:rPr>
                      <m:t>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 </m:t>
                    </m:r>
                    <m:r>
                      <a:rPr lang="en-CA" sz="2400" b="0" i="1" smtClean="0">
                        <a:latin typeface="Cambria Math" panose="02040503050406030204" pitchFamily="18" charset="0"/>
                      </a:rPr>
                      <m:t>𝑠𝑜</m:t>
                    </m:r>
                    <m:r>
                      <a:rPr lang="en-CA" sz="2400" b="0" i="1" smtClean="0">
                        <a:latin typeface="Cambria Math" panose="02040503050406030204" pitchFamily="18" charset="0"/>
                      </a:rPr>
                      <m:t> </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m:rPr>
                            <m:sty m:val="p"/>
                          </m:rPr>
                          <a:rPr lang="en-CA" sz="2400" b="0" i="0" smtClean="0">
                            <a:latin typeface="Cambria Math" panose="02040503050406030204" pitchFamily="18" charset="0"/>
                          </a:rPr>
                          <m:t>Π</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r>
                          <a:rPr lang="en-CA" sz="2400" b="0" i="1" smtClean="0">
                            <a:latin typeface="Cambria Math" panose="02040503050406030204" pitchFamily="18" charset="0"/>
                          </a:rPr>
                          <m:t> </m:t>
                        </m:r>
                      </m:den>
                    </m:f>
                    <m:r>
                      <a:rPr lang="en-CA" sz="2400" b="0" i="1" smtClean="0">
                        <a:latin typeface="Cambria Math" panose="02040503050406030204" pitchFamily="18" charset="0"/>
                      </a:rPr>
                      <m:t>=</m:t>
                    </m:r>
                    <m:r>
                      <a:rPr lang="en-CA" sz="2400" b="0" i="1" smtClean="0">
                        <a:latin typeface="Cambria Math" panose="02040503050406030204" pitchFamily="18" charset="0"/>
                      </a:rPr>
                      <m:t>𝑟</m:t>
                    </m:r>
                    <m:r>
                      <a:rPr lang="en-CA" sz="2400" b="0" i="1" smtClean="0">
                        <a:latin typeface="Cambria Math" panose="02040503050406030204" pitchFamily="18" charset="0"/>
                      </a:rPr>
                      <m:t>−</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𝐶</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oMath>
                </a14:m>
                <a:endParaRPr lang="en-CA" sz="2400" dirty="0"/>
              </a:p>
              <a:p>
                <a:pPr marL="0" indent="0">
                  <a:buNone/>
                </a:pPr>
                <a14:m>
                  <m:oMathPara xmlns:m="http://schemas.openxmlformats.org/officeDocument/2006/math">
                    <m:oMathParaPr>
                      <m:jc m:val="centerGroup"/>
                    </m:oMathParaPr>
                    <m:oMath xmlns:m="http://schemas.openxmlformats.org/officeDocument/2006/math">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𝑈</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r>
                        <a:rPr lang="en-CA" sz="2400" b="0" i="1" smtClean="0">
                          <a:latin typeface="Cambria Math" panose="02040503050406030204" pitchFamily="18" charset="0"/>
                        </a:rPr>
                        <m:t>𝑟</m:t>
                      </m:r>
                      <m:r>
                        <a:rPr lang="en-CA" sz="2400" b="0" i="1" smtClean="0">
                          <a:latin typeface="Cambria Math" panose="02040503050406030204" pitchFamily="18" charset="0"/>
                        </a:rPr>
                        <m:t>−</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𝐶</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r>
                        <a:rPr lang="en-CA" sz="2400" b="0" i="1" smtClean="0">
                          <a:latin typeface="Cambria Math" panose="02040503050406030204" pitchFamily="18" charset="0"/>
                        </a:rPr>
                        <m:t>𝛼</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𝐵</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≡0</m:t>
                      </m:r>
                    </m:oMath>
                  </m:oMathPara>
                </a14:m>
                <a:endParaRPr lang="en-CA" sz="2400" b="0" dirty="0"/>
              </a:p>
              <a:p>
                <a:r>
                  <a:rPr lang="en-CA" sz="2400" dirty="0"/>
                  <a:t>What is the equilibrium level of quantity provided?</a:t>
                </a:r>
              </a:p>
              <a:p>
                <a:pPr lvl="1"/>
                <a:r>
                  <a:rPr lang="en-CA" sz="2000" dirty="0"/>
                  <a:t>What if we assume that marginal costs are constant?</a:t>
                </a:r>
              </a:p>
              <a:p>
                <a:pPr lvl="1"/>
                <a:r>
                  <a:rPr lang="en-CA" sz="2000" dirty="0"/>
                  <a:t>Is there any assumption here that gets us to patient optimum? </a:t>
                </a:r>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533400" y="990600"/>
                <a:ext cx="9323832" cy="5189537"/>
              </a:xfrm>
              <a:blipFill>
                <a:blip r:embed="rId3"/>
                <a:stretch>
                  <a:fillRect l="-523" t="-1293"/>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Characterizing an Equilibrium </a:t>
            </a:r>
            <a:r>
              <a:rPr lang="en-CA" sz="4000" dirty="0">
                <a:solidFill>
                  <a:schemeClr val="accent3">
                    <a:lumMod val="75000"/>
                  </a:schemeClr>
                </a:solidFill>
                <a:cs typeface="Times New Roman" panose="02020603050405020304" pitchFamily="18" charset="0"/>
              </a:rPr>
              <a:t>2: FFS</a:t>
            </a:r>
            <a:endParaRPr lang="en-US" sz="4000" dirty="0">
              <a:solidFill>
                <a:schemeClr val="accent3">
                  <a:lumMod val="75000"/>
                </a:schemeClr>
              </a:solidFill>
              <a:cs typeface="Times New Roman" panose="02020603050405020304" pitchFamily="18" charset="0"/>
            </a:endParaRPr>
          </a:p>
        </p:txBody>
      </p:sp>
    </p:spTree>
    <p:extLst>
      <p:ext uri="{BB962C8B-B14F-4D97-AF65-F5344CB8AC3E}">
        <p14:creationId xmlns:p14="http://schemas.microsoft.com/office/powerpoint/2010/main" val="2439972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D8E3D-AAD4-6021-DEAC-CC823A510110}"/>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2141CAD4-BB08-D50E-D5F0-AEBF2AA700CD}"/>
              </a:ext>
            </a:extLst>
          </p:cNvPr>
          <p:cNvPicPr>
            <a:picLocks noChangeAspect="1"/>
          </p:cNvPicPr>
          <p:nvPr/>
        </p:nvPicPr>
        <p:blipFill>
          <a:blip r:embed="rId3"/>
          <a:stretch>
            <a:fillRect/>
          </a:stretch>
        </p:blipFill>
        <p:spPr>
          <a:xfrm>
            <a:off x="304800" y="677863"/>
            <a:ext cx="9335803" cy="6325483"/>
          </a:xfrm>
          <a:prstGeom prst="rect">
            <a:avLst/>
          </a:prstGeom>
        </p:spPr>
      </p:pic>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365760"/>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Characterizing an Equilibrium </a:t>
            </a:r>
            <a:r>
              <a:rPr lang="en-CA" sz="4000" dirty="0">
                <a:solidFill>
                  <a:schemeClr val="accent3">
                    <a:lumMod val="75000"/>
                  </a:schemeClr>
                </a:solidFill>
                <a:cs typeface="Times New Roman" panose="02020603050405020304" pitchFamily="18" charset="0"/>
              </a:rPr>
              <a:t>2: FFS</a:t>
            </a:r>
            <a:endParaRPr lang="en-US" sz="4000" dirty="0">
              <a:solidFill>
                <a:schemeClr val="accent3">
                  <a:lumMod val="75000"/>
                </a:schemeClr>
              </a:solidFill>
              <a:cs typeface="Times New Roman" panose="02020603050405020304" pitchFamily="18" charset="0"/>
            </a:endParaRPr>
          </a:p>
        </p:txBody>
      </p:sp>
      <p:cxnSp>
        <p:nvCxnSpPr>
          <p:cNvPr id="7" name="Straight Connector 6">
            <a:extLst>
              <a:ext uri="{FF2B5EF4-FFF2-40B4-BE49-F238E27FC236}">
                <a16:creationId xmlns:a16="http://schemas.microsoft.com/office/drawing/2014/main" id="{A916F728-F070-D897-3324-D7335D6377D8}"/>
              </a:ext>
            </a:extLst>
          </p:cNvPr>
          <p:cNvCxnSpPr>
            <a:cxnSpLocks/>
          </p:cNvCxnSpPr>
          <p:nvPr/>
        </p:nvCxnSpPr>
        <p:spPr>
          <a:xfrm flipV="1">
            <a:off x="5486400" y="1219200"/>
            <a:ext cx="0" cy="419100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CFB1C04-5D97-9A03-7A42-3683531B0838}"/>
                  </a:ext>
                </a:extLst>
              </p:cNvPr>
              <p:cNvSpPr txBox="1"/>
              <p:nvPr/>
            </p:nvSpPr>
            <p:spPr>
              <a:xfrm>
                <a:off x="4109617" y="1217089"/>
                <a:ext cx="1341649" cy="370230"/>
              </a:xfrm>
              <a:prstGeom prst="rect">
                <a:avLst/>
              </a:prstGeom>
              <a:solidFill>
                <a:schemeClr val="accent2">
                  <a:lumMod val="75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CA" b="0" i="1" smtClean="0">
                              <a:solidFill>
                                <a:schemeClr val="bg1"/>
                              </a:solidFill>
                              <a:latin typeface="Cambria Math" panose="02040503050406030204" pitchFamily="18" charset="0"/>
                            </a:rPr>
                          </m:ctrlPr>
                        </m:sSupPr>
                        <m:e>
                          <m:r>
                            <a:rPr lang="en-CA" b="0" i="1" smtClean="0">
                              <a:solidFill>
                                <a:schemeClr val="bg1"/>
                              </a:solidFill>
                              <a:latin typeface="Cambria Math" panose="02040503050406030204" pitchFamily="18" charset="0"/>
                            </a:rPr>
                            <m:t>𝑞</m:t>
                          </m:r>
                        </m:e>
                        <m:sup>
                          <m:r>
                            <a:rPr lang="en-CA" b="0" i="1" smtClean="0">
                              <a:solidFill>
                                <a:schemeClr val="bg1"/>
                              </a:solidFill>
                              <a:latin typeface="Cambria Math" panose="02040503050406030204" pitchFamily="18" charset="0"/>
                            </a:rPr>
                            <m:t>𝐶𝐴𝑃</m:t>
                          </m:r>
                        </m:sup>
                      </m:sSup>
                      <m:r>
                        <a:rPr lang="en-CA" b="0" i="1" smtClean="0">
                          <a:solidFill>
                            <a:schemeClr val="bg1"/>
                          </a:solidFill>
                          <a:latin typeface="Cambria Math" panose="02040503050406030204" pitchFamily="18" charset="0"/>
                        </a:rPr>
                        <m:t>=</m:t>
                      </m:r>
                      <m:r>
                        <a:rPr lang="en-CA" b="0" i="1" smtClean="0">
                          <a:solidFill>
                            <a:schemeClr val="bg1"/>
                          </a:solidFill>
                          <a:latin typeface="Cambria Math" panose="02040503050406030204" pitchFamily="18" charset="0"/>
                        </a:rPr>
                        <m:t>𝛼</m:t>
                      </m:r>
                      <m:r>
                        <a:rPr lang="en-CA" b="0" i="1" smtClean="0">
                          <a:solidFill>
                            <a:schemeClr val="bg1"/>
                          </a:solidFill>
                          <a:latin typeface="Cambria Math" panose="02040503050406030204" pitchFamily="18" charset="0"/>
                        </a:rPr>
                        <m:t>𝑞</m:t>
                      </m:r>
                      <m:r>
                        <a:rPr lang="en-CA" b="0" i="1" smtClean="0">
                          <a:solidFill>
                            <a:schemeClr val="bg1"/>
                          </a:solidFill>
                          <a:latin typeface="Cambria Math" panose="02040503050406030204" pitchFamily="18" charset="0"/>
                        </a:rPr>
                        <m:t>′</m:t>
                      </m:r>
                    </m:oMath>
                  </m:oMathPara>
                </a14:m>
                <a:endParaRPr lang="en-CA" dirty="0">
                  <a:solidFill>
                    <a:schemeClr val="bg1"/>
                  </a:solidFill>
                </a:endParaRPr>
              </a:p>
            </p:txBody>
          </p:sp>
        </mc:Choice>
        <mc:Fallback xmlns="">
          <p:sp>
            <p:nvSpPr>
              <p:cNvPr id="9" name="TextBox 8">
                <a:extLst>
                  <a:ext uri="{FF2B5EF4-FFF2-40B4-BE49-F238E27FC236}">
                    <a16:creationId xmlns:a16="http://schemas.microsoft.com/office/drawing/2014/main" id="{FCFB1C04-5D97-9A03-7A42-3683531B0838}"/>
                  </a:ext>
                </a:extLst>
              </p:cNvPr>
              <p:cNvSpPr txBox="1">
                <a:spLocks noRot="1" noChangeAspect="1" noMove="1" noResize="1" noEditPoints="1" noAdjustHandles="1" noChangeArrowheads="1" noChangeShapeType="1" noTextEdit="1"/>
              </p:cNvSpPr>
              <p:nvPr/>
            </p:nvSpPr>
            <p:spPr>
              <a:xfrm>
                <a:off x="4109617" y="1217089"/>
                <a:ext cx="1341649" cy="370230"/>
              </a:xfrm>
              <a:prstGeom prst="rect">
                <a:avLst/>
              </a:prstGeom>
              <a:blipFill>
                <a:blip r:embed="rId4"/>
                <a:stretch>
                  <a:fillRect b="-18333"/>
                </a:stretch>
              </a:blipFill>
            </p:spPr>
            <p:txBody>
              <a:bodyPr/>
              <a:lstStyle/>
              <a:p>
                <a:r>
                  <a:rPr lang="en-CA">
                    <a:noFill/>
                  </a:rPr>
                  <a:t> </a:t>
                </a:r>
              </a:p>
            </p:txBody>
          </p:sp>
        </mc:Fallback>
      </mc:AlternateContent>
      <p:cxnSp>
        <p:nvCxnSpPr>
          <p:cNvPr id="4" name="Straight Connector 3">
            <a:extLst>
              <a:ext uri="{FF2B5EF4-FFF2-40B4-BE49-F238E27FC236}">
                <a16:creationId xmlns:a16="http://schemas.microsoft.com/office/drawing/2014/main" id="{C462CF44-D592-86F7-F9A7-8816FCAE24F6}"/>
              </a:ext>
            </a:extLst>
          </p:cNvPr>
          <p:cNvCxnSpPr>
            <a:cxnSpLocks/>
          </p:cNvCxnSpPr>
          <p:nvPr/>
        </p:nvCxnSpPr>
        <p:spPr>
          <a:xfrm flipV="1">
            <a:off x="6858000" y="1219200"/>
            <a:ext cx="0" cy="4191000"/>
          </a:xfrm>
          <a:prstGeom prst="line">
            <a:avLst/>
          </a:prstGeom>
          <a:ln w="57150">
            <a:solidFill>
              <a:schemeClr val="accent3">
                <a:lumMod val="75000"/>
              </a:schemeClr>
            </a:solidFill>
            <a:prstDash val="dash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2137ED6-DFE9-59E1-D71B-95625146E371}"/>
                  </a:ext>
                </a:extLst>
              </p:cNvPr>
              <p:cNvSpPr txBox="1"/>
              <p:nvPr/>
            </p:nvSpPr>
            <p:spPr>
              <a:xfrm>
                <a:off x="6957362" y="1249222"/>
                <a:ext cx="698204" cy="370230"/>
              </a:xfrm>
              <a:prstGeom prst="rect">
                <a:avLst/>
              </a:prstGeom>
              <a:solidFill>
                <a:schemeClr val="accent3">
                  <a:lumMod val="75000"/>
                </a:schemeClr>
              </a:solid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CA" b="0" i="1" smtClean="0">
                              <a:solidFill>
                                <a:schemeClr val="bg1"/>
                              </a:solidFill>
                              <a:latin typeface="Cambria Math" panose="02040503050406030204" pitchFamily="18" charset="0"/>
                            </a:rPr>
                          </m:ctrlPr>
                        </m:sSupPr>
                        <m:e>
                          <m:r>
                            <a:rPr lang="en-CA" b="0" i="1" smtClean="0">
                              <a:solidFill>
                                <a:schemeClr val="bg1"/>
                              </a:solidFill>
                              <a:latin typeface="Cambria Math" panose="02040503050406030204" pitchFamily="18" charset="0"/>
                            </a:rPr>
                            <m:t>𝑞</m:t>
                          </m:r>
                        </m:e>
                        <m:sup>
                          <m:r>
                            <a:rPr lang="en-CA" b="0" i="1" smtClean="0">
                              <a:solidFill>
                                <a:schemeClr val="bg1"/>
                              </a:solidFill>
                              <a:latin typeface="Cambria Math" panose="02040503050406030204" pitchFamily="18" charset="0"/>
                            </a:rPr>
                            <m:t>𝐹𝐹𝑆</m:t>
                          </m:r>
                        </m:sup>
                      </m:sSup>
                    </m:oMath>
                  </m:oMathPara>
                </a14:m>
                <a:endParaRPr lang="en-CA" dirty="0">
                  <a:solidFill>
                    <a:schemeClr val="bg1"/>
                  </a:solidFill>
                </a:endParaRPr>
              </a:p>
            </p:txBody>
          </p:sp>
        </mc:Choice>
        <mc:Fallback xmlns="">
          <p:sp>
            <p:nvSpPr>
              <p:cNvPr id="10" name="TextBox 9">
                <a:extLst>
                  <a:ext uri="{FF2B5EF4-FFF2-40B4-BE49-F238E27FC236}">
                    <a16:creationId xmlns:a16="http://schemas.microsoft.com/office/drawing/2014/main" id="{E2137ED6-DFE9-59E1-D71B-95625146E371}"/>
                  </a:ext>
                </a:extLst>
              </p:cNvPr>
              <p:cNvSpPr txBox="1">
                <a:spLocks noRot="1" noChangeAspect="1" noMove="1" noResize="1" noEditPoints="1" noAdjustHandles="1" noChangeArrowheads="1" noChangeShapeType="1" noTextEdit="1"/>
              </p:cNvSpPr>
              <p:nvPr/>
            </p:nvSpPr>
            <p:spPr>
              <a:xfrm>
                <a:off x="6957362" y="1249222"/>
                <a:ext cx="698204" cy="370230"/>
              </a:xfrm>
              <a:prstGeom prst="rect">
                <a:avLst/>
              </a:prstGeom>
              <a:blipFill>
                <a:blip r:embed="rId5"/>
                <a:stretch>
                  <a:fillRect b="-8197"/>
                </a:stretch>
              </a:blipFill>
            </p:spPr>
            <p:txBody>
              <a:bodyPr/>
              <a:lstStyle/>
              <a:p>
                <a:r>
                  <a:rPr lang="en-CA">
                    <a:noFill/>
                  </a:rPr>
                  <a:t> </a:t>
                </a:r>
              </a:p>
            </p:txBody>
          </p:sp>
        </mc:Fallback>
      </mc:AlternateContent>
    </p:spTree>
    <p:extLst>
      <p:ext uri="{BB962C8B-B14F-4D97-AF65-F5344CB8AC3E}">
        <p14:creationId xmlns:p14="http://schemas.microsoft.com/office/powerpoint/2010/main" val="34358011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609600" y="857052"/>
            <a:ext cx="9247632" cy="5323086"/>
          </a:xfrm>
        </p:spPr>
        <p:txBody>
          <a:bodyPr>
            <a:normAutofit/>
          </a:bodyPr>
          <a:lstStyle/>
          <a:p>
            <a:r>
              <a:rPr lang="en-CA" sz="2400" dirty="0"/>
              <a:t>Capitation leads to underinvestment</a:t>
            </a:r>
          </a:p>
          <a:p>
            <a:r>
              <a:rPr lang="en-CA" sz="2400" dirty="0"/>
              <a:t>Cost reimbursement/prospective payment/FFS leads to overinvestment</a:t>
            </a:r>
          </a:p>
          <a:p>
            <a:r>
              <a:rPr lang="en-CA" sz="2400" dirty="0"/>
              <a:t>Can we </a:t>
            </a:r>
            <a:r>
              <a:rPr lang="en-CA" sz="2400" b="1" dirty="0"/>
              <a:t>split the difference</a:t>
            </a:r>
            <a:r>
              <a:rPr lang="en-CA" sz="2400" dirty="0"/>
              <a:t>?</a:t>
            </a:r>
          </a:p>
        </p:txBody>
      </p:sp>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232211"/>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What is the social optimum?</a:t>
            </a:r>
            <a:endParaRPr lang="en-US" sz="4000" dirty="0">
              <a:solidFill>
                <a:schemeClr val="accent3">
                  <a:lumMod val="75000"/>
                </a:schemeClr>
              </a:solidFill>
              <a:cs typeface="Times New Roman" panose="02020603050405020304" pitchFamily="18" charset="0"/>
            </a:endParaRPr>
          </a:p>
        </p:txBody>
      </p:sp>
    </p:spTree>
    <p:extLst>
      <p:ext uri="{BB962C8B-B14F-4D97-AF65-F5344CB8AC3E}">
        <p14:creationId xmlns:p14="http://schemas.microsoft.com/office/powerpoint/2010/main" val="30249719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609600" y="857052"/>
                <a:ext cx="9247632" cy="5323086"/>
              </a:xfrm>
            </p:spPr>
            <p:txBody>
              <a:bodyPr>
                <a:normAutofit/>
              </a:bodyPr>
              <a:lstStyle/>
              <a:p>
                <a:r>
                  <a:rPr lang="en-CA" sz="2400" dirty="0"/>
                  <a:t>Capitation leads to underinvestment</a:t>
                </a:r>
              </a:p>
              <a:p>
                <a:r>
                  <a:rPr lang="en-CA" sz="2400" dirty="0"/>
                  <a:t>Cost reimbursement/prospective payment/FFS leads to overinvestment</a:t>
                </a:r>
              </a:p>
              <a:p>
                <a:r>
                  <a:rPr lang="en-CA" sz="2400" dirty="0"/>
                  <a:t>Can we </a:t>
                </a:r>
                <a:r>
                  <a:rPr lang="en-CA" sz="2400" b="1" dirty="0"/>
                  <a:t>split the difference</a:t>
                </a:r>
                <a:r>
                  <a:rPr lang="en-CA" sz="2400" dirty="0"/>
                  <a:t>?</a:t>
                </a:r>
              </a:p>
              <a:p>
                <a:r>
                  <a:rPr lang="en-CA" sz="2400" dirty="0"/>
                  <a:t>Now consider the fully “mixed payment” model: </a:t>
                </a:r>
              </a:p>
              <a:p>
                <a:pPr marL="0"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rPr>
                        <m:t>𝑈</m:t>
                      </m:r>
                      <m:r>
                        <a:rPr lang="en-CA" sz="2400" b="0" i="1" smtClean="0">
                          <a:latin typeface="Cambria Math" panose="02040503050406030204" pitchFamily="18" charset="0"/>
                        </a:rPr>
                        <m:t>=</m:t>
                      </m:r>
                      <m:r>
                        <a:rPr lang="en-CA" sz="2400" b="0" i="1" smtClean="0">
                          <a:latin typeface="Cambria Math" panose="02040503050406030204" pitchFamily="18" charset="0"/>
                        </a:rPr>
                        <m:t>𝑎</m:t>
                      </m:r>
                      <m:r>
                        <a:rPr lang="en-CA" sz="2400" b="0" i="1" smtClean="0">
                          <a:latin typeface="Cambria Math" panose="02040503050406030204" pitchFamily="18" charset="0"/>
                        </a:rPr>
                        <m:t>+</m:t>
                      </m:r>
                      <m:r>
                        <a:rPr lang="en-CA" sz="2400" b="0" i="1" smtClean="0">
                          <a:latin typeface="Cambria Math" panose="02040503050406030204" pitchFamily="18" charset="0"/>
                        </a:rPr>
                        <m:t>𝑅</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𝛼</m:t>
                      </m:r>
                      <m:r>
                        <a:rPr lang="en-CA" sz="2400" b="0" i="1" smtClean="0">
                          <a:latin typeface="Cambria Math" panose="02040503050406030204" pitchFamily="18" charset="0"/>
                        </a:rPr>
                        <m:t>𝐵</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oMath>
                  </m:oMathPara>
                </a14:m>
                <a:endParaRPr lang="en-CA" sz="2400" b="0" dirty="0"/>
              </a:p>
              <a:p>
                <a:pPr marL="0"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rPr>
                        <m:t>𝑈</m:t>
                      </m:r>
                      <m:r>
                        <a:rPr lang="en-CA" sz="2400" b="0" i="1" smtClean="0">
                          <a:latin typeface="Cambria Math" panose="02040503050406030204" pitchFamily="18" charset="0"/>
                        </a:rPr>
                        <m:t>=</m:t>
                      </m:r>
                      <m:r>
                        <a:rPr lang="en-CA" sz="2400" b="0" i="1" smtClean="0">
                          <a:latin typeface="Cambria Math" panose="02040503050406030204" pitchFamily="18" charset="0"/>
                        </a:rPr>
                        <m:t>𝑎</m:t>
                      </m:r>
                      <m:r>
                        <a:rPr lang="en-CA" sz="2400" b="0" i="1" smtClean="0">
                          <a:latin typeface="Cambria Math" panose="02040503050406030204" pitchFamily="18" charset="0"/>
                        </a:rPr>
                        <m:t>+</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𝑟</m:t>
                          </m:r>
                          <m:r>
                            <a:rPr lang="en-CA" sz="2400" b="0" i="1" smtClean="0">
                              <a:latin typeface="Cambria Math" panose="02040503050406030204" pitchFamily="18" charset="0"/>
                            </a:rPr>
                            <m:t>−1</m:t>
                          </m:r>
                        </m:e>
                      </m:d>
                      <m:r>
                        <a:rPr lang="en-CA" sz="2400" b="0" i="1" smtClean="0">
                          <a:latin typeface="Cambria Math" panose="02040503050406030204" pitchFamily="18" charset="0"/>
                        </a:rPr>
                        <m:t>𝑐𝑞</m:t>
                      </m:r>
                      <m:r>
                        <a:rPr lang="en-CA" sz="2400" b="0" i="1" smtClean="0">
                          <a:latin typeface="Cambria Math" panose="02040503050406030204" pitchFamily="18" charset="0"/>
                        </a:rPr>
                        <m:t>+</m:t>
                      </m:r>
                      <m:r>
                        <a:rPr lang="en-CA" sz="2400" b="0" i="1" smtClean="0">
                          <a:latin typeface="Cambria Math" panose="02040503050406030204" pitchFamily="18" charset="0"/>
                        </a:rPr>
                        <m:t>𝛼</m:t>
                      </m:r>
                      <m:r>
                        <a:rPr lang="en-CA" sz="2400" b="0" i="1" smtClean="0">
                          <a:latin typeface="Cambria Math" panose="02040503050406030204" pitchFamily="18" charset="0"/>
                        </a:rPr>
                        <m:t>𝐵</m:t>
                      </m:r>
                      <m:r>
                        <a:rPr lang="en-CA" sz="2400" b="0" i="1" smtClean="0">
                          <a:latin typeface="Cambria Math" panose="02040503050406030204" pitchFamily="18" charset="0"/>
                        </a:rPr>
                        <m:t>(</m:t>
                      </m:r>
                      <m:r>
                        <a:rPr lang="en-CA" sz="2400" b="0" i="1" smtClean="0">
                          <a:latin typeface="Cambria Math" panose="02040503050406030204" pitchFamily="18" charset="0"/>
                        </a:rPr>
                        <m:t>𝑞</m:t>
                      </m:r>
                      <m:r>
                        <a:rPr lang="en-CA" sz="2400" b="0" i="1" smtClean="0">
                          <a:latin typeface="Cambria Math" panose="02040503050406030204" pitchFamily="18" charset="0"/>
                        </a:rPr>
                        <m:t>)</m:t>
                      </m:r>
                    </m:oMath>
                  </m:oMathPara>
                </a14:m>
                <a:endParaRPr lang="en-CA" sz="2400" dirty="0"/>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609600" y="857052"/>
                <a:ext cx="9247632" cy="5323086"/>
              </a:xfrm>
              <a:blipFill>
                <a:blip r:embed="rId3"/>
                <a:stretch>
                  <a:fillRect l="-461" t="-1260"/>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232211"/>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What is the social optimum?</a:t>
            </a:r>
            <a:endParaRPr lang="en-US" sz="4000" dirty="0">
              <a:solidFill>
                <a:schemeClr val="accent3">
                  <a:lumMod val="75000"/>
                </a:schemeClr>
              </a:solidFill>
              <a:cs typeface="Times New Roman" panose="02020603050405020304" pitchFamily="18" charset="0"/>
            </a:endParaRPr>
          </a:p>
        </p:txBody>
      </p:sp>
    </p:spTree>
    <p:extLst>
      <p:ext uri="{BB962C8B-B14F-4D97-AF65-F5344CB8AC3E}">
        <p14:creationId xmlns:p14="http://schemas.microsoft.com/office/powerpoint/2010/main" val="15374663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609600" y="857052"/>
                <a:ext cx="9247632" cy="5323086"/>
              </a:xfrm>
            </p:spPr>
            <p:txBody>
              <a:bodyPr>
                <a:normAutofit/>
              </a:bodyPr>
              <a:lstStyle/>
              <a:p>
                <a:r>
                  <a:rPr lang="en-CA" sz="2400" dirty="0"/>
                  <a:t>Capitation leads to underinvestment</a:t>
                </a:r>
              </a:p>
              <a:p>
                <a:r>
                  <a:rPr lang="en-CA" sz="2400" dirty="0"/>
                  <a:t>Cost reimbursement/prospective payment/FFS leads to overinvestment</a:t>
                </a:r>
              </a:p>
              <a:p>
                <a:r>
                  <a:rPr lang="en-CA" sz="2400" dirty="0"/>
                  <a:t>Can we </a:t>
                </a:r>
                <a:r>
                  <a:rPr lang="en-CA" sz="2400" b="1" dirty="0"/>
                  <a:t>split the difference</a:t>
                </a:r>
                <a:r>
                  <a:rPr lang="en-CA" sz="2400" dirty="0"/>
                  <a:t>?</a:t>
                </a:r>
              </a:p>
              <a:p>
                <a:r>
                  <a:rPr lang="en-CA" sz="2400" dirty="0"/>
                  <a:t>Now consider the fully “mixed payment” model: </a:t>
                </a:r>
              </a:p>
              <a:p>
                <a:pPr marL="0"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rPr>
                        <m:t>𝑈</m:t>
                      </m:r>
                      <m:r>
                        <a:rPr lang="en-CA" sz="2400" b="0" i="1" smtClean="0">
                          <a:latin typeface="Cambria Math" panose="02040503050406030204" pitchFamily="18" charset="0"/>
                        </a:rPr>
                        <m:t>=</m:t>
                      </m:r>
                      <m:r>
                        <a:rPr lang="en-CA" sz="2400" b="0" i="1" smtClean="0">
                          <a:latin typeface="Cambria Math" panose="02040503050406030204" pitchFamily="18" charset="0"/>
                        </a:rPr>
                        <m:t>𝑅</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𝛼</m:t>
                      </m:r>
                      <m:r>
                        <a:rPr lang="en-CA" sz="2400" b="0" i="1" smtClean="0">
                          <a:latin typeface="Cambria Math" panose="02040503050406030204" pitchFamily="18" charset="0"/>
                        </a:rPr>
                        <m:t>𝐵</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oMath>
                  </m:oMathPara>
                </a14:m>
                <a:endParaRPr lang="en-CA" sz="2400" b="0" dirty="0"/>
              </a:p>
              <a:p>
                <a:r>
                  <a:rPr lang="en-CA" sz="2400" dirty="0"/>
                  <a:t>In equilibrium, we suppose that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𝐵</m:t>
                        </m:r>
                      </m:e>
                      <m:sub>
                        <m:r>
                          <a:rPr lang="en-CA" sz="2400" b="0" i="1" smtClean="0">
                            <a:latin typeface="Cambria Math" panose="02040503050406030204" pitchFamily="18" charset="0"/>
                          </a:rPr>
                          <m:t>𝑞</m:t>
                        </m:r>
                      </m:sub>
                    </m:sSub>
                    <m:r>
                      <a:rPr lang="en-CA" sz="2400" b="0" i="1" smtClean="0">
                        <a:latin typeface="Cambria Math" panose="02040503050406030204" pitchFamily="18" charset="0"/>
                      </a:rPr>
                      <m:t>=</m:t>
                    </m:r>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𝐶</m:t>
                        </m:r>
                      </m:e>
                      <m:sub>
                        <m:r>
                          <a:rPr lang="en-CA" sz="2400" b="0" i="1" smtClean="0">
                            <a:latin typeface="Cambria Math" panose="02040503050406030204" pitchFamily="18" charset="0"/>
                          </a:rPr>
                          <m:t>𝑞</m:t>
                        </m:r>
                      </m:sub>
                    </m:sSub>
                  </m:oMath>
                </a14:m>
                <a:r>
                  <a:rPr lang="en-CA" sz="2400" dirty="0"/>
                  <a:t> (why?)</a:t>
                </a:r>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609600" y="857052"/>
                <a:ext cx="9247632" cy="5323086"/>
              </a:xfrm>
              <a:blipFill>
                <a:blip r:embed="rId3"/>
                <a:stretch>
                  <a:fillRect l="-461" t="-1260"/>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232211"/>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What is the social optimum?</a:t>
            </a:r>
            <a:endParaRPr lang="en-US" sz="4000" dirty="0">
              <a:solidFill>
                <a:schemeClr val="accent3">
                  <a:lumMod val="75000"/>
                </a:schemeClr>
              </a:solidFill>
              <a:cs typeface="Times New Roman" panose="02020603050405020304" pitchFamily="18" charset="0"/>
            </a:endParaRPr>
          </a:p>
        </p:txBody>
      </p:sp>
    </p:spTree>
    <p:extLst>
      <p:ext uri="{BB962C8B-B14F-4D97-AF65-F5344CB8AC3E}">
        <p14:creationId xmlns:p14="http://schemas.microsoft.com/office/powerpoint/2010/main" val="15296679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609600" y="857052"/>
                <a:ext cx="9247632" cy="5323086"/>
              </a:xfrm>
            </p:spPr>
            <p:txBody>
              <a:bodyPr>
                <a:normAutofit/>
              </a:bodyPr>
              <a:lstStyle/>
              <a:p>
                <a:r>
                  <a:rPr lang="en-CA" sz="2400" dirty="0"/>
                  <a:t>Capitation leads to underinvestment</a:t>
                </a:r>
              </a:p>
              <a:p>
                <a:r>
                  <a:rPr lang="en-CA" sz="2400" dirty="0"/>
                  <a:t>Cost reimbursement/prospective payment/FFS leads to overinvestment</a:t>
                </a:r>
              </a:p>
              <a:p>
                <a:r>
                  <a:rPr lang="en-CA" sz="2400" dirty="0"/>
                  <a:t>Can we </a:t>
                </a:r>
                <a:r>
                  <a:rPr lang="en-CA" sz="2400" b="1" dirty="0"/>
                  <a:t>split the difference</a:t>
                </a:r>
                <a:r>
                  <a:rPr lang="en-CA" sz="2400" dirty="0"/>
                  <a:t>?</a:t>
                </a:r>
              </a:p>
              <a:p>
                <a:r>
                  <a:rPr lang="en-CA" sz="2400" dirty="0"/>
                  <a:t>Now consider the fully “mixed payment” model: </a:t>
                </a:r>
              </a:p>
              <a:p>
                <a:pPr marL="0"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rPr>
                        <m:t>𝑈</m:t>
                      </m:r>
                      <m:r>
                        <a:rPr lang="en-CA" sz="2400" b="0" i="1" smtClean="0">
                          <a:latin typeface="Cambria Math" panose="02040503050406030204" pitchFamily="18" charset="0"/>
                        </a:rPr>
                        <m:t>=</m:t>
                      </m:r>
                      <m:r>
                        <a:rPr lang="en-CA" sz="2400" b="0" i="1" smtClean="0">
                          <a:latin typeface="Cambria Math" panose="02040503050406030204" pitchFamily="18" charset="0"/>
                        </a:rPr>
                        <m:t>𝑅</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𝛼</m:t>
                      </m:r>
                      <m:r>
                        <a:rPr lang="en-CA" sz="2400" b="0" i="1" smtClean="0">
                          <a:latin typeface="Cambria Math" panose="02040503050406030204" pitchFamily="18" charset="0"/>
                        </a:rPr>
                        <m:t>𝐵</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oMath>
                  </m:oMathPara>
                </a14:m>
                <a:endParaRPr lang="en-CA" sz="2400" b="0" dirty="0"/>
              </a:p>
              <a:p>
                <a:r>
                  <a:rPr lang="en-CA" sz="2400" dirty="0"/>
                  <a:t>In equilibrium, we suppose that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𝐵</m:t>
                        </m:r>
                      </m:e>
                      <m:sub>
                        <m:r>
                          <a:rPr lang="en-CA" sz="2400" b="0" i="1" smtClean="0">
                            <a:latin typeface="Cambria Math" panose="02040503050406030204" pitchFamily="18" charset="0"/>
                          </a:rPr>
                          <m:t>𝑞</m:t>
                        </m:r>
                      </m:sub>
                    </m:sSub>
                    <m:r>
                      <a:rPr lang="en-CA" sz="2400" b="0" i="1" smtClean="0">
                        <a:latin typeface="Cambria Math" panose="02040503050406030204" pitchFamily="18" charset="0"/>
                      </a:rPr>
                      <m:t>=</m:t>
                    </m:r>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𝐶</m:t>
                        </m:r>
                      </m:e>
                      <m:sub>
                        <m:r>
                          <a:rPr lang="en-CA" sz="2400" b="0" i="1" smtClean="0">
                            <a:latin typeface="Cambria Math" panose="02040503050406030204" pitchFamily="18" charset="0"/>
                          </a:rPr>
                          <m:t>𝑞</m:t>
                        </m:r>
                      </m:sub>
                    </m:sSub>
                  </m:oMath>
                </a14:m>
                <a:r>
                  <a:rPr lang="en-CA" sz="2400" dirty="0"/>
                  <a:t> (why?)</a:t>
                </a:r>
              </a:p>
              <a:p>
                <a:r>
                  <a:rPr lang="en-CA" sz="2400" dirty="0"/>
                  <a:t>Then the solution is characterized by </a:t>
                </a:r>
              </a:p>
              <a:p>
                <a:pPr marL="0"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rPr>
                        <m:t>𝛼</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𝐵</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1−</m:t>
                          </m:r>
                          <m:r>
                            <a:rPr lang="en-CA" sz="2400" b="0" i="1" smtClean="0">
                              <a:latin typeface="Cambria Math" panose="02040503050406030204" pitchFamily="18" charset="0"/>
                            </a:rPr>
                            <m:t>𝑟</m:t>
                          </m:r>
                        </m:e>
                      </m:d>
                      <m:r>
                        <a:rPr lang="en-CA" sz="2400" b="0" i="1" smtClean="0">
                          <a:latin typeface="Cambria Math" panose="02040503050406030204" pitchFamily="18" charset="0"/>
                        </a:rPr>
                        <m:t>𝑐</m:t>
                      </m:r>
                    </m:oMath>
                  </m:oMathPara>
                </a14:m>
                <a:endParaRPr lang="en-CA" sz="2400" dirty="0"/>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609600" y="857052"/>
                <a:ext cx="9247632" cy="5323086"/>
              </a:xfrm>
              <a:blipFill>
                <a:blip r:embed="rId3"/>
                <a:stretch>
                  <a:fillRect l="-461" t="-1260"/>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232211"/>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What is the social optimum?</a:t>
            </a:r>
            <a:endParaRPr lang="en-US" sz="4000" dirty="0">
              <a:solidFill>
                <a:schemeClr val="accent3">
                  <a:lumMod val="75000"/>
                </a:schemeClr>
              </a:solidFill>
              <a:cs typeface="Times New Roman" panose="02020603050405020304" pitchFamily="18" charset="0"/>
            </a:endParaRPr>
          </a:p>
        </p:txBody>
      </p:sp>
      <p:sp>
        <p:nvSpPr>
          <p:cNvPr id="4" name="TextBox 3">
            <a:extLst>
              <a:ext uri="{FF2B5EF4-FFF2-40B4-BE49-F238E27FC236}">
                <a16:creationId xmlns:a16="http://schemas.microsoft.com/office/drawing/2014/main" id="{06626EA1-8D64-2AC7-C4B1-DC7AB6DF87A8}"/>
              </a:ext>
            </a:extLst>
          </p:cNvPr>
          <p:cNvSpPr txBox="1"/>
          <p:nvPr/>
        </p:nvSpPr>
        <p:spPr>
          <a:xfrm>
            <a:off x="615820" y="5526031"/>
            <a:ext cx="6102220" cy="646331"/>
          </a:xfrm>
          <a:prstGeom prst="rect">
            <a:avLst/>
          </a:prstGeom>
          <a:solidFill>
            <a:schemeClr val="accent3">
              <a:lumMod val="40000"/>
              <a:lumOff val="60000"/>
            </a:schemeClr>
          </a:solidFill>
        </p:spPr>
        <p:txBody>
          <a:bodyPr wrap="square">
            <a:spAutoFit/>
          </a:bodyPr>
          <a:lstStyle/>
          <a:p>
            <a:r>
              <a:rPr lang="en-CA" sz="1800" b="1" dirty="0">
                <a:solidFill>
                  <a:schemeClr val="accent3">
                    <a:lumMod val="75000"/>
                  </a:schemeClr>
                </a:solidFill>
              </a:rPr>
              <a:t>How do we interpret this?</a:t>
            </a:r>
          </a:p>
          <a:p>
            <a:r>
              <a:rPr lang="en-CA" sz="1800" b="1" dirty="0">
                <a:solidFill>
                  <a:schemeClr val="accent3">
                    <a:lumMod val="75000"/>
                  </a:schemeClr>
                </a:solidFill>
              </a:rPr>
              <a:t>What are the comparative statics?</a:t>
            </a:r>
          </a:p>
        </p:txBody>
      </p:sp>
    </p:spTree>
    <p:extLst>
      <p:ext uri="{BB962C8B-B14F-4D97-AF65-F5344CB8AC3E}">
        <p14:creationId xmlns:p14="http://schemas.microsoft.com/office/powerpoint/2010/main" val="26168371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CA9A688-580F-ECC9-5F65-3BC2434DDF2C}"/>
                  </a:ext>
                </a:extLst>
              </p:cNvPr>
              <p:cNvSpPr>
                <a:spLocks noGrp="1"/>
              </p:cNvSpPr>
              <p:nvPr>
                <p:ph idx="1"/>
              </p:nvPr>
            </p:nvSpPr>
            <p:spPr>
              <a:xfrm>
                <a:off x="609600" y="857052"/>
                <a:ext cx="9247632" cy="5323086"/>
              </a:xfrm>
            </p:spPr>
            <p:txBody>
              <a:bodyPr>
                <a:normAutofit/>
              </a:bodyPr>
              <a:lstStyle/>
              <a:p>
                <a:r>
                  <a:rPr lang="en-CA" sz="2400" dirty="0"/>
                  <a:t>Then the solution is characterized by </a:t>
                </a:r>
              </a:p>
              <a:p>
                <a:pPr marL="0" indent="0">
                  <a:buNone/>
                </a:pPr>
                <a14:m>
                  <m:oMathPara xmlns:m="http://schemas.openxmlformats.org/officeDocument/2006/math">
                    <m:oMathParaPr>
                      <m:jc m:val="centerGroup"/>
                    </m:oMathParaPr>
                    <m:oMath xmlns:m="http://schemas.openxmlformats.org/officeDocument/2006/math">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𝛼</m:t>
                          </m:r>
                          <m:r>
                            <a:rPr lang="en-CA" sz="2400" b="0" i="1" smtClean="0">
                              <a:latin typeface="Cambria Math" panose="02040503050406030204" pitchFamily="18" charset="0"/>
                            </a:rPr>
                            <m:t>−1</m:t>
                          </m:r>
                        </m:e>
                      </m:d>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𝐵</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r>
                        <a:rPr lang="en-CA" sz="2400" b="0" i="1" smtClean="0">
                          <a:latin typeface="Cambria Math" panose="02040503050406030204" pitchFamily="18" charset="0"/>
                        </a:rPr>
                        <m:t>=</m:t>
                      </m:r>
                      <m:f>
                        <m:fPr>
                          <m:ctrlPr>
                            <a:rPr lang="en-CA" sz="2400" b="0" i="1" smtClean="0">
                              <a:latin typeface="Cambria Math" panose="02040503050406030204" pitchFamily="18" charset="0"/>
                            </a:rPr>
                          </m:ctrlPr>
                        </m:fPr>
                        <m:num>
                          <m:r>
                            <a:rPr lang="en-CA" sz="2400" b="0" i="1" smtClean="0">
                              <a:latin typeface="Cambria Math" panose="02040503050406030204" pitchFamily="18" charset="0"/>
                            </a:rPr>
                            <m:t>𝜕</m:t>
                          </m:r>
                          <m:r>
                            <a:rPr lang="en-CA" sz="2400" b="0" i="1" smtClean="0">
                              <a:latin typeface="Cambria Math" panose="02040503050406030204" pitchFamily="18" charset="0"/>
                            </a:rPr>
                            <m:t>𝑅</m:t>
                          </m:r>
                        </m:num>
                        <m:den>
                          <m:r>
                            <a:rPr lang="en-CA" sz="2400" b="0" i="1" smtClean="0">
                              <a:latin typeface="Cambria Math" panose="02040503050406030204" pitchFamily="18" charset="0"/>
                            </a:rPr>
                            <m:t>𝜕</m:t>
                          </m:r>
                          <m:r>
                            <a:rPr lang="en-CA" sz="2400" b="0" i="1" smtClean="0">
                              <a:latin typeface="Cambria Math" panose="02040503050406030204" pitchFamily="18" charset="0"/>
                            </a:rPr>
                            <m:t>𝑞</m:t>
                          </m:r>
                        </m:den>
                      </m:f>
                    </m:oMath>
                  </m:oMathPara>
                </a14:m>
                <a:endParaRPr lang="en-CA" sz="2400" b="0" dirty="0"/>
              </a:p>
              <a:p>
                <a:r>
                  <a:rPr lang="en-CA" sz="2400" dirty="0"/>
                  <a:t>If we suppose that </a:t>
                </a:r>
                <a14:m>
                  <m:oMath xmlns:m="http://schemas.openxmlformats.org/officeDocument/2006/math">
                    <m:r>
                      <a:rPr lang="en-CA" sz="2400" b="0" i="1" smtClean="0">
                        <a:latin typeface="Cambria Math" panose="02040503050406030204" pitchFamily="18" charset="0"/>
                      </a:rPr>
                      <m:t>𝑅</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𝑎</m:t>
                    </m:r>
                    <m:r>
                      <a:rPr lang="en-CA" sz="2400" b="0" i="1" smtClean="0">
                        <a:latin typeface="Cambria Math" panose="02040503050406030204" pitchFamily="18" charset="0"/>
                      </a:rPr>
                      <m:t>+</m:t>
                    </m:r>
                    <m:r>
                      <a:rPr lang="en-CA" sz="2400" b="0" i="1" smtClean="0">
                        <a:latin typeface="Cambria Math" panose="02040503050406030204" pitchFamily="18" charset="0"/>
                      </a:rPr>
                      <m:t>𝑟𝐶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oMath>
                </a14:m>
                <a:r>
                  <a:rPr lang="en-CA" sz="2400" dirty="0"/>
                  <a:t> and </a:t>
                </a:r>
                <a14:m>
                  <m:oMath xmlns:m="http://schemas.openxmlformats.org/officeDocument/2006/math">
                    <m:r>
                      <a:rPr lang="en-CA" sz="2400" b="0" i="1" smtClean="0">
                        <a:latin typeface="Cambria Math" panose="02040503050406030204" pitchFamily="18" charset="0"/>
                      </a:rPr>
                      <m:t>𝐶</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𝑞</m:t>
                        </m:r>
                      </m:e>
                    </m:d>
                    <m:r>
                      <a:rPr lang="en-CA" sz="2400" b="0" i="1" smtClean="0">
                        <a:latin typeface="Cambria Math" panose="02040503050406030204" pitchFamily="18" charset="0"/>
                      </a:rPr>
                      <m:t>=</m:t>
                    </m:r>
                    <m:r>
                      <a:rPr lang="en-CA" sz="2400" b="0" i="1" smtClean="0">
                        <a:latin typeface="Cambria Math" panose="02040503050406030204" pitchFamily="18" charset="0"/>
                      </a:rPr>
                      <m:t>𝑐𝑞</m:t>
                    </m:r>
                  </m:oMath>
                </a14:m>
                <a:r>
                  <a:rPr lang="en-CA" sz="2400" dirty="0"/>
                  <a:t>, then: </a:t>
                </a:r>
              </a:p>
              <a:p>
                <a:pPr marL="0" indent="0">
                  <a:buNone/>
                </a:pPr>
                <a14:m>
                  <m:oMathPara xmlns:m="http://schemas.openxmlformats.org/officeDocument/2006/math">
                    <m:oMathParaPr>
                      <m:jc m:val="centerGroup"/>
                    </m:oMathParaPr>
                    <m:oMath xmlns:m="http://schemas.openxmlformats.org/officeDocument/2006/math">
                      <m:sSup>
                        <m:sSupPr>
                          <m:ctrlPr>
                            <a:rPr lang="en-CA" sz="2400" b="0" i="1" smtClean="0">
                              <a:latin typeface="Cambria Math" panose="02040503050406030204" pitchFamily="18" charset="0"/>
                            </a:rPr>
                          </m:ctrlPr>
                        </m:sSupPr>
                        <m:e>
                          <m:r>
                            <a:rPr lang="en-CA" sz="2400" b="0" i="1" smtClean="0">
                              <a:latin typeface="Cambria Math" panose="02040503050406030204" pitchFamily="18" charset="0"/>
                            </a:rPr>
                            <m:t>𝑟</m:t>
                          </m:r>
                        </m:e>
                        <m:sup>
                          <m:r>
                            <a:rPr lang="en-CA" sz="2400" b="0" i="1" smtClean="0">
                              <a:latin typeface="Cambria Math" panose="02040503050406030204" pitchFamily="18" charset="0"/>
                            </a:rPr>
                            <m:t>∗</m:t>
                          </m:r>
                        </m:sup>
                      </m:sSup>
                      <m:r>
                        <a:rPr lang="en-CA" sz="2400" b="0" i="1" smtClean="0">
                          <a:latin typeface="Cambria Math" panose="02040503050406030204" pitchFamily="18" charset="0"/>
                        </a:rPr>
                        <m:t>=</m:t>
                      </m:r>
                      <m:d>
                        <m:dPr>
                          <m:ctrlPr>
                            <a:rPr lang="en-CA" sz="2400" b="0" i="1" smtClean="0">
                              <a:latin typeface="Cambria Math" panose="02040503050406030204" pitchFamily="18" charset="0"/>
                            </a:rPr>
                          </m:ctrlPr>
                        </m:dPr>
                        <m:e>
                          <m:r>
                            <a:rPr lang="en-CA" sz="2400" b="0" i="1" smtClean="0">
                              <a:latin typeface="Cambria Math" panose="02040503050406030204" pitchFamily="18" charset="0"/>
                            </a:rPr>
                            <m:t>1−</m:t>
                          </m:r>
                          <m:r>
                            <a:rPr lang="en-CA" sz="2400" b="0" i="1" smtClean="0">
                              <a:latin typeface="Cambria Math" panose="02040503050406030204" pitchFamily="18" charset="0"/>
                            </a:rPr>
                            <m:t>𝛼</m:t>
                          </m:r>
                        </m:e>
                      </m:d>
                    </m:oMath>
                  </m:oMathPara>
                </a14:m>
                <a:endParaRPr lang="en-CA" sz="2400" dirty="0"/>
              </a:p>
              <a:p>
                <a:endParaRPr lang="en-CA" sz="2400" dirty="0"/>
              </a:p>
              <a:p>
                <a:r>
                  <a:rPr lang="en-CA" sz="2400" dirty="0"/>
                  <a:t>Suppose we want to incentivize provision of </a:t>
                </a:r>
                <a14:m>
                  <m:oMath xmlns:m="http://schemas.openxmlformats.org/officeDocument/2006/math">
                    <m:sSup>
                      <m:sSupPr>
                        <m:ctrlPr>
                          <a:rPr lang="en-CA" sz="2400" b="0" i="1" smtClean="0">
                            <a:latin typeface="Cambria Math" panose="02040503050406030204" pitchFamily="18" charset="0"/>
                          </a:rPr>
                        </m:ctrlPr>
                      </m:sSupPr>
                      <m:e>
                        <m:r>
                          <a:rPr lang="en-CA" sz="2400" b="0" i="1" smtClean="0">
                            <a:latin typeface="Cambria Math" panose="02040503050406030204" pitchFamily="18" charset="0"/>
                          </a:rPr>
                          <m:t>𝑞</m:t>
                        </m:r>
                      </m:e>
                      <m:sup>
                        <m:r>
                          <a:rPr lang="en-CA" sz="2400" b="0" i="1" smtClean="0">
                            <a:latin typeface="Cambria Math" panose="02040503050406030204" pitchFamily="18" charset="0"/>
                          </a:rPr>
                          <m:t>′</m:t>
                        </m:r>
                      </m:sup>
                    </m:sSup>
                    <m:r>
                      <a:rPr lang="en-CA" sz="2400" b="0" i="0" smtClean="0">
                        <a:latin typeface="Cambria Math" panose="02040503050406030204" pitchFamily="18" charset="0"/>
                      </a:rPr>
                      <m:t>. </m:t>
                    </m:r>
                  </m:oMath>
                </a14:m>
                <a:r>
                  <a:rPr lang="en-CA" sz="2400" dirty="0"/>
                  <a:t>Can we?</a:t>
                </a:r>
              </a:p>
              <a:p>
                <a:r>
                  <a:rPr lang="en-CA" sz="2400" dirty="0"/>
                  <a:t>What parameters do policy-makers in the model have?</a:t>
                </a:r>
              </a:p>
            </p:txBody>
          </p:sp>
        </mc:Choice>
        <mc:Fallback xmlns="">
          <p:sp>
            <p:nvSpPr>
              <p:cNvPr id="3" name="Content Placeholder 2">
                <a:extLst>
                  <a:ext uri="{FF2B5EF4-FFF2-40B4-BE49-F238E27FC236}">
                    <a16:creationId xmlns:a16="http://schemas.microsoft.com/office/drawing/2014/main" id="{2CA9A688-580F-ECC9-5F65-3BC2434DDF2C}"/>
                  </a:ext>
                </a:extLst>
              </p:cNvPr>
              <p:cNvSpPr>
                <a:spLocks noGrp="1" noRot="1" noChangeAspect="1" noMove="1" noResize="1" noEditPoints="1" noAdjustHandles="1" noChangeArrowheads="1" noChangeShapeType="1" noTextEdit="1"/>
              </p:cNvSpPr>
              <p:nvPr>
                <p:ph idx="1"/>
              </p:nvPr>
            </p:nvSpPr>
            <p:spPr>
              <a:xfrm>
                <a:off x="609600" y="857052"/>
                <a:ext cx="9247632" cy="5323086"/>
              </a:xfrm>
              <a:blipFill>
                <a:blip r:embed="rId3"/>
                <a:stretch>
                  <a:fillRect l="-461" t="-1260"/>
                </a:stretch>
              </a:blipFill>
            </p:spPr>
            <p:txBody>
              <a:bodyPr/>
              <a:lstStyle/>
              <a:p>
                <a:r>
                  <a:rPr lang="en-CA">
                    <a:noFill/>
                  </a:rPr>
                  <a:t> </a:t>
                </a:r>
              </a:p>
            </p:txBody>
          </p:sp>
        </mc:Fallback>
      </mc:AlternateContent>
      <p:sp>
        <p:nvSpPr>
          <p:cNvPr id="6" name="Title 1">
            <a:extLst>
              <a:ext uri="{FF2B5EF4-FFF2-40B4-BE49-F238E27FC236}">
                <a16:creationId xmlns:a16="http://schemas.microsoft.com/office/drawing/2014/main" id="{7BD7A2E9-C7E8-9116-5BE2-1C6A3EE63774}"/>
              </a:ext>
            </a:extLst>
          </p:cNvPr>
          <p:cNvSpPr txBox="1">
            <a:spLocks/>
          </p:cNvSpPr>
          <p:nvPr/>
        </p:nvSpPr>
        <p:spPr>
          <a:xfrm>
            <a:off x="304800" y="232211"/>
            <a:ext cx="10896600" cy="624840"/>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defRPr/>
            </a:pPr>
            <a:r>
              <a:rPr lang="en-CA" sz="4000" dirty="0">
                <a:cs typeface="Times New Roman" panose="02020603050405020304" pitchFamily="18" charset="0"/>
              </a:rPr>
              <a:t>What is the social optimum?</a:t>
            </a:r>
            <a:endParaRPr lang="en-US" sz="4000" dirty="0">
              <a:solidFill>
                <a:schemeClr val="accent3">
                  <a:lumMod val="75000"/>
                </a:schemeClr>
              </a:solidFill>
              <a:cs typeface="Times New Roman" panose="02020603050405020304" pitchFamily="18" charset="0"/>
            </a:endParaRPr>
          </a:p>
        </p:txBody>
      </p:sp>
      <p:sp>
        <p:nvSpPr>
          <p:cNvPr id="2" name="TextBox 1">
            <a:extLst>
              <a:ext uri="{FF2B5EF4-FFF2-40B4-BE49-F238E27FC236}">
                <a16:creationId xmlns:a16="http://schemas.microsoft.com/office/drawing/2014/main" id="{DB6DA3F7-CA3C-F6FB-505D-575F2031132A}"/>
              </a:ext>
            </a:extLst>
          </p:cNvPr>
          <p:cNvSpPr txBox="1"/>
          <p:nvPr/>
        </p:nvSpPr>
        <p:spPr>
          <a:xfrm>
            <a:off x="608045" y="3149263"/>
            <a:ext cx="6102220" cy="369332"/>
          </a:xfrm>
          <a:prstGeom prst="rect">
            <a:avLst/>
          </a:prstGeom>
          <a:solidFill>
            <a:schemeClr val="accent5">
              <a:lumMod val="40000"/>
              <a:lumOff val="60000"/>
            </a:schemeClr>
          </a:solidFill>
        </p:spPr>
        <p:txBody>
          <a:bodyPr wrap="square">
            <a:spAutoFit/>
          </a:bodyPr>
          <a:lstStyle/>
          <a:p>
            <a:r>
              <a:rPr lang="en-CA" sz="1800" b="1" dirty="0">
                <a:solidFill>
                  <a:schemeClr val="accent5">
                    <a:lumMod val="75000"/>
                  </a:schemeClr>
                </a:solidFill>
              </a:rPr>
              <a:t>What about policymakers? </a:t>
            </a:r>
          </a:p>
        </p:txBody>
      </p:sp>
    </p:spTree>
    <p:extLst>
      <p:ext uri="{BB962C8B-B14F-4D97-AF65-F5344CB8AC3E}">
        <p14:creationId xmlns:p14="http://schemas.microsoft.com/office/powerpoint/2010/main" val="27963634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spTree>
    <p:extLst>
      <p:ext uri="{BB962C8B-B14F-4D97-AF65-F5344CB8AC3E}">
        <p14:creationId xmlns:p14="http://schemas.microsoft.com/office/powerpoint/2010/main" val="9189268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Weaknesses of EM (1986) result</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marL="457200" indent="-457200">
                  <a:spcBef>
                    <a:spcPts val="0"/>
                  </a:spcBef>
                  <a:buFont typeface="Symbol" pitchFamily="18" charset="2"/>
                  <a:buAutoNum type="arabicPeriod"/>
                  <a:defRPr/>
                </a:pPr>
                <a:r>
                  <a:rPr lang="en-US" sz="2400" b="1" u="sng" dirty="0">
                    <a:solidFill>
                      <a:schemeClr val="accent3">
                        <a:lumMod val="75000"/>
                      </a:schemeClr>
                    </a:solidFill>
                    <a:cs typeface="Times New Roman" panose="02020603050405020304" pitchFamily="18" charset="0"/>
                  </a:rPr>
                  <a:t>Ignores demand side cost sharing (bargaining)</a:t>
                </a:r>
              </a:p>
              <a:p>
                <a:pPr marL="457200" indent="-457200">
                  <a:spcBef>
                    <a:spcPts val="0"/>
                  </a:spcBef>
                  <a:buFont typeface="+mj-lt"/>
                  <a:buAutoNum type="arabicPeriod" startAt="2"/>
                  <a:defRPr/>
                </a:pPr>
                <a:r>
                  <a:rPr lang="en-US" sz="2400" dirty="0">
                    <a:cs typeface="Times New Roman" panose="02020603050405020304" pitchFamily="18" charset="0"/>
                  </a:rPr>
                  <a:t>Ignores the role of competition</a:t>
                </a:r>
              </a:p>
              <a:p>
                <a:pPr marL="400050" lvl="1" indent="0">
                  <a:spcBef>
                    <a:spcPts val="0"/>
                  </a:spcBef>
                  <a:buNone/>
                  <a:defRPr/>
                </a:pPr>
                <a:r>
                  <a:rPr lang="en-US" sz="2400" i="1" dirty="0">
                    <a:cs typeface="Times New Roman" panose="02020603050405020304" pitchFamily="18" charset="0"/>
                  </a:rPr>
                  <a:t>	</a:t>
                </a:r>
                <a:r>
                  <a:rPr lang="en-US" sz="2400" i="1" dirty="0">
                    <a:solidFill>
                      <a:schemeClr val="accent2">
                        <a:lumMod val="75000"/>
                      </a:schemeClr>
                    </a:solidFill>
                    <a:cs typeface="Times New Roman" panose="02020603050405020304" pitchFamily="18" charset="0"/>
                  </a:rPr>
                  <a:t>Solution explored in Ellis (1998) </a:t>
                </a:r>
              </a:p>
              <a:p>
                <a:pPr marL="457200" indent="-457200">
                  <a:spcBef>
                    <a:spcPts val="0"/>
                  </a:spcBef>
                  <a:buFont typeface="+mj-lt"/>
                  <a:buAutoNum type="arabicPeriod" startAt="2"/>
                  <a:defRPr/>
                </a:pPr>
                <a:r>
                  <a:rPr lang="en-US" sz="2400" dirty="0">
                    <a:cs typeface="Times New Roman" panose="02020603050405020304" pitchFamily="18" charset="0"/>
                  </a:rPr>
                  <a:t>Optimality breaks down with patient heterogeneity if  providers can distort services to attract only the lowest cost patients.</a:t>
                </a:r>
              </a:p>
              <a:p>
                <a:pPr marL="0" indent="0">
                  <a:spcBef>
                    <a:spcPts val="0"/>
                  </a:spcBef>
                  <a:buNone/>
                  <a:defRPr/>
                </a:pPr>
                <a:r>
                  <a:rPr lang="en-US" sz="2400" i="1" dirty="0">
                    <a:cs typeface="Times New Roman" panose="02020603050405020304" pitchFamily="18" charset="0"/>
                  </a:rPr>
                  <a:t>	</a:t>
                </a:r>
                <a:r>
                  <a:rPr lang="en-US" sz="2400" i="1" dirty="0">
                    <a:solidFill>
                      <a:schemeClr val="accent2">
                        <a:lumMod val="75000"/>
                      </a:schemeClr>
                    </a:solidFill>
                    <a:cs typeface="Times New Roman" panose="02020603050405020304" pitchFamily="18" charset="0"/>
                  </a:rPr>
                  <a:t>Solution: Optimal Risk adjustment, Glazer &amp; McGuire (2000), Ellis (2008)</a:t>
                </a:r>
              </a:p>
              <a:p>
                <a:pPr marL="457200" indent="-457200">
                  <a:spcBef>
                    <a:spcPts val="0"/>
                  </a:spcBef>
                  <a:buFont typeface="+mj-lt"/>
                  <a:buAutoNum type="arabicPeriod" startAt="4"/>
                  <a:defRPr/>
                </a:pPr>
                <a:r>
                  <a:rPr lang="en-US" sz="2400" dirty="0">
                    <a:cs typeface="Times New Roman" panose="02020603050405020304" pitchFamily="18" charset="0"/>
                  </a:rPr>
                  <a:t>Model assumes that provider bears the full cost of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𝑞</m:t>
                    </m:r>
                  </m:oMath>
                </a14:m>
                <a:r>
                  <a:rPr lang="en-US" sz="2400" dirty="0">
                    <a:cs typeface="Times New Roman" panose="02020603050405020304" pitchFamily="18" charset="0"/>
                  </a:rPr>
                  <a:t>.</a:t>
                </a:r>
              </a:p>
              <a:p>
                <a:pPr marL="0" indent="0">
                  <a:spcBef>
                    <a:spcPts val="0"/>
                  </a:spcBef>
                  <a:buNone/>
                  <a:defRPr/>
                </a:pPr>
                <a:r>
                  <a:rPr lang="en-US" sz="2400" dirty="0">
                    <a:cs typeface="Times New Roman" panose="02020603050405020304" pitchFamily="18" charset="0"/>
                  </a:rPr>
                  <a:t>	</a:t>
                </a:r>
                <a:r>
                  <a:rPr lang="en-US" sz="2400" i="1" dirty="0">
                    <a:solidFill>
                      <a:schemeClr val="accent2">
                        <a:lumMod val="75000"/>
                      </a:schemeClr>
                    </a:solidFill>
                    <a:cs typeface="Times New Roman" panose="02020603050405020304" pitchFamily="18" charset="0"/>
                  </a:rPr>
                  <a:t>Solution: Pay for performance (shift costs to providers)</a:t>
                </a:r>
                <a:endParaRPr lang="en-US" sz="2400" i="1" dirty="0">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r="-647"/>
                </a:stretch>
              </a:blipFill>
            </p:spPr>
            <p:txBody>
              <a:bodyPr/>
              <a:lstStyle/>
              <a:p>
                <a:r>
                  <a:rPr lang="en-CA">
                    <a:noFill/>
                  </a:rPr>
                  <a:t> </a:t>
                </a:r>
              </a:p>
            </p:txBody>
          </p:sp>
        </mc:Fallback>
      </mc:AlternateContent>
    </p:spTree>
    <p:extLst>
      <p:ext uri="{BB962C8B-B14F-4D97-AF65-F5344CB8AC3E}">
        <p14:creationId xmlns:p14="http://schemas.microsoft.com/office/powerpoint/2010/main" val="2194792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Ellis &amp; McGuire (1990)</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u="sng" dirty="0">
                    <a:solidFill>
                      <a:schemeClr val="tx1"/>
                    </a:solidFill>
                    <a:cs typeface="Times New Roman" panose="02020603050405020304" pitchFamily="18" charset="0"/>
                  </a:rPr>
                  <a:t>Can we optimally create a market where </a:t>
                </a:r>
                <a14:m>
                  <m:oMath xmlns:m="http://schemas.openxmlformats.org/officeDocument/2006/math">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oMath>
                </a14:m>
                <a:endParaRPr lang="en-CA" sz="2400" b="0" u="sng"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What happens if consumers and providers demand different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𝑞</m:t>
                    </m:r>
                  </m:oMath>
                </a14:m>
                <a:r>
                  <a:rPr lang="en-US" sz="2400" dirty="0">
                    <a:solidFill>
                      <a:schemeClr val="tx1"/>
                    </a:solidFill>
                    <a:cs typeface="Times New Roman" panose="02020603050405020304" pitchFamily="18" charset="0"/>
                  </a:rPr>
                  <a:t>?</a:t>
                </a:r>
              </a:p>
              <a:p>
                <a:pPr>
                  <a:spcBef>
                    <a:spcPts val="0"/>
                  </a:spcBef>
                  <a:defRPr/>
                </a:pPr>
                <a:r>
                  <a:rPr lang="en-US" sz="2400" dirty="0">
                    <a:solidFill>
                      <a:schemeClr val="tx1"/>
                    </a:solidFill>
                    <a:cs typeface="Times New Roman" panose="02020603050405020304" pitchFamily="18" charset="0"/>
                  </a:rPr>
                  <a:t>Model this as a </a:t>
                </a:r>
                <a:r>
                  <a:rPr lang="en-US" sz="2400" b="1" dirty="0">
                    <a:solidFill>
                      <a:schemeClr val="tx1"/>
                    </a:solidFill>
                    <a:cs typeface="Times New Roman" panose="02020603050405020304" pitchFamily="18" charset="0"/>
                  </a:rPr>
                  <a:t>bargaining </a:t>
                </a:r>
                <a:r>
                  <a:rPr lang="en-US" sz="2400" dirty="0">
                    <a:solidFill>
                      <a:schemeClr val="tx1"/>
                    </a:solidFill>
                    <a:cs typeface="Times New Roman" panose="02020603050405020304" pitchFamily="18" charset="0"/>
                  </a:rPr>
                  <a:t>problem between providers and patients: </a:t>
                </a:r>
                <a:endParaRPr lang="en-US" sz="2200" dirty="0">
                  <a:cs typeface="Times New Roman" panose="02020603050405020304" pitchFamily="18" charset="0"/>
                </a:endParaRPr>
              </a:p>
              <a:p>
                <a:pPr marL="0" indent="0">
                  <a:spcBef>
                    <a:spcPts val="0"/>
                  </a:spcBef>
                  <a:buNone/>
                  <a:defRPr/>
                </a:pPr>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38578297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Ellis &amp; McGuire (1990)</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u="sng" dirty="0">
                    <a:solidFill>
                      <a:schemeClr val="tx1"/>
                    </a:solidFill>
                    <a:cs typeface="Times New Roman" panose="02020603050405020304" pitchFamily="18" charset="0"/>
                  </a:rPr>
                  <a:t>Can we optimally create a market where </a:t>
                </a:r>
                <a14:m>
                  <m:oMath xmlns:m="http://schemas.openxmlformats.org/officeDocument/2006/math">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oMath>
                </a14:m>
                <a:endParaRPr lang="en-CA" sz="2400" b="0" u="sng"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What happens if consumers and providers demand different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𝑞</m:t>
                    </m:r>
                  </m:oMath>
                </a14:m>
                <a:r>
                  <a:rPr lang="en-US" sz="2400" dirty="0">
                    <a:solidFill>
                      <a:schemeClr val="tx1"/>
                    </a:solidFill>
                    <a:cs typeface="Times New Roman" panose="02020603050405020304" pitchFamily="18" charset="0"/>
                  </a:rPr>
                  <a:t>?</a:t>
                </a:r>
              </a:p>
              <a:p>
                <a:pPr>
                  <a:spcBef>
                    <a:spcPts val="0"/>
                  </a:spcBef>
                  <a:defRPr/>
                </a:pPr>
                <a:r>
                  <a:rPr lang="en-US" sz="2400" dirty="0">
                    <a:solidFill>
                      <a:schemeClr val="tx1"/>
                    </a:solidFill>
                    <a:cs typeface="Times New Roman" panose="02020603050405020304" pitchFamily="18" charset="0"/>
                  </a:rPr>
                  <a:t>Model this as a </a:t>
                </a:r>
                <a:r>
                  <a:rPr lang="en-US" sz="2400" b="1" dirty="0">
                    <a:solidFill>
                      <a:schemeClr val="tx1"/>
                    </a:solidFill>
                    <a:cs typeface="Times New Roman" panose="02020603050405020304" pitchFamily="18" charset="0"/>
                  </a:rPr>
                  <a:t>bargaining </a:t>
                </a:r>
                <a:r>
                  <a:rPr lang="en-US" sz="2400" dirty="0">
                    <a:solidFill>
                      <a:schemeClr val="tx1"/>
                    </a:solidFill>
                    <a:cs typeface="Times New Roman" panose="02020603050405020304" pitchFamily="18" charset="0"/>
                  </a:rPr>
                  <a:t>problem between providers and patients: </a:t>
                </a:r>
                <a:endParaRPr lang="en-US" sz="2200" dirty="0">
                  <a:cs typeface="Times New Roman" panose="02020603050405020304" pitchFamily="18" charset="0"/>
                </a:endParaRPr>
              </a:p>
              <a:p>
                <a:pPr marL="0" indent="0">
                  <a:spcBef>
                    <a:spcPts val="0"/>
                  </a:spcBef>
                  <a:buNone/>
                  <a:defRPr/>
                </a:pPr>
                <a:endParaRPr lang="en-US" sz="2400" dirty="0">
                  <a:solidFill>
                    <a:schemeClr val="tx1"/>
                  </a:solidFill>
                  <a:cs typeface="Times New Roman" panose="02020603050405020304" pitchFamily="18" charset="0"/>
                </a:endParaRPr>
              </a:p>
              <a:p>
                <a:pPr marL="0" indent="0">
                  <a:spcBef>
                    <a:spcPts val="0"/>
                  </a:spcBef>
                  <a:buNone/>
                  <a:defRPr/>
                </a:pPr>
                <a:r>
                  <a:rPr lang="en-US" sz="2400" b="1" dirty="0">
                    <a:cs typeface="Times New Roman" panose="02020603050405020304" pitchFamily="18" charset="0"/>
                  </a:rPr>
                  <a:t>Patient utility: </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b>
                        <m:sSubPr>
                          <m:ctrlPr>
                            <a:rPr lang="en-CA" sz="2400" b="0" i="1" smtClean="0">
                              <a:solidFill>
                                <a:schemeClr val="tx1"/>
                              </a:solidFill>
                              <a:latin typeface="Cambria Math" panose="02040503050406030204" pitchFamily="18" charset="0"/>
                              <a:cs typeface="Times New Roman" panose="02020603050405020304" pitchFamily="18" charset="0"/>
                            </a:rPr>
                          </m:ctrlPr>
                        </m:sSubPr>
                        <m:e>
                          <m:r>
                            <a:rPr lang="en-CA" sz="2400" b="0" i="1" smtClean="0">
                              <a:solidFill>
                                <a:schemeClr val="tx1"/>
                              </a:solidFill>
                              <a:latin typeface="Cambria Math" panose="02040503050406030204" pitchFamily="18" charset="0"/>
                              <a:cs typeface="Times New Roman" panose="02020603050405020304" pitchFamily="18" charset="0"/>
                            </a:rPr>
                            <m:t>𝑈</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Sub>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𝑎𝑞</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r>
                            <a:rPr lang="en-CA" sz="2400" b="0" i="1" smtClean="0">
                              <a:solidFill>
                                <a:schemeClr val="tx1"/>
                              </a:solidFill>
                              <a:latin typeface="Cambria Math" panose="02040503050406030204" pitchFamily="18" charset="0"/>
                              <a:cs typeface="Times New Roman" panose="02020603050405020304" pitchFamily="18" charset="0"/>
                            </a:rPr>
                            <m:t>𝑏</m:t>
                          </m:r>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2</m:t>
                              </m:r>
                            </m:sup>
                          </m:sSup>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𝑐𝑞</m:t>
                      </m:r>
                    </m:oMath>
                  </m:oMathPara>
                </a14:m>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a:stretch>
              </a:blipFill>
            </p:spPr>
            <p:txBody>
              <a:bodyPr/>
              <a:lstStyle/>
              <a:p>
                <a:r>
                  <a:rPr lang="en-CA">
                    <a:noFill/>
                  </a:rPr>
                  <a:t> </a:t>
                </a:r>
              </a:p>
            </p:txBody>
          </p:sp>
        </mc:Fallback>
      </mc:AlternateContent>
    </p:spTree>
    <p:extLst>
      <p:ext uri="{BB962C8B-B14F-4D97-AF65-F5344CB8AC3E}">
        <p14:creationId xmlns:p14="http://schemas.microsoft.com/office/powerpoint/2010/main" val="38910676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Ellis &amp; McGuire (1990)</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u="sng" dirty="0">
                    <a:solidFill>
                      <a:schemeClr val="tx1"/>
                    </a:solidFill>
                    <a:cs typeface="Times New Roman" panose="02020603050405020304" pitchFamily="18" charset="0"/>
                  </a:rPr>
                  <a:t>Can we optimally create a market where </a:t>
                </a:r>
                <a14:m>
                  <m:oMath xmlns:m="http://schemas.openxmlformats.org/officeDocument/2006/math">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sSup>
                      <m:sSupPr>
                        <m:ctrlPr>
                          <a:rPr lang="en-CA" sz="2400" b="0" i="1" u="sng" smtClean="0">
                            <a:solidFill>
                              <a:schemeClr val="tx1"/>
                            </a:solidFill>
                            <a:latin typeface="Cambria Math" panose="02040503050406030204" pitchFamily="18" charset="0"/>
                            <a:cs typeface="Times New Roman" panose="02020603050405020304" pitchFamily="18" charset="0"/>
                          </a:rPr>
                        </m:ctrlPr>
                      </m:sSupPr>
                      <m:e>
                        <m:r>
                          <a:rPr lang="en-CA" sz="2400" b="0" i="1" u="sng" smtClean="0">
                            <a:solidFill>
                              <a:schemeClr val="tx1"/>
                            </a:solidFill>
                            <a:latin typeface="Cambria Math" panose="02040503050406030204" pitchFamily="18" charset="0"/>
                            <a:cs typeface="Times New Roman" panose="02020603050405020304" pitchFamily="18" charset="0"/>
                          </a:rPr>
                          <m:t>𝑞</m:t>
                        </m:r>
                      </m:e>
                      <m:sup>
                        <m:r>
                          <a:rPr lang="en-CA" sz="2400" b="0" i="1" u="sng" smtClean="0">
                            <a:solidFill>
                              <a:schemeClr val="tx1"/>
                            </a:solidFill>
                            <a:latin typeface="Cambria Math" panose="02040503050406030204" pitchFamily="18" charset="0"/>
                            <a:cs typeface="Times New Roman" panose="02020603050405020304" pitchFamily="18" charset="0"/>
                          </a:rPr>
                          <m:t>′</m:t>
                        </m:r>
                      </m:sup>
                    </m:sSup>
                    <m:r>
                      <a:rPr lang="en-CA" sz="2400" b="0" i="1" u="sng" smtClean="0">
                        <a:solidFill>
                          <a:schemeClr val="tx1"/>
                        </a:solidFill>
                        <a:latin typeface="Cambria Math" panose="02040503050406030204" pitchFamily="18" charset="0"/>
                        <a:cs typeface="Times New Roman" panose="02020603050405020304" pitchFamily="18" charset="0"/>
                      </a:rPr>
                      <m:t>?</m:t>
                    </m:r>
                  </m:oMath>
                </a14:m>
                <a:endParaRPr lang="en-CA" sz="2400" b="0" u="sng"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What happens if consumers and providers demand different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𝑞</m:t>
                    </m:r>
                  </m:oMath>
                </a14:m>
                <a:r>
                  <a:rPr lang="en-US" sz="2400" dirty="0">
                    <a:solidFill>
                      <a:schemeClr val="tx1"/>
                    </a:solidFill>
                    <a:cs typeface="Times New Roman" panose="02020603050405020304" pitchFamily="18" charset="0"/>
                  </a:rPr>
                  <a:t>?</a:t>
                </a:r>
              </a:p>
              <a:p>
                <a:pPr>
                  <a:spcBef>
                    <a:spcPts val="0"/>
                  </a:spcBef>
                  <a:defRPr/>
                </a:pPr>
                <a:r>
                  <a:rPr lang="en-US" sz="2400" dirty="0">
                    <a:solidFill>
                      <a:schemeClr val="tx1"/>
                    </a:solidFill>
                    <a:cs typeface="Times New Roman" panose="02020603050405020304" pitchFamily="18" charset="0"/>
                  </a:rPr>
                  <a:t>Model this as a </a:t>
                </a:r>
                <a:r>
                  <a:rPr lang="en-US" sz="2400" b="1" dirty="0">
                    <a:solidFill>
                      <a:schemeClr val="tx1"/>
                    </a:solidFill>
                    <a:cs typeface="Times New Roman" panose="02020603050405020304" pitchFamily="18" charset="0"/>
                  </a:rPr>
                  <a:t>bargaining </a:t>
                </a:r>
                <a:r>
                  <a:rPr lang="en-US" sz="2400" dirty="0">
                    <a:solidFill>
                      <a:schemeClr val="tx1"/>
                    </a:solidFill>
                    <a:cs typeface="Times New Roman" panose="02020603050405020304" pitchFamily="18" charset="0"/>
                  </a:rPr>
                  <a:t>problem between providers and patients: </a:t>
                </a:r>
                <a:endParaRPr lang="en-US" sz="2200" dirty="0">
                  <a:cs typeface="Times New Roman" panose="02020603050405020304" pitchFamily="18" charset="0"/>
                </a:endParaRPr>
              </a:p>
              <a:p>
                <a:pPr marL="0" indent="0">
                  <a:spcBef>
                    <a:spcPts val="0"/>
                  </a:spcBef>
                  <a:buNone/>
                  <a:defRPr/>
                </a:pPr>
                <a:endParaRPr lang="en-US" sz="2400" dirty="0">
                  <a:solidFill>
                    <a:schemeClr val="tx1"/>
                  </a:solidFill>
                  <a:cs typeface="Times New Roman" panose="02020603050405020304" pitchFamily="18" charset="0"/>
                </a:endParaRPr>
              </a:p>
              <a:p>
                <a:pPr marL="0" indent="0">
                  <a:spcBef>
                    <a:spcPts val="0"/>
                  </a:spcBef>
                  <a:buNone/>
                  <a:defRPr/>
                </a:pPr>
                <a:r>
                  <a:rPr lang="en-US" sz="2400" b="1" dirty="0">
                    <a:cs typeface="Times New Roman" panose="02020603050405020304" pitchFamily="18" charset="0"/>
                  </a:rPr>
                  <a:t>Patient utility: </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b>
                        <m:sSubPr>
                          <m:ctrlPr>
                            <a:rPr lang="en-CA" sz="2400" b="0" i="1" smtClean="0">
                              <a:solidFill>
                                <a:schemeClr val="tx1"/>
                              </a:solidFill>
                              <a:latin typeface="Cambria Math" panose="02040503050406030204" pitchFamily="18" charset="0"/>
                              <a:cs typeface="Times New Roman" panose="02020603050405020304" pitchFamily="18" charset="0"/>
                            </a:rPr>
                          </m:ctrlPr>
                        </m:sSubPr>
                        <m:e>
                          <m:r>
                            <a:rPr lang="en-CA" sz="2400" b="0" i="1" smtClean="0">
                              <a:solidFill>
                                <a:schemeClr val="tx1"/>
                              </a:solidFill>
                              <a:latin typeface="Cambria Math" panose="02040503050406030204" pitchFamily="18" charset="0"/>
                              <a:cs typeface="Times New Roman" panose="02020603050405020304" pitchFamily="18" charset="0"/>
                            </a:rPr>
                            <m:t>𝑈</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Sub>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𝑎𝑞</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r>
                            <a:rPr lang="en-CA" sz="2400" b="0" i="1" smtClean="0">
                              <a:solidFill>
                                <a:schemeClr val="tx1"/>
                              </a:solidFill>
                              <a:latin typeface="Cambria Math" panose="02040503050406030204" pitchFamily="18" charset="0"/>
                              <a:cs typeface="Times New Roman" panose="02020603050405020304" pitchFamily="18" charset="0"/>
                            </a:rPr>
                            <m:t>𝑏</m:t>
                          </m:r>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2</m:t>
                              </m:r>
                            </m:sup>
                          </m:sSup>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𝑐𝑞</m:t>
                      </m:r>
                    </m:oMath>
                  </m:oMathPara>
                </a14:m>
                <a:endParaRPr lang="en-CA" sz="2400" b="0" dirty="0">
                  <a:solidFill>
                    <a:schemeClr val="tx1"/>
                  </a:solidFill>
                  <a:cs typeface="Times New Roman" panose="02020603050405020304" pitchFamily="18" charset="0"/>
                </a:endParaRPr>
              </a:p>
              <a:p>
                <a:pPr marL="0" indent="0">
                  <a:spcBef>
                    <a:spcPts val="0"/>
                  </a:spcBef>
                  <a:buNone/>
                  <a:defRPr/>
                </a:pPr>
                <a:endParaRPr lang="en-US" sz="2400" b="1" dirty="0">
                  <a:cs typeface="Times New Roman" panose="02020603050405020304" pitchFamily="18" charset="0"/>
                </a:endParaRPr>
              </a:p>
              <a:p>
                <a:pPr marL="0" indent="0">
                  <a:spcBef>
                    <a:spcPts val="0"/>
                  </a:spcBef>
                  <a:buNone/>
                  <a:defRPr/>
                </a:pPr>
                <a:r>
                  <a:rPr lang="en-US" sz="2400" b="1" dirty="0">
                    <a:cs typeface="Times New Roman" panose="02020603050405020304" pitchFamily="18" charset="0"/>
                  </a:rPr>
                  <a:t>Provider utility: </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b>
                        <m:sSubPr>
                          <m:ctrlPr>
                            <a:rPr lang="en-CA" sz="2400" b="0" i="1" smtClean="0">
                              <a:solidFill>
                                <a:schemeClr val="tx1"/>
                              </a:solidFill>
                              <a:latin typeface="Cambria Math" panose="02040503050406030204" pitchFamily="18" charset="0"/>
                              <a:cs typeface="Times New Roman" panose="02020603050405020304" pitchFamily="18" charset="0"/>
                            </a:rPr>
                          </m:ctrlPr>
                        </m:sSubPr>
                        <m:e>
                          <m:r>
                            <a:rPr lang="en-CA" sz="2400" b="0" i="1" smtClean="0">
                              <a:solidFill>
                                <a:schemeClr val="tx1"/>
                              </a:solidFill>
                              <a:latin typeface="Cambria Math" panose="02040503050406030204" pitchFamily="18" charset="0"/>
                              <a:cs typeface="Times New Roman" panose="02020603050405020304" pitchFamily="18" charset="0"/>
                            </a:rPr>
                            <m:t>𝑉</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Sub>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m:rPr>
                          <m:sty m:val="p"/>
                        </m:rPr>
                        <a:rPr lang="en-CA" sz="2400" b="0" i="0" smtClean="0">
                          <a:solidFill>
                            <a:schemeClr val="tx1"/>
                          </a:solidFill>
                          <a:latin typeface="Cambria Math" panose="02040503050406030204" pitchFamily="18" charset="0"/>
                          <a:cs typeface="Times New Roman" panose="02020603050405020304" pitchFamily="18" charset="0"/>
                        </a:rPr>
                        <m:t>Π</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𝛼</m:t>
                      </m:r>
                      <m:r>
                        <a:rPr lang="en-CA" sz="2400" b="0" i="1" smtClean="0">
                          <a:solidFill>
                            <a:schemeClr val="tx1"/>
                          </a:solidFill>
                          <a:latin typeface="Cambria Math" panose="02040503050406030204" pitchFamily="18" charset="0"/>
                          <a:cs typeface="Times New Roman" panose="02020603050405020304" pitchFamily="18" charset="0"/>
                        </a:rPr>
                        <m:t>𝐵</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oMath>
                  </m:oMathPara>
                </a14:m>
                <a:endParaRPr lang="en-CA" sz="2400" b="0" dirty="0">
                  <a:solidFill>
                    <a:schemeClr val="tx1"/>
                  </a:solidFill>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b>
                        <m:sSubPr>
                          <m:ctrlPr>
                            <a:rPr lang="en-CA" sz="2400" b="0" i="1" smtClean="0">
                              <a:solidFill>
                                <a:schemeClr val="tx1"/>
                              </a:solidFill>
                              <a:latin typeface="Cambria Math" panose="02040503050406030204" pitchFamily="18" charset="0"/>
                              <a:cs typeface="Times New Roman" panose="02020603050405020304" pitchFamily="18" charset="0"/>
                            </a:rPr>
                          </m:ctrlPr>
                        </m:sSubPr>
                        <m:e>
                          <m:r>
                            <a:rPr lang="en-CA" sz="2400" b="0" i="1" smtClean="0">
                              <a:solidFill>
                                <a:schemeClr val="tx1"/>
                              </a:solidFill>
                              <a:latin typeface="Cambria Math" panose="02040503050406030204" pitchFamily="18" charset="0"/>
                              <a:cs typeface="Times New Roman" panose="02020603050405020304" pitchFamily="18" charset="0"/>
                            </a:rPr>
                            <m:t>𝑅</m:t>
                          </m:r>
                        </m:e>
                        <m:sub>
                          <m:r>
                            <a:rPr lang="en-CA" sz="2400" b="0" i="1" smtClean="0">
                              <a:solidFill>
                                <a:schemeClr val="tx1"/>
                              </a:solidFill>
                              <a:latin typeface="Cambria Math" panose="02040503050406030204" pitchFamily="18" charset="0"/>
                              <a:cs typeface="Times New Roman" panose="02020603050405020304" pitchFamily="18" charset="0"/>
                            </a:rPr>
                            <m:t>0</m:t>
                          </m:r>
                        </m:sub>
                      </m:sSub>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𝑟𝑞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𝛼</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𝑎𝑞</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r>
                            <a:rPr lang="en-CA" sz="2400" b="0" i="1" smtClean="0">
                              <a:solidFill>
                                <a:schemeClr val="tx1"/>
                              </a:solidFill>
                              <a:latin typeface="Cambria Math" panose="02040503050406030204" pitchFamily="18" charset="0"/>
                              <a:cs typeface="Times New Roman" panose="02020603050405020304" pitchFamily="18" charset="0"/>
                            </a:rPr>
                            <m:t>𝑏</m:t>
                          </m:r>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2</m:t>
                              </m:r>
                            </m:sup>
                          </m:sSup>
                        </m:e>
                      </m:d>
                    </m:oMath>
                  </m:oMathPara>
                </a14:m>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a:stretch>
              </a:blipFill>
            </p:spPr>
            <p:txBody>
              <a:bodyPr/>
              <a:lstStyle/>
              <a:p>
                <a:r>
                  <a:rPr lang="en-CA">
                    <a:noFill/>
                  </a:rPr>
                  <a:t> </a:t>
                </a:r>
              </a:p>
            </p:txBody>
          </p:sp>
        </mc:Fallback>
      </mc:AlternateContent>
    </p:spTree>
    <p:extLst>
      <p:ext uri="{BB962C8B-B14F-4D97-AF65-F5344CB8AC3E}">
        <p14:creationId xmlns:p14="http://schemas.microsoft.com/office/powerpoint/2010/main" val="30063874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Roth-Nash Bargaining Model</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Given the two utility functions and their proposed solutions, how do we pick? </a:t>
                </a:r>
              </a:p>
              <a:p>
                <a:pPr>
                  <a:spcBef>
                    <a:spcPts val="0"/>
                  </a:spcBef>
                  <a:defRPr/>
                </a:pPr>
                <a:r>
                  <a:rPr lang="en-US" sz="2400" dirty="0">
                    <a:cs typeface="Times New Roman" panose="02020603050405020304" pitchFamily="18" charset="0"/>
                  </a:rPr>
                  <a:t>Assign each party a </a:t>
                </a:r>
                <a:r>
                  <a:rPr lang="en-US" sz="2400" b="1" dirty="0">
                    <a:cs typeface="Times New Roman" panose="02020603050405020304" pitchFamily="18" charset="0"/>
                  </a:rPr>
                  <a:t>bargaining power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𝛾</m:t>
                    </m:r>
                  </m:oMath>
                </a14:m>
                <a:r>
                  <a:rPr lang="en-US" sz="2400" dirty="0">
                    <a:solidFill>
                      <a:schemeClr val="tx1"/>
                    </a:solidFill>
                    <a:cs typeface="Times New Roman" panose="02020603050405020304" pitchFamily="18" charset="0"/>
                  </a:rPr>
                  <a:t> (and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𝛾</m:t>
                    </m:r>
                    <m:r>
                      <a:rPr lang="en-CA" sz="2400" b="0" i="1" smtClean="0">
                        <a:solidFill>
                          <a:schemeClr val="tx1"/>
                        </a:solidFill>
                        <a:latin typeface="Cambria Math" panose="02040503050406030204" pitchFamily="18" charset="0"/>
                        <a:cs typeface="Times New Roman" panose="02020603050405020304" pitchFamily="18" charset="0"/>
                      </a:rPr>
                      <m:t>)</m:t>
                    </m:r>
                  </m:oMath>
                </a14:m>
                <a:endParaRPr lang="en-CA" sz="2400" b="0"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Then, solution can be given by </a:t>
                </a:r>
              </a:p>
              <a:p>
                <a:pPr marL="0" indent="0">
                  <a:spcBef>
                    <a:spcPts val="0"/>
                  </a:spcBef>
                  <a:buNone/>
                  <a:defRPr/>
                </a:pPr>
                <a14:m>
                  <m:oMathPara xmlns:m="http://schemas.openxmlformats.org/officeDocument/2006/math">
                    <m:oMathParaPr>
                      <m:jc m:val="centerGroup"/>
                    </m:oMathParaPr>
                    <m:oMath xmlns:m="http://schemas.openxmlformats.org/officeDocument/2006/math">
                      <m:func>
                        <m:funcPr>
                          <m:ctrlPr>
                            <a:rPr lang="en-CA"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CA"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CA" sz="2400" b="0" i="0" smtClean="0">
                                  <a:solidFill>
                                    <a:schemeClr val="tx1"/>
                                  </a:solidFill>
                                  <a:latin typeface="Cambria Math" panose="02040503050406030204" pitchFamily="18" charset="0"/>
                                  <a:cs typeface="Times New Roman" panose="02020603050405020304" pitchFamily="18" charset="0"/>
                                </a:rPr>
                                <m:t>max</m:t>
                              </m:r>
                            </m:e>
                            <m:lim>
                              <m:r>
                                <a:rPr lang="en-CA" sz="2400" b="0" i="1" smtClean="0">
                                  <a:solidFill>
                                    <a:schemeClr val="tx1"/>
                                  </a:solidFill>
                                  <a:latin typeface="Cambria Math" panose="02040503050406030204" pitchFamily="18" charset="0"/>
                                  <a:cs typeface="Times New Roman" panose="02020603050405020304" pitchFamily="18" charset="0"/>
                                </a:rPr>
                                <m:t>𝑞</m:t>
                              </m:r>
                            </m:lim>
                          </m:limLow>
                        </m:fName>
                        <m:e>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d>
                                <m:dPr>
                                  <m:begChr m:val="["/>
                                  <m:endChr m:val="]"/>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𝑈</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𝑈</m:t>
                                  </m:r>
                                  <m:d>
                                    <m:dPr>
                                      <m:ctrlPr>
                                        <a:rPr lang="en-CA" sz="2400" b="0" i="1" smtClean="0">
                                          <a:solidFill>
                                            <a:schemeClr val="tx1"/>
                                          </a:solidFill>
                                          <a:latin typeface="Cambria Math" panose="02040503050406030204" pitchFamily="18" charset="0"/>
                                          <a:cs typeface="Times New Roman" panose="02020603050405020304" pitchFamily="18" charset="0"/>
                                        </a:rPr>
                                      </m:ctrlPr>
                                    </m:dPr>
                                    <m:e>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e>
                            <m:sup>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𝛾</m:t>
                              </m:r>
                            </m:sup>
                          </m:sSup>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d>
                                <m:dPr>
                                  <m:begChr m:val="["/>
                                  <m:endChr m:val="]"/>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𝑉</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𝑉</m:t>
                                  </m:r>
                                  <m:d>
                                    <m:dPr>
                                      <m:ctrlPr>
                                        <a:rPr lang="en-CA" sz="2400" b="0" i="1" smtClean="0">
                                          <a:solidFill>
                                            <a:schemeClr val="tx1"/>
                                          </a:solidFill>
                                          <a:latin typeface="Cambria Math" panose="02040503050406030204" pitchFamily="18" charset="0"/>
                                          <a:cs typeface="Times New Roman" panose="02020603050405020304" pitchFamily="18" charset="0"/>
                                        </a:rPr>
                                      </m:ctrlPr>
                                    </m:dPr>
                                    <m:e>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e>
                            <m:sup>
                              <m:r>
                                <a:rPr lang="en-CA" sz="2400" b="0" i="1" smtClean="0">
                                  <a:solidFill>
                                    <a:schemeClr val="tx1"/>
                                  </a:solidFill>
                                  <a:latin typeface="Cambria Math" panose="02040503050406030204" pitchFamily="18" charset="0"/>
                                  <a:cs typeface="Times New Roman" panose="02020603050405020304" pitchFamily="18" charset="0"/>
                                </a:rPr>
                                <m:t>𝛾</m:t>
                              </m:r>
                            </m:sup>
                          </m:sSup>
                        </m:e>
                      </m:func>
                    </m:oMath>
                  </m:oMathPara>
                </a14:m>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20435011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Roth-Nash Bargaining Model</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Given the two utility functions and their proposed solutions, how do we pick? </a:t>
                </a:r>
              </a:p>
              <a:p>
                <a:pPr>
                  <a:spcBef>
                    <a:spcPts val="0"/>
                  </a:spcBef>
                  <a:defRPr/>
                </a:pPr>
                <a:r>
                  <a:rPr lang="en-US" sz="2400" dirty="0">
                    <a:cs typeface="Times New Roman" panose="02020603050405020304" pitchFamily="18" charset="0"/>
                  </a:rPr>
                  <a:t>Assign each party a </a:t>
                </a:r>
                <a:r>
                  <a:rPr lang="en-US" sz="2400" b="1" dirty="0">
                    <a:cs typeface="Times New Roman" panose="02020603050405020304" pitchFamily="18" charset="0"/>
                  </a:rPr>
                  <a:t>bargaining power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𝛾</m:t>
                    </m:r>
                  </m:oMath>
                </a14:m>
                <a:r>
                  <a:rPr lang="en-US" sz="2400" dirty="0">
                    <a:solidFill>
                      <a:schemeClr val="tx1"/>
                    </a:solidFill>
                    <a:cs typeface="Times New Roman" panose="02020603050405020304" pitchFamily="18" charset="0"/>
                  </a:rPr>
                  <a:t> (and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𝛾</m:t>
                    </m:r>
                    <m:r>
                      <a:rPr lang="en-CA" sz="2400" b="0" i="1" smtClean="0">
                        <a:solidFill>
                          <a:schemeClr val="tx1"/>
                        </a:solidFill>
                        <a:latin typeface="Cambria Math" panose="02040503050406030204" pitchFamily="18" charset="0"/>
                        <a:cs typeface="Times New Roman" panose="02020603050405020304" pitchFamily="18" charset="0"/>
                      </a:rPr>
                      <m:t>)</m:t>
                    </m:r>
                  </m:oMath>
                </a14:m>
                <a:endParaRPr lang="en-CA" sz="2400" b="0"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Then, solution can be given by </a:t>
                </a:r>
              </a:p>
              <a:p>
                <a:pPr marL="0" indent="0">
                  <a:spcBef>
                    <a:spcPts val="0"/>
                  </a:spcBef>
                  <a:buNone/>
                  <a:defRPr/>
                </a:pPr>
                <a14:m>
                  <m:oMathPara xmlns:m="http://schemas.openxmlformats.org/officeDocument/2006/math">
                    <m:oMathParaPr>
                      <m:jc m:val="centerGroup"/>
                    </m:oMathParaPr>
                    <m:oMath xmlns:m="http://schemas.openxmlformats.org/officeDocument/2006/math">
                      <m:func>
                        <m:funcPr>
                          <m:ctrlPr>
                            <a:rPr lang="en-CA" sz="2400" b="0" i="1" smtClean="0">
                              <a:solidFill>
                                <a:schemeClr val="tx1"/>
                              </a:solidFill>
                              <a:latin typeface="Cambria Math" panose="02040503050406030204" pitchFamily="18" charset="0"/>
                              <a:cs typeface="Times New Roman" panose="02020603050405020304" pitchFamily="18" charset="0"/>
                            </a:rPr>
                          </m:ctrlPr>
                        </m:funcPr>
                        <m:fName>
                          <m:limLow>
                            <m:limLowPr>
                              <m:ctrlPr>
                                <a:rPr lang="en-CA" sz="2400" b="0" i="1" smtClean="0">
                                  <a:solidFill>
                                    <a:schemeClr val="tx1"/>
                                  </a:solidFill>
                                  <a:latin typeface="Cambria Math" panose="02040503050406030204" pitchFamily="18" charset="0"/>
                                  <a:cs typeface="Times New Roman" panose="02020603050405020304" pitchFamily="18" charset="0"/>
                                </a:rPr>
                              </m:ctrlPr>
                            </m:limLowPr>
                            <m:e>
                              <m:r>
                                <m:rPr>
                                  <m:sty m:val="p"/>
                                </m:rPr>
                                <a:rPr lang="en-CA" sz="2400" b="0" i="0" smtClean="0">
                                  <a:solidFill>
                                    <a:schemeClr val="tx1"/>
                                  </a:solidFill>
                                  <a:latin typeface="Cambria Math" panose="02040503050406030204" pitchFamily="18" charset="0"/>
                                  <a:cs typeface="Times New Roman" panose="02020603050405020304" pitchFamily="18" charset="0"/>
                                </a:rPr>
                                <m:t>max</m:t>
                              </m:r>
                            </m:e>
                            <m:lim>
                              <m:r>
                                <a:rPr lang="en-CA" sz="2400" b="0" i="1" smtClean="0">
                                  <a:solidFill>
                                    <a:schemeClr val="tx1"/>
                                  </a:solidFill>
                                  <a:latin typeface="Cambria Math" panose="02040503050406030204" pitchFamily="18" charset="0"/>
                                  <a:cs typeface="Times New Roman" panose="02020603050405020304" pitchFamily="18" charset="0"/>
                                </a:rPr>
                                <m:t>𝑞</m:t>
                              </m:r>
                            </m:lim>
                          </m:limLow>
                        </m:fName>
                        <m:e>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d>
                                <m:dPr>
                                  <m:begChr m:val="["/>
                                  <m:endChr m:val="]"/>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𝑈</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𝑈</m:t>
                                  </m:r>
                                  <m:d>
                                    <m:dPr>
                                      <m:ctrlPr>
                                        <a:rPr lang="en-CA" sz="2400" b="0" i="1" smtClean="0">
                                          <a:solidFill>
                                            <a:schemeClr val="tx1"/>
                                          </a:solidFill>
                                          <a:latin typeface="Cambria Math" panose="02040503050406030204" pitchFamily="18" charset="0"/>
                                          <a:cs typeface="Times New Roman" panose="02020603050405020304" pitchFamily="18" charset="0"/>
                                        </a:rPr>
                                      </m:ctrlPr>
                                    </m:dPr>
                                    <m:e>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e>
                            <m:sup>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𝛾</m:t>
                              </m:r>
                            </m:sup>
                          </m:sSup>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d>
                                <m:dPr>
                                  <m:begChr m:val="["/>
                                  <m:endChr m:val="]"/>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𝑉</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𝑉</m:t>
                                  </m:r>
                                  <m:d>
                                    <m:dPr>
                                      <m:ctrlPr>
                                        <a:rPr lang="en-CA" sz="2400" b="0" i="1" smtClean="0">
                                          <a:solidFill>
                                            <a:schemeClr val="tx1"/>
                                          </a:solidFill>
                                          <a:latin typeface="Cambria Math" panose="02040503050406030204" pitchFamily="18" charset="0"/>
                                          <a:cs typeface="Times New Roman" panose="02020603050405020304" pitchFamily="18" charset="0"/>
                                        </a:rPr>
                                      </m:ctrlPr>
                                    </m:dPr>
                                    <m:e>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e>
                            <m:sup>
                              <m:r>
                                <a:rPr lang="en-CA" sz="2400" b="0" i="1" smtClean="0">
                                  <a:solidFill>
                                    <a:schemeClr val="tx1"/>
                                  </a:solidFill>
                                  <a:latin typeface="Cambria Math" panose="02040503050406030204" pitchFamily="18" charset="0"/>
                                  <a:cs typeface="Times New Roman" panose="02020603050405020304" pitchFamily="18" charset="0"/>
                                </a:rPr>
                                <m:t>𝛾</m:t>
                              </m:r>
                            </m:sup>
                          </m:sSup>
                        </m:e>
                      </m:func>
                    </m:oMath>
                  </m:oMathPara>
                </a14:m>
                <a:endParaRPr lang="en-US" sz="2400" dirty="0">
                  <a:solidFill>
                    <a:schemeClr val="tx1"/>
                  </a:solidFill>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When both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𝑈</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and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𝑉</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are quadratic, the solution can be expressed as</a:t>
                </a:r>
              </a:p>
              <a:p>
                <a:pPr marL="0" indent="0">
                  <a:spcBef>
                    <a:spcPts val="0"/>
                  </a:spcBef>
                  <a:buNone/>
                  <a:defRPr/>
                </a:pPr>
                <a14:m>
                  <m:oMathPara xmlns:m="http://schemas.openxmlformats.org/officeDocument/2006/math">
                    <m:oMathParaPr>
                      <m:jc m:val="centerGroup"/>
                    </m:oMathParaPr>
                    <m:oMath xmlns:m="http://schemas.openxmlformats.org/officeDocument/2006/math">
                      <m:f>
                        <m:fPr>
                          <m:ctrlPr>
                            <a:rPr lang="en-CA" sz="2400" b="0" i="1" smtClean="0">
                              <a:solidFill>
                                <a:schemeClr val="tx1"/>
                              </a:solidFill>
                              <a:latin typeface="Cambria Math" panose="02040503050406030204" pitchFamily="18" charset="0"/>
                              <a:cs typeface="Times New Roman" panose="02020603050405020304" pitchFamily="18" charset="0"/>
                            </a:rPr>
                          </m:ctrlPr>
                        </m:fPr>
                        <m:num>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𝛾</m:t>
                              </m:r>
                              <m:r>
                                <a:rPr lang="en-CA" sz="2400" b="0" i="1" smtClean="0">
                                  <a:solidFill>
                                    <a:schemeClr val="tx1"/>
                                  </a:solidFill>
                                  <a:latin typeface="Cambria Math" panose="02040503050406030204" pitchFamily="18" charset="0"/>
                                  <a:cs typeface="Times New Roman" panose="02020603050405020304" pitchFamily="18" charset="0"/>
                                </a:rPr>
                                <m:t>−1</m:t>
                              </m:r>
                            </m:e>
                          </m:d>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𝐹</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𝐺𝑞</m:t>
                              </m:r>
                            </m:e>
                          </m:d>
                        </m:num>
                        <m:den>
                          <m:r>
                            <a:rPr lang="en-CA" sz="2400" b="0" i="1" smtClean="0">
                              <a:solidFill>
                                <a:schemeClr val="tx1"/>
                              </a:solidFill>
                              <a:latin typeface="Cambria Math" panose="02040503050406030204" pitchFamily="18" charset="0"/>
                              <a:cs typeface="Times New Roman" panose="02020603050405020304" pitchFamily="18" charset="0"/>
                            </a:rPr>
                            <m:t>𝛾</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𝐻</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𝐼𝑞</m:t>
                              </m:r>
                            </m:e>
                          </m:d>
                        </m:den>
                      </m:f>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𝐹</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r>
                                <a:rPr lang="en-CA" sz="2400" b="0" i="1" smtClean="0">
                                  <a:solidFill>
                                    <a:schemeClr val="tx1"/>
                                  </a:solidFill>
                                  <a:latin typeface="Cambria Math" panose="02040503050406030204" pitchFamily="18" charset="0"/>
                                  <a:cs typeface="Times New Roman" panose="02020603050405020304" pitchFamily="18" charset="0"/>
                                </a:rPr>
                                <m:t>𝐺</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num>
                        <m:den>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𝐻</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r>
                                <a:rPr lang="en-CA" sz="2400" b="0" i="1" smtClean="0">
                                  <a:solidFill>
                                    <a:schemeClr val="tx1"/>
                                  </a:solidFill>
                                  <a:latin typeface="Cambria Math" panose="02040503050406030204" pitchFamily="18" charset="0"/>
                                  <a:cs typeface="Times New Roman" panose="02020603050405020304" pitchFamily="18" charset="0"/>
                                </a:rPr>
                                <m:t>𝐼</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e>
                          </m:d>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den>
                      </m:f>
                    </m:oMath>
                  </m:oMathPara>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In the simple case where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𝛾</m:t>
                    </m:r>
                    <m:r>
                      <a:rPr lang="en-CA" sz="2400" b="0" i="1" smtClean="0">
                        <a:latin typeface="Cambria Math" panose="02040503050406030204" pitchFamily="18" charset="0"/>
                        <a:cs typeface="Times New Roman" panose="02020603050405020304" pitchFamily="18" charset="0"/>
                      </a:rPr>
                      <m:t>=.5</m:t>
                    </m:r>
                  </m:oMath>
                </a14:m>
                <a:r>
                  <a:rPr lang="en-US" sz="2400" dirty="0">
                    <a:solidFill>
                      <a:schemeClr val="tx1"/>
                    </a:solidFill>
                    <a:cs typeface="Times New Roman" panose="02020603050405020304" pitchFamily="18" charset="0"/>
                  </a:rPr>
                  <a:t>, this reduces to </a:t>
                </a:r>
              </a:p>
              <a:p>
                <a:pPr marL="0" indent="0">
                  <a:spcBef>
                    <a:spcPts val="0"/>
                  </a:spcBef>
                  <a:buNone/>
                  <a:defRPr/>
                </a:pPr>
                <a14:m>
                  <m:oMathPara xmlns:m="http://schemas.openxmlformats.org/officeDocument/2006/math">
                    <m:oMathParaPr>
                      <m:jc m:val="centerGroup"/>
                    </m:oMathParaPr>
                    <m:oMath xmlns:m="http://schemas.openxmlformats.org/officeDocument/2006/math">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m:t>
                          </m:r>
                        </m:sup>
                      </m:sSup>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2</m:t>
                          </m:r>
                        </m:den>
                      </m:f>
                      <m:d>
                        <m:dPr>
                          <m:ctrlPr>
                            <a:rPr lang="en-CA" sz="2400" b="0" i="1" smtClean="0">
                              <a:solidFill>
                                <a:schemeClr val="tx1"/>
                              </a:solidFill>
                              <a:latin typeface="Cambria Math" panose="02040503050406030204" pitchFamily="18" charset="0"/>
                              <a:cs typeface="Times New Roman" panose="02020603050405020304" pitchFamily="18" charset="0"/>
                            </a:rPr>
                          </m:ctrlPr>
                        </m:dPr>
                        <m:e>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r>
                            <a:rPr lang="en-CA" sz="2400" b="0" i="1" smtClean="0">
                              <a:solidFill>
                                <a:schemeClr val="tx1"/>
                              </a:solidFill>
                              <a:latin typeface="Cambria Math" panose="02040503050406030204" pitchFamily="18" charset="0"/>
                              <a:cs typeface="Times New Roman" panose="02020603050405020304" pitchFamily="18" charset="0"/>
                            </a:rPr>
                            <m:t>+</m:t>
                          </m:r>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𝑝𝑟𝑜𝑣𝑖𝑑𝑒𝑟</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e>
                      </m:d>
                    </m:oMath>
                  </m:oMathPara>
                </a14:m>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2978267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Bargaining for Health Care </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If we assume symmetric bargaining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𝛾</m:t>
                    </m:r>
                    <m:r>
                      <a:rPr lang="en-CA" sz="2400" b="0" i="1" smtClean="0">
                        <a:solidFill>
                          <a:schemeClr val="tx1"/>
                        </a:solidFill>
                        <a:latin typeface="Cambria Math" panose="02040503050406030204" pitchFamily="18" charset="0"/>
                        <a:cs typeface="Times New Roman" panose="02020603050405020304" pitchFamily="18" charset="0"/>
                      </a:rPr>
                      <m:t>=1/2),</m:t>
                    </m:r>
                  </m:oMath>
                </a14:m>
                <a:r>
                  <a:rPr lang="en-US" sz="2400" dirty="0">
                    <a:solidFill>
                      <a:schemeClr val="tx1"/>
                    </a:solidFill>
                    <a:cs typeface="Times New Roman" panose="02020603050405020304" pitchFamily="18" charset="0"/>
                  </a:rPr>
                  <a:t> then: </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m:t>
                          </m:r>
                        </m:sup>
                      </m:sSup>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𝑎</m:t>
                          </m:r>
                        </m:num>
                        <m:den>
                          <m:r>
                            <a:rPr lang="en-CA" sz="2400" b="0" i="1" smtClean="0">
                              <a:solidFill>
                                <a:schemeClr val="tx1"/>
                              </a:solidFill>
                              <a:latin typeface="Cambria Math" panose="02040503050406030204" pitchFamily="18" charset="0"/>
                              <a:cs typeface="Times New Roman" panose="02020603050405020304" pitchFamily="18" charset="0"/>
                            </a:rPr>
                            <m:t>𝑏</m:t>
                          </m:r>
                        </m:den>
                      </m:f>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𝑐</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𝑟</m:t>
                              </m:r>
                            </m:num>
                            <m:den>
                              <m:r>
                                <a:rPr lang="en-CA" sz="2400" b="0" i="1" smtClean="0">
                                  <a:solidFill>
                                    <a:schemeClr val="tx1"/>
                                  </a:solidFill>
                                  <a:latin typeface="Cambria Math" panose="02040503050406030204" pitchFamily="18" charset="0"/>
                                  <a:cs typeface="Times New Roman" panose="02020603050405020304" pitchFamily="18" charset="0"/>
                                </a:rPr>
                                <m:t>𝛼</m:t>
                              </m:r>
                            </m:den>
                          </m:f>
                        </m:num>
                        <m:den>
                          <m:r>
                            <a:rPr lang="en-CA" sz="2400" b="0" i="1" smtClean="0">
                              <a:solidFill>
                                <a:schemeClr val="tx1"/>
                              </a:solidFill>
                              <a:latin typeface="Cambria Math" panose="02040503050406030204" pitchFamily="18" charset="0"/>
                              <a:cs typeface="Times New Roman" panose="02020603050405020304" pitchFamily="18" charset="0"/>
                            </a:rPr>
                            <m:t>2</m:t>
                          </m:r>
                          <m:r>
                            <a:rPr lang="en-CA" sz="2400" b="0" i="1" smtClean="0">
                              <a:solidFill>
                                <a:schemeClr val="tx1"/>
                              </a:solidFill>
                              <a:latin typeface="Cambria Math" panose="02040503050406030204" pitchFamily="18" charset="0"/>
                              <a:cs typeface="Times New Roman" panose="02020603050405020304" pitchFamily="18" charset="0"/>
                            </a:rPr>
                            <m:t>𝑏</m:t>
                          </m:r>
                        </m:den>
                      </m:f>
                    </m:oMath>
                  </m:oMathPara>
                </a14:m>
                <a:endParaRPr lang="en-US" sz="2400" dirty="0">
                  <a:solidFill>
                    <a:schemeClr val="tx1"/>
                  </a:solidFill>
                  <a:cs typeface="Times New Roman" panose="02020603050405020304" pitchFamily="18" charset="0"/>
                </a:endParaRPr>
              </a:p>
              <a:p>
                <a:pPr marL="0" indent="0">
                  <a:spcBef>
                    <a:spcPts val="0"/>
                  </a:spcBef>
                  <a:buNone/>
                  <a:defRPr/>
                </a:pPr>
                <a:r>
                  <a:rPr lang="en-US" sz="2400" b="1" dirty="0">
                    <a:solidFill>
                      <a:schemeClr val="accent2">
                        <a:lumMod val="75000"/>
                      </a:schemeClr>
                    </a:solidFill>
                    <a:cs typeface="Times New Roman" panose="02020603050405020304" pitchFamily="18" charset="0"/>
                  </a:rPr>
                  <a:t>How can policy makers use this? </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a:stretch>
              </a:blipFill>
            </p:spPr>
            <p:txBody>
              <a:bodyPr/>
              <a:lstStyle/>
              <a:p>
                <a:r>
                  <a:rPr lang="en-CA">
                    <a:noFill/>
                  </a:rPr>
                  <a:t> </a:t>
                </a:r>
              </a:p>
            </p:txBody>
          </p:sp>
        </mc:Fallback>
      </mc:AlternateContent>
    </p:spTree>
    <p:extLst>
      <p:ext uri="{BB962C8B-B14F-4D97-AF65-F5344CB8AC3E}">
        <p14:creationId xmlns:p14="http://schemas.microsoft.com/office/powerpoint/2010/main" val="6552247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Bargaining for Health Care </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If we assume symmetric bargaining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𝛾</m:t>
                    </m:r>
                    <m:r>
                      <a:rPr lang="en-CA" sz="2400" b="0" i="1" smtClean="0">
                        <a:solidFill>
                          <a:schemeClr val="tx1"/>
                        </a:solidFill>
                        <a:latin typeface="Cambria Math" panose="02040503050406030204" pitchFamily="18" charset="0"/>
                        <a:cs typeface="Times New Roman" panose="02020603050405020304" pitchFamily="18" charset="0"/>
                      </a:rPr>
                      <m:t>=1/2),</m:t>
                    </m:r>
                  </m:oMath>
                </a14:m>
                <a:r>
                  <a:rPr lang="en-US" sz="2400" dirty="0">
                    <a:solidFill>
                      <a:schemeClr val="tx1"/>
                    </a:solidFill>
                    <a:cs typeface="Times New Roman" panose="02020603050405020304" pitchFamily="18" charset="0"/>
                  </a:rPr>
                  <a:t> then: </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m:t>
                          </m:r>
                        </m:sup>
                      </m:sSup>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𝑎</m:t>
                          </m:r>
                        </m:num>
                        <m:den>
                          <m:r>
                            <a:rPr lang="en-CA" sz="2400" b="0" i="1" smtClean="0">
                              <a:solidFill>
                                <a:schemeClr val="tx1"/>
                              </a:solidFill>
                              <a:latin typeface="Cambria Math" panose="02040503050406030204" pitchFamily="18" charset="0"/>
                              <a:cs typeface="Times New Roman" panose="02020603050405020304" pitchFamily="18" charset="0"/>
                            </a:rPr>
                            <m:t>𝑏</m:t>
                          </m:r>
                        </m:den>
                      </m:f>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𝑐</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𝑟</m:t>
                              </m:r>
                            </m:num>
                            <m:den>
                              <m:r>
                                <a:rPr lang="en-CA" sz="2400" b="0" i="1" smtClean="0">
                                  <a:solidFill>
                                    <a:schemeClr val="tx1"/>
                                  </a:solidFill>
                                  <a:latin typeface="Cambria Math" panose="02040503050406030204" pitchFamily="18" charset="0"/>
                                  <a:cs typeface="Times New Roman" panose="02020603050405020304" pitchFamily="18" charset="0"/>
                                </a:rPr>
                                <m:t>𝛼</m:t>
                              </m:r>
                            </m:den>
                          </m:f>
                        </m:num>
                        <m:den>
                          <m:r>
                            <a:rPr lang="en-CA" sz="2400" b="0" i="1" smtClean="0">
                              <a:solidFill>
                                <a:schemeClr val="tx1"/>
                              </a:solidFill>
                              <a:latin typeface="Cambria Math" panose="02040503050406030204" pitchFamily="18" charset="0"/>
                              <a:cs typeface="Times New Roman" panose="02020603050405020304" pitchFamily="18" charset="0"/>
                            </a:rPr>
                            <m:t>2</m:t>
                          </m:r>
                          <m:r>
                            <a:rPr lang="en-CA" sz="2400" b="0" i="1" smtClean="0">
                              <a:solidFill>
                                <a:schemeClr val="tx1"/>
                              </a:solidFill>
                              <a:latin typeface="Cambria Math" panose="02040503050406030204" pitchFamily="18" charset="0"/>
                              <a:cs typeface="Times New Roman" panose="02020603050405020304" pitchFamily="18" charset="0"/>
                            </a:rPr>
                            <m:t>𝑏</m:t>
                          </m:r>
                        </m:den>
                      </m:f>
                    </m:oMath>
                  </m:oMathPara>
                </a14:m>
                <a:endParaRPr lang="en-US" sz="2400" dirty="0">
                  <a:solidFill>
                    <a:schemeClr val="tx1"/>
                  </a:solidFill>
                  <a:cs typeface="Times New Roman" panose="02020603050405020304" pitchFamily="18" charset="0"/>
                </a:endParaRPr>
              </a:p>
              <a:p>
                <a:pPr marL="0" indent="0">
                  <a:spcBef>
                    <a:spcPts val="0"/>
                  </a:spcBef>
                  <a:buNone/>
                  <a:defRPr/>
                </a:pPr>
                <a:r>
                  <a:rPr lang="en-US" sz="2400" b="1" dirty="0">
                    <a:solidFill>
                      <a:schemeClr val="accent2">
                        <a:lumMod val="75000"/>
                      </a:schemeClr>
                    </a:solidFill>
                    <a:cs typeface="Times New Roman" panose="02020603050405020304" pitchFamily="18" charset="0"/>
                  </a:rPr>
                  <a:t>How can policy makers use this?</a:t>
                </a:r>
              </a:p>
              <a:p>
                <a:pPr>
                  <a:spcBef>
                    <a:spcPts val="0"/>
                  </a:spcBef>
                  <a:defRPr/>
                </a:pPr>
                <a:r>
                  <a:rPr lang="en-US" sz="2400" dirty="0">
                    <a:cs typeface="Times New Roman" panose="02020603050405020304" pitchFamily="18" charset="0"/>
                  </a:rPr>
                  <a:t>Policymakers in the model have 2 parameters in hand: </a:t>
                </a:r>
                <a14:m>
                  <m:oMath xmlns:m="http://schemas.openxmlformats.org/officeDocument/2006/math">
                    <m:sSub>
                      <m:sSubPr>
                        <m:ctrlPr>
                          <a:rPr lang="en-CA" sz="2400" b="0" i="1" smtClean="0">
                            <a:latin typeface="Cambria Math" panose="02040503050406030204" pitchFamily="18" charset="0"/>
                            <a:cs typeface="Times New Roman" panose="02020603050405020304" pitchFamily="18" charset="0"/>
                          </a:rPr>
                        </m:ctrlPr>
                      </m:sSubPr>
                      <m:e>
                        <m:r>
                          <a:rPr lang="en-CA" sz="2400" b="0" i="1" smtClean="0">
                            <a:latin typeface="Cambria Math" panose="02040503050406030204" pitchFamily="18" charset="0"/>
                            <a:cs typeface="Times New Roman" panose="02020603050405020304" pitchFamily="18" charset="0"/>
                          </a:rPr>
                          <m:t>𝑅</m:t>
                        </m:r>
                      </m:e>
                      <m:sub>
                        <m:r>
                          <a:rPr lang="en-CA" sz="2400" b="0" i="1" smtClean="0">
                            <a:latin typeface="Cambria Math" panose="02040503050406030204" pitchFamily="18" charset="0"/>
                            <a:cs typeface="Times New Roman" panose="02020603050405020304" pitchFamily="18" charset="0"/>
                          </a:rPr>
                          <m:t>0</m:t>
                        </m:r>
                      </m:sub>
                    </m:sSub>
                    <m:r>
                      <a:rPr lang="en-CA" sz="2400" b="1" i="0" smtClean="0">
                        <a:latin typeface="Cambria Math" panose="02040503050406030204" pitchFamily="18" charset="0"/>
                        <a:cs typeface="Times New Roman" panose="02020603050405020304" pitchFamily="18" charset="0"/>
                      </a:rPr>
                      <m:t> </m:t>
                    </m:r>
                    <m:r>
                      <m:rPr>
                        <m:sty m:val="p"/>
                      </m:rPr>
                      <a:rPr lang="en-CA" sz="2400" b="0" i="0" smtClean="0">
                        <a:latin typeface="Cambria Math" panose="02040503050406030204" pitchFamily="18" charset="0"/>
                        <a:cs typeface="Times New Roman" panose="02020603050405020304" pitchFamily="18" charset="0"/>
                      </a:rPr>
                      <m:t>and</m:t>
                    </m:r>
                    <m:r>
                      <a:rPr lang="en-CA" sz="2400" b="0" i="0" smtClean="0">
                        <a:latin typeface="Cambria Math" panose="02040503050406030204" pitchFamily="18" charset="0"/>
                        <a:cs typeface="Times New Roman" panose="02020603050405020304" pitchFamily="18" charset="0"/>
                      </a:rPr>
                      <m:t> </m:t>
                    </m:r>
                    <m:r>
                      <a:rPr lang="en-CA" sz="2400" b="0" i="1" smtClean="0">
                        <a:latin typeface="Cambria Math" panose="02040503050406030204" pitchFamily="18" charset="0"/>
                        <a:cs typeface="Times New Roman" panose="02020603050405020304" pitchFamily="18" charset="0"/>
                      </a:rPr>
                      <m:t>𝑟</m:t>
                    </m:r>
                  </m:oMath>
                </a14:m>
                <a:endParaRPr lang="en-CA" sz="2400" b="0" dirty="0">
                  <a:cs typeface="Times New Roman" panose="02020603050405020304" pitchFamily="18" charset="0"/>
                </a:endParaRPr>
              </a:p>
              <a:p>
                <a:pPr>
                  <a:spcBef>
                    <a:spcPts val="0"/>
                  </a:spcBef>
                  <a:defRPr/>
                </a:pPr>
                <a:r>
                  <a:rPr lang="en-US" sz="2400" dirty="0">
                    <a:solidFill>
                      <a:schemeClr val="tx1"/>
                    </a:solidFill>
                    <a:cs typeface="Times New Roman" panose="02020603050405020304" pitchFamily="18" charset="0"/>
                  </a:rPr>
                  <a:t>In both models,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𝑟</m:t>
                    </m:r>
                  </m:oMath>
                </a14:m>
                <a:r>
                  <a:rPr lang="en-US" sz="2400" dirty="0">
                    <a:solidFill>
                      <a:schemeClr val="tx1"/>
                    </a:solidFill>
                    <a:cs typeface="Times New Roman" panose="02020603050405020304" pitchFamily="18" charset="0"/>
                  </a:rPr>
                  <a:t> led providers to choose efficient allocations of </a:t>
                </a:r>
                <a:r>
                  <a:rPr lang="en-US" sz="2400" i="1" dirty="0">
                    <a:solidFill>
                      <a:schemeClr val="tx1"/>
                    </a:solidFill>
                    <a:cs typeface="Times New Roman" panose="02020603050405020304" pitchFamily="18" charset="0"/>
                  </a:rPr>
                  <a:t>q</a:t>
                </a:r>
              </a:p>
              <a:p>
                <a:pPr>
                  <a:spcBef>
                    <a:spcPts val="0"/>
                  </a:spcBef>
                  <a:defRPr/>
                </a:pPr>
                <a:r>
                  <a:rPr lang="en-US" sz="2400" i="1" dirty="0">
                    <a:solidFill>
                      <a:schemeClr val="accent2">
                        <a:lumMod val="75000"/>
                      </a:schemeClr>
                    </a:solidFill>
                    <a:cs typeface="Times New Roman" panose="02020603050405020304" pitchFamily="18" charset="0"/>
                  </a:rPr>
                  <a:t>Choice of </a:t>
                </a:r>
                <a14:m>
                  <m:oMath xmlns:m="http://schemas.openxmlformats.org/officeDocument/2006/math">
                    <m:sSub>
                      <m:sSubPr>
                        <m:ctrlPr>
                          <a:rPr lang="en-CA" sz="2400"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CA" sz="2400" b="0" i="1" smtClean="0">
                            <a:solidFill>
                              <a:schemeClr val="accent2">
                                <a:lumMod val="75000"/>
                              </a:schemeClr>
                            </a:solidFill>
                            <a:latin typeface="Cambria Math" panose="02040503050406030204" pitchFamily="18" charset="0"/>
                            <a:cs typeface="Times New Roman" panose="02020603050405020304" pitchFamily="18" charset="0"/>
                          </a:rPr>
                          <m:t>𝑅</m:t>
                        </m:r>
                      </m:e>
                      <m:sub>
                        <m:r>
                          <a:rPr lang="en-CA" sz="2400" b="0" i="1" smtClean="0">
                            <a:solidFill>
                              <a:schemeClr val="accent2">
                                <a:lumMod val="75000"/>
                              </a:schemeClr>
                            </a:solidFill>
                            <a:latin typeface="Cambria Math" panose="02040503050406030204" pitchFamily="18" charset="0"/>
                            <a:cs typeface="Times New Roman" panose="02020603050405020304" pitchFamily="18" charset="0"/>
                          </a:rPr>
                          <m:t>0</m:t>
                        </m:r>
                      </m:sub>
                    </m:sSub>
                    <m:r>
                      <a:rPr lang="en-CA" sz="2400" b="0"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dirty="0">
                    <a:solidFill>
                      <a:schemeClr val="accent2">
                        <a:lumMod val="75000"/>
                      </a:schemeClr>
                    </a:solidFill>
                    <a:cs typeface="Times New Roman" panose="02020603050405020304" pitchFamily="18" charset="0"/>
                  </a:rPr>
                  <a:t> choosing </a:t>
                </a:r>
                <a14:m>
                  <m:oMath xmlns:m="http://schemas.openxmlformats.org/officeDocument/2006/math">
                    <m:sSup>
                      <m:sSupPr>
                        <m:ctrlPr>
                          <a:rPr lang="en-CA" sz="2400" i="1" smtClean="0">
                            <a:solidFill>
                              <a:schemeClr val="accent2">
                                <a:lumMod val="75000"/>
                              </a:schemeClr>
                            </a:solidFill>
                            <a:latin typeface="Cambria Math" panose="02040503050406030204" pitchFamily="18" charset="0"/>
                            <a:cs typeface="Times New Roman" panose="02020603050405020304" pitchFamily="18" charset="0"/>
                          </a:rPr>
                        </m:ctrlPr>
                      </m:sSupPr>
                      <m:e>
                        <m:r>
                          <a:rPr lang="en-CA" sz="2400" b="0" i="1" smtClean="0">
                            <a:solidFill>
                              <a:schemeClr val="accent2">
                                <a:lumMod val="75000"/>
                              </a:schemeClr>
                            </a:solidFill>
                            <a:latin typeface="Cambria Math" panose="02040503050406030204" pitchFamily="18" charset="0"/>
                            <a:cs typeface="Times New Roman" panose="02020603050405020304" pitchFamily="18" charset="0"/>
                          </a:rPr>
                          <m:t>𝑞</m:t>
                        </m:r>
                      </m:e>
                      <m:sup>
                        <m:r>
                          <a:rPr lang="en-CA" sz="2400" b="0" i="1" smtClean="0">
                            <a:solidFill>
                              <a:schemeClr val="accent2">
                                <a:lumMod val="75000"/>
                              </a:schemeClr>
                            </a:solidFill>
                            <a:latin typeface="Cambria Math" panose="02040503050406030204" pitchFamily="18" charset="0"/>
                            <a:cs typeface="Times New Roman" panose="02020603050405020304" pitchFamily="18" charset="0"/>
                          </a:rPr>
                          <m:t>∗</m:t>
                        </m:r>
                      </m:sup>
                    </m:sSup>
                    <m:r>
                      <a:rPr lang="en-CA" sz="2400" b="0" i="1" smtClean="0">
                        <a:solidFill>
                          <a:schemeClr val="accent2">
                            <a:lumMod val="75000"/>
                          </a:schemeClr>
                        </a:solidFill>
                        <a:latin typeface="Cambria Math" panose="02040503050406030204" pitchFamily="18" charset="0"/>
                        <a:cs typeface="Times New Roman" panose="02020603050405020304" pitchFamily="18" charset="0"/>
                      </a:rPr>
                      <m:t>=</m:t>
                    </m:r>
                    <m:r>
                      <a:rPr lang="en-CA" sz="2400" b="0" i="1" smtClean="0">
                        <a:solidFill>
                          <a:schemeClr val="accent2">
                            <a:lumMod val="75000"/>
                          </a:schemeClr>
                        </a:solidFill>
                        <a:latin typeface="Cambria Math" panose="02040503050406030204" pitchFamily="18" charset="0"/>
                        <a:cs typeface="Times New Roman" panose="02020603050405020304" pitchFamily="18" charset="0"/>
                      </a:rPr>
                      <m:t>𝑞</m:t>
                    </m:r>
                    <m:r>
                      <a:rPr lang="en-CA" sz="2400" b="0"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a:t>
                </a:r>
              </a:p>
              <a:p>
                <a:pPr lvl="1">
                  <a:spcBef>
                    <a:spcPts val="0"/>
                  </a:spcBef>
                  <a:defRPr/>
                </a:pPr>
                <a:r>
                  <a:rPr lang="en-US" sz="2200" dirty="0">
                    <a:solidFill>
                      <a:schemeClr val="tx1"/>
                    </a:solidFill>
                    <a:cs typeface="Times New Roman" panose="02020603050405020304" pitchFamily="18" charset="0"/>
                  </a:rPr>
                  <a:t>In particular, choose </a:t>
                </a:r>
                <a14:m>
                  <m:oMath xmlns:m="http://schemas.openxmlformats.org/officeDocument/2006/math">
                    <m:sSub>
                      <m:sSubPr>
                        <m:ctrlPr>
                          <a:rPr lang="en-CA" sz="2200" i="1" smtClean="0">
                            <a:solidFill>
                              <a:schemeClr val="tx1"/>
                            </a:solidFill>
                            <a:latin typeface="Cambria Math" panose="02040503050406030204" pitchFamily="18" charset="0"/>
                            <a:cs typeface="Times New Roman" panose="02020603050405020304" pitchFamily="18" charset="0"/>
                          </a:rPr>
                        </m:ctrlPr>
                      </m:sSubPr>
                      <m:e>
                        <m:r>
                          <a:rPr lang="en-CA" sz="2200" b="0" i="1" smtClean="0">
                            <a:solidFill>
                              <a:schemeClr val="tx1"/>
                            </a:solidFill>
                            <a:latin typeface="Cambria Math" panose="02040503050406030204" pitchFamily="18" charset="0"/>
                            <a:cs typeface="Times New Roman" panose="02020603050405020304" pitchFamily="18" charset="0"/>
                          </a:rPr>
                          <m:t>𝑅</m:t>
                        </m:r>
                      </m:e>
                      <m:sub>
                        <m:r>
                          <a:rPr lang="en-CA" sz="2200" b="0" i="1" smtClean="0">
                            <a:solidFill>
                              <a:schemeClr val="tx1"/>
                            </a:solidFill>
                            <a:latin typeface="Cambria Math" panose="02040503050406030204" pitchFamily="18" charset="0"/>
                            <a:cs typeface="Times New Roman" panose="02020603050405020304" pitchFamily="18" charset="0"/>
                          </a:rPr>
                          <m:t>0</m:t>
                        </m:r>
                      </m:sub>
                    </m:sSub>
                  </m:oMath>
                </a14:m>
                <a:r>
                  <a:rPr lang="en-US" sz="2200" dirty="0">
                    <a:solidFill>
                      <a:schemeClr val="tx1"/>
                    </a:solidFill>
                    <a:cs typeface="Times New Roman" panose="02020603050405020304" pitchFamily="18" charset="0"/>
                  </a:rPr>
                  <a:t> so that the expected net revenue of the provider is 0</a:t>
                </a:r>
              </a:p>
              <a:p>
                <a:pPr lvl="1">
                  <a:spcBef>
                    <a:spcPts val="0"/>
                  </a:spcBef>
                  <a:defRPr/>
                </a:pPr>
                <a:r>
                  <a:rPr lang="en-US" sz="2200" dirty="0">
                    <a:solidFill>
                      <a:schemeClr val="tx1"/>
                    </a:solidFill>
                    <a:cs typeface="Times New Roman" panose="02020603050405020304" pitchFamily="18" charset="0"/>
                  </a:rPr>
                  <a:t>Cover the costs of the average patient </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a:stretch>
              </a:blipFill>
            </p:spPr>
            <p:txBody>
              <a:bodyPr/>
              <a:lstStyle/>
              <a:p>
                <a:r>
                  <a:rPr lang="en-CA">
                    <a:noFill/>
                  </a:rPr>
                  <a:t> </a:t>
                </a:r>
              </a:p>
            </p:txBody>
          </p:sp>
        </mc:Fallback>
      </mc:AlternateContent>
    </p:spTree>
    <p:extLst>
      <p:ext uri="{BB962C8B-B14F-4D97-AF65-F5344CB8AC3E}">
        <p14:creationId xmlns:p14="http://schemas.microsoft.com/office/powerpoint/2010/main" val="38303475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Social Optimum</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We achieve </a:t>
                </a:r>
                <a14:m>
                  <m:oMath xmlns:m="http://schemas.openxmlformats.org/officeDocument/2006/math">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m:t>
                        </m:r>
                      </m:sup>
                    </m:sSup>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oMath>
                </a14:m>
                <a:r>
                  <a:rPr lang="en-US" sz="2400" dirty="0">
                    <a:solidFill>
                      <a:schemeClr val="tx1"/>
                    </a:solidFill>
                    <a:cs typeface="Times New Roman" panose="02020603050405020304" pitchFamily="18" charset="0"/>
                  </a:rPr>
                  <a:t> when marginal social benefits = marginal social costs </a:t>
                </a:r>
              </a:p>
              <a:p>
                <a:pPr>
                  <a:spcBef>
                    <a:spcPts val="0"/>
                  </a:spcBef>
                  <a:defRPr/>
                </a:pPr>
                <a:r>
                  <a:rPr lang="en-US" sz="2400" dirty="0">
                    <a:cs typeface="Times New Roman" panose="02020603050405020304" pitchFamily="18" charset="0"/>
                  </a:rPr>
                  <a:t>In this model, this means </a:t>
                </a:r>
                <a14:m>
                  <m:oMath xmlns:m="http://schemas.openxmlformats.org/officeDocument/2006/math">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𝐵</m:t>
                        </m:r>
                      </m:e>
                      <m:sup>
                        <m:r>
                          <a:rPr lang="en-CA" sz="2400" b="0" i="1" smtClean="0">
                            <a:latin typeface="Cambria Math" panose="02040503050406030204" pitchFamily="18" charset="0"/>
                            <a:cs typeface="Times New Roman" panose="02020603050405020304" pitchFamily="18" charset="0"/>
                          </a:rPr>
                          <m:t>′</m:t>
                        </m:r>
                      </m:sup>
                    </m:sSup>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𝑞</m:t>
                        </m:r>
                      </m:e>
                    </m:d>
                    <m:r>
                      <a:rPr lang="en-CA" sz="2400" b="0" i="1" smtClean="0">
                        <a:latin typeface="Cambria Math" panose="02040503050406030204" pitchFamily="18" charset="0"/>
                        <a:cs typeface="Times New Roman" panose="02020603050405020304" pitchFamily="18" charset="0"/>
                      </a:rPr>
                      <m:t>=1</m:t>
                    </m:r>
                  </m:oMath>
                </a14:m>
                <a:r>
                  <a:rPr lang="en-US" sz="2400" dirty="0">
                    <a:solidFill>
                      <a:schemeClr val="tx1"/>
                    </a:solidFill>
                    <a:cs typeface="Times New Roman" panose="02020603050405020304" pitchFamily="18" charset="0"/>
                  </a:rPr>
                  <a:t>, so </a:t>
                </a:r>
                <a14:m>
                  <m:oMath xmlns:m="http://schemas.openxmlformats.org/officeDocument/2006/math">
                    <m:sSubSup>
                      <m:sSubSupPr>
                        <m:ctrlPr>
                          <a:rPr lang="en-CA" sz="2400" b="0" i="1" smtClean="0">
                            <a:solidFill>
                              <a:schemeClr val="tx1"/>
                            </a:solidFill>
                            <a:latin typeface="Cambria Math" panose="02040503050406030204" pitchFamily="18" charset="0"/>
                            <a:cs typeface="Times New Roman" panose="02020603050405020304" pitchFamily="18" charset="0"/>
                          </a:rPr>
                        </m:ctrlPr>
                      </m:sSubSupPr>
                      <m:e>
                        <m:r>
                          <a:rPr lang="en-CA" sz="2400" b="0" i="1" smtClean="0">
                            <a:solidFill>
                              <a:schemeClr val="tx1"/>
                            </a:solidFill>
                            <a:latin typeface="Cambria Math" panose="02040503050406030204" pitchFamily="18" charset="0"/>
                            <a:cs typeface="Times New Roman" panose="02020603050405020304" pitchFamily="18" charset="0"/>
                          </a:rPr>
                          <m:t>𝑞</m:t>
                        </m:r>
                      </m:e>
                      <m:sub>
                        <m:r>
                          <a:rPr lang="en-CA" sz="2400" b="0" i="1" smtClean="0">
                            <a:solidFill>
                              <a:schemeClr val="tx1"/>
                            </a:solidFill>
                            <a:latin typeface="Cambria Math" panose="02040503050406030204" pitchFamily="18" charset="0"/>
                            <a:cs typeface="Times New Roman" panose="02020603050405020304" pitchFamily="18" charset="0"/>
                          </a:rPr>
                          <m:t>𝑝𝑎𝑡𝑖𝑒𝑛𝑡</m:t>
                        </m:r>
                      </m:sub>
                      <m:sup>
                        <m:r>
                          <a:rPr lang="en-CA" sz="2400" b="0" i="1" smtClean="0">
                            <a:solidFill>
                              <a:schemeClr val="tx1"/>
                            </a:solidFill>
                            <a:latin typeface="Cambria Math" panose="02040503050406030204" pitchFamily="18" charset="0"/>
                            <a:cs typeface="Times New Roman" panose="02020603050405020304" pitchFamily="18" charset="0"/>
                          </a:rPr>
                          <m:t>∗</m:t>
                        </m:r>
                      </m:sup>
                    </m:sSubSup>
                    <m:r>
                      <a:rPr lang="en-CA" sz="2400" b="0" i="1" smtClean="0">
                        <a:solidFill>
                          <a:schemeClr val="tx1"/>
                        </a:solidFill>
                        <a:latin typeface="Cambria Math" panose="02040503050406030204" pitchFamily="18" charset="0"/>
                        <a:cs typeface="Times New Roman" panose="02020603050405020304" pitchFamily="18" charset="0"/>
                      </a:rPr>
                      <m:t>=</m:t>
                    </m:r>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𝑞</m:t>
                        </m:r>
                      </m:e>
                      <m:sup>
                        <m:r>
                          <a:rPr lang="en-CA" sz="2400" b="0" i="1" smtClean="0">
                            <a:solidFill>
                              <a:schemeClr val="tx1"/>
                            </a:solidFill>
                            <a:latin typeface="Cambria Math" panose="02040503050406030204" pitchFamily="18" charset="0"/>
                            <a:cs typeface="Times New Roman" panose="02020603050405020304" pitchFamily="18" charset="0"/>
                          </a:rPr>
                          <m:t>′</m:t>
                        </m:r>
                      </m:sup>
                    </m:sSup>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𝑎</m:t>
                        </m:r>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𝑏</m:t>
                        </m:r>
                      </m:den>
                    </m:f>
                  </m:oMath>
                </a14:m>
                <a:endParaRPr lang="en-US" sz="2400" dirty="0">
                  <a:solidFill>
                    <a:schemeClr val="tx1"/>
                  </a:solidFill>
                  <a:cs typeface="Times New Roman" panose="02020603050405020304" pitchFamily="18" charset="0"/>
                </a:endParaRPr>
              </a:p>
              <a:p>
                <a:pPr>
                  <a:spcBef>
                    <a:spcPts val="0"/>
                  </a:spcBef>
                  <a:defRPr/>
                </a:pPr>
                <a:r>
                  <a:rPr lang="en-CA" sz="2400" dirty="0">
                    <a:solidFill>
                      <a:schemeClr val="tx1"/>
                    </a:solidFill>
                    <a:cs typeface="Times New Roman" panose="02020603050405020304" pitchFamily="18" charset="0"/>
                  </a:rPr>
                  <a:t>Based on our bargaining solution:</a:t>
                </a:r>
                <a:endParaRPr lang="en-US" sz="2400" dirty="0">
                  <a:cs typeface="Times New Roman" panose="02020603050405020304" pitchFamily="18" charset="0"/>
                </a:endParaRPr>
              </a:p>
              <a:p>
                <a:pPr marL="0" indent="0">
                  <a:spcBef>
                    <a:spcPts val="0"/>
                  </a:spcBef>
                  <a:buNone/>
                  <a:defRPr/>
                </a:pPr>
                <a14:m>
                  <m:oMathPara xmlns:m="http://schemas.openxmlformats.org/officeDocument/2006/math">
                    <m:oMathParaPr>
                      <m:jc m:val="centerGroup"/>
                    </m:oMathParaPr>
                    <m:oMath xmlns:m="http://schemas.openxmlformats.org/officeDocument/2006/math">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𝑎</m:t>
                          </m:r>
                          <m:r>
                            <a:rPr lang="en-CA" sz="2400" b="0" i="1" smtClean="0">
                              <a:solidFill>
                                <a:schemeClr val="tx1"/>
                              </a:solidFill>
                              <a:latin typeface="Cambria Math" panose="02040503050406030204" pitchFamily="18" charset="0"/>
                              <a:cs typeface="Times New Roman" panose="02020603050405020304" pitchFamily="18" charset="0"/>
                            </a:rPr>
                            <m:t>−1</m:t>
                          </m:r>
                        </m:num>
                        <m:den>
                          <m:r>
                            <a:rPr lang="en-CA" sz="2400" b="0" i="1" smtClean="0">
                              <a:solidFill>
                                <a:schemeClr val="tx1"/>
                              </a:solidFill>
                              <a:latin typeface="Cambria Math" panose="02040503050406030204" pitchFamily="18" charset="0"/>
                              <a:cs typeface="Times New Roman" panose="02020603050405020304" pitchFamily="18" charset="0"/>
                            </a:rPr>
                            <m:t>𝑏</m:t>
                          </m:r>
                        </m:den>
                      </m:f>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𝑎</m:t>
                          </m:r>
                        </m:num>
                        <m:den>
                          <m:r>
                            <a:rPr lang="en-CA" sz="2400" b="0" i="1" smtClean="0">
                              <a:solidFill>
                                <a:schemeClr val="tx1"/>
                              </a:solidFill>
                              <a:latin typeface="Cambria Math" panose="02040503050406030204" pitchFamily="18" charset="0"/>
                              <a:cs typeface="Times New Roman" panose="02020603050405020304" pitchFamily="18" charset="0"/>
                            </a:rPr>
                            <m:t>𝑏</m:t>
                          </m:r>
                        </m:den>
                      </m:f>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𝑐</m:t>
                          </m:r>
                          <m:r>
                            <a:rPr lang="en-CA" sz="2400" b="0" i="1" smtClean="0">
                              <a:solidFill>
                                <a:schemeClr val="tx1"/>
                              </a:solidFill>
                              <a:latin typeface="Cambria Math" panose="02040503050406030204" pitchFamily="18" charset="0"/>
                              <a:cs typeface="Times New Roman" panose="02020603050405020304" pitchFamily="18" charset="0"/>
                            </a:rPr>
                            <m:t>+</m:t>
                          </m:r>
                          <m:f>
                            <m:fPr>
                              <m:ctrlPr>
                                <a:rPr lang="en-CA" sz="2400" b="0" i="1" smtClean="0">
                                  <a:solidFill>
                                    <a:schemeClr val="tx1"/>
                                  </a:solidFill>
                                  <a:latin typeface="Cambria Math" panose="02040503050406030204" pitchFamily="18" charset="0"/>
                                  <a:cs typeface="Times New Roman" panose="02020603050405020304" pitchFamily="18" charset="0"/>
                                </a:rPr>
                              </m:ctrlPr>
                            </m:fPr>
                            <m:num>
                              <m:r>
                                <a:rPr lang="en-CA" sz="2400" b="0" i="1" smtClean="0">
                                  <a:solidFill>
                                    <a:schemeClr val="tx1"/>
                                  </a:solidFill>
                                  <a:latin typeface="Cambria Math" panose="02040503050406030204" pitchFamily="18" charset="0"/>
                                  <a:cs typeface="Times New Roman" panose="02020603050405020304" pitchFamily="18" charset="0"/>
                                </a:rPr>
                                <m:t>𝑟</m:t>
                              </m:r>
                            </m:num>
                            <m:den>
                              <m:r>
                                <a:rPr lang="en-CA" sz="2400" b="0" i="1" smtClean="0">
                                  <a:solidFill>
                                    <a:schemeClr val="tx1"/>
                                  </a:solidFill>
                                  <a:latin typeface="Cambria Math" panose="02040503050406030204" pitchFamily="18" charset="0"/>
                                  <a:cs typeface="Times New Roman" panose="02020603050405020304" pitchFamily="18" charset="0"/>
                                </a:rPr>
                                <m:t>𝛼</m:t>
                              </m:r>
                            </m:den>
                          </m:f>
                        </m:num>
                        <m:den>
                          <m:r>
                            <a:rPr lang="en-CA" sz="2400" b="0" i="1" smtClean="0">
                              <a:solidFill>
                                <a:schemeClr val="tx1"/>
                              </a:solidFill>
                              <a:latin typeface="Cambria Math" panose="02040503050406030204" pitchFamily="18" charset="0"/>
                              <a:cs typeface="Times New Roman" panose="02020603050405020304" pitchFamily="18" charset="0"/>
                            </a:rPr>
                            <m:t>2</m:t>
                          </m:r>
                          <m:r>
                            <a:rPr lang="en-CA" sz="2400" b="0" i="1" smtClean="0">
                              <a:solidFill>
                                <a:schemeClr val="tx1"/>
                              </a:solidFill>
                              <a:latin typeface="Cambria Math" panose="02040503050406030204" pitchFamily="18" charset="0"/>
                              <a:cs typeface="Times New Roman" panose="02020603050405020304" pitchFamily="18" charset="0"/>
                            </a:rPr>
                            <m:t>𝑏</m:t>
                          </m:r>
                        </m:den>
                      </m:f>
                      <m:r>
                        <a:rPr lang="en-CA" sz="2400" b="0" i="1" smtClean="0">
                          <a:solidFill>
                            <a:schemeClr val="tx1"/>
                          </a:solidFill>
                          <a:latin typeface="Cambria Math" panose="02040503050406030204" pitchFamily="18" charset="0"/>
                          <a:cs typeface="Times New Roman" panose="02020603050405020304" pitchFamily="18" charset="0"/>
                        </a:rPr>
                        <m:t>⇒</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𝒄</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𝒓</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𝜶</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m:t>
                      </m:r>
                      <m:r>
                        <a:rPr lang="en-CA" sz="2400" b="1" i="1" smtClean="0">
                          <a:solidFill>
                            <a:schemeClr val="accent3">
                              <a:lumMod val="75000"/>
                            </a:schemeClr>
                          </a:solidFill>
                          <a:latin typeface="Cambria Math" panose="02040503050406030204" pitchFamily="18" charset="0"/>
                          <a:cs typeface="Times New Roman" panose="02020603050405020304" pitchFamily="18" charset="0"/>
                        </a:rPr>
                        <m:t>𝟐</m:t>
                      </m:r>
                      <m:r>
                        <a:rPr lang="en-CA" sz="2400" b="0" i="1" smtClean="0">
                          <a:solidFill>
                            <a:schemeClr val="tx1"/>
                          </a:solidFill>
                          <a:latin typeface="Cambria Math" panose="02040503050406030204" pitchFamily="18" charset="0"/>
                          <a:cs typeface="Times New Roman" panose="02020603050405020304" pitchFamily="18" charset="0"/>
                        </a:rPr>
                        <m:t> </m:t>
                      </m:r>
                    </m:oMath>
                  </m:oMathPara>
                </a14:m>
                <a:endParaRPr lang="en-US" sz="2400" dirty="0">
                  <a:solidFill>
                    <a:schemeClr val="tx1"/>
                  </a:solidFill>
                  <a:cs typeface="Times New Roman" panose="02020603050405020304" pitchFamily="18" charset="0"/>
                </a:endParaRPr>
              </a:p>
              <a:p>
                <a:pPr>
                  <a:spcBef>
                    <a:spcPts val="0"/>
                  </a:spcBef>
                  <a:defRPr/>
                </a:pPr>
                <a:endParaRPr lang="en-US" sz="2400" dirty="0">
                  <a:cs typeface="Times New Roman" panose="02020603050405020304" pitchFamily="18" charset="0"/>
                </a:endParaRPr>
              </a:p>
              <a:p>
                <a:pPr>
                  <a:spcBef>
                    <a:spcPts val="0"/>
                  </a:spcBef>
                  <a:defRPr/>
                </a:pPr>
                <a:r>
                  <a:rPr lang="en-CA" sz="2400" dirty="0">
                    <a:cs typeface="Times New Roman" panose="02020603050405020304" pitchFamily="18" charset="0"/>
                  </a:rPr>
                  <a:t>Then, the cost of the average patient is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𝐶</m:t>
                    </m:r>
                    <m:d>
                      <m:dPr>
                        <m:ctrlPr>
                          <a:rPr lang="en-CA" sz="2400" b="0" i="1" smtClean="0">
                            <a:latin typeface="Cambria Math" panose="02040503050406030204" pitchFamily="18" charset="0"/>
                            <a:cs typeface="Times New Roman" panose="02020603050405020304" pitchFamily="18" charset="0"/>
                          </a:rPr>
                        </m:ctrlPr>
                      </m:dPr>
                      <m:e>
                        <m:sSup>
                          <m:sSupPr>
                            <m:ctrlPr>
                              <a:rPr lang="en-CA" sz="2400" b="0" i="1" smtClean="0">
                                <a:latin typeface="Cambria Math" panose="02040503050406030204" pitchFamily="18" charset="0"/>
                                <a:cs typeface="Times New Roman" panose="02020603050405020304" pitchFamily="18" charset="0"/>
                              </a:rPr>
                            </m:ctrlPr>
                          </m:sSupPr>
                          <m:e>
                            <m:r>
                              <a:rPr lang="en-CA" sz="2400" b="0" i="1" smtClean="0">
                                <a:latin typeface="Cambria Math" panose="02040503050406030204" pitchFamily="18" charset="0"/>
                                <a:cs typeface="Times New Roman" panose="02020603050405020304" pitchFamily="18" charset="0"/>
                              </a:rPr>
                              <m:t>𝑞</m:t>
                            </m:r>
                          </m:e>
                          <m:sup>
                            <m:r>
                              <a:rPr lang="en-CA" sz="2400" b="0" i="1" smtClean="0">
                                <a:latin typeface="Cambria Math" panose="02040503050406030204" pitchFamily="18" charset="0"/>
                                <a:cs typeface="Times New Roman" panose="02020603050405020304" pitchFamily="18" charset="0"/>
                              </a:rPr>
                              <m:t>′</m:t>
                            </m:r>
                          </m:sup>
                        </m:sSup>
                      </m:e>
                    </m:d>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𝑎</m:t>
                            </m:r>
                            <m:r>
                              <a:rPr lang="en-CA" sz="2400" b="0" i="1" smtClean="0">
                                <a:latin typeface="Cambria Math" panose="02040503050406030204" pitchFamily="18" charset="0"/>
                                <a:cs typeface="Times New Roman" panose="02020603050405020304" pitchFamily="18" charset="0"/>
                              </a:rPr>
                              <m:t>−1</m:t>
                            </m:r>
                          </m:e>
                        </m:d>
                      </m:num>
                      <m:den>
                        <m:r>
                          <a:rPr lang="en-CA" sz="2400" b="0" i="1" smtClean="0">
                            <a:latin typeface="Cambria Math" panose="02040503050406030204" pitchFamily="18" charset="0"/>
                            <a:cs typeface="Times New Roman" panose="02020603050405020304" pitchFamily="18" charset="0"/>
                          </a:rPr>
                          <m:t>𝑏</m:t>
                        </m:r>
                      </m:den>
                    </m:f>
                    <m:r>
                      <a:rPr lang="en-CA" sz="2400" b="0" i="0" smtClean="0">
                        <a:latin typeface="Cambria Math" panose="02040503050406030204" pitchFamily="18" charset="0"/>
                        <a:cs typeface="Times New Roman" panose="02020603050405020304" pitchFamily="18" charset="0"/>
                      </a:rPr>
                      <m:t>=</m:t>
                    </m:r>
                    <m:sSub>
                      <m:sSubPr>
                        <m:ctrlPr>
                          <a:rPr lang="en-CA" sz="2400" b="1" i="1" smtClean="0">
                            <a:solidFill>
                              <a:schemeClr val="accent3">
                                <a:lumMod val="75000"/>
                              </a:schemeClr>
                            </a:solidFill>
                            <a:latin typeface="Cambria Math" panose="02040503050406030204" pitchFamily="18" charset="0"/>
                            <a:cs typeface="Times New Roman" panose="02020603050405020304" pitchFamily="18" charset="0"/>
                          </a:rPr>
                        </m:ctrlPr>
                      </m:sSubPr>
                      <m:e>
                        <m:r>
                          <a:rPr lang="en-CA" sz="2400" b="1" i="0" smtClean="0">
                            <a:solidFill>
                              <a:schemeClr val="accent3">
                                <a:lumMod val="75000"/>
                              </a:schemeClr>
                            </a:solidFill>
                            <a:latin typeface="Cambria Math" panose="02040503050406030204" pitchFamily="18" charset="0"/>
                            <a:cs typeface="Times New Roman" panose="02020603050405020304" pitchFamily="18" charset="0"/>
                          </a:rPr>
                          <m:t>𝐑</m:t>
                        </m:r>
                      </m:e>
                      <m:sub>
                        <m:r>
                          <a:rPr lang="en-CA" sz="2400" b="1" i="0" smtClean="0">
                            <a:solidFill>
                              <a:schemeClr val="accent3">
                                <a:lumMod val="75000"/>
                              </a:schemeClr>
                            </a:solidFill>
                            <a:latin typeface="Cambria Math" panose="02040503050406030204" pitchFamily="18" charset="0"/>
                            <a:cs typeface="Times New Roman" panose="02020603050405020304" pitchFamily="18" charset="0"/>
                          </a:rPr>
                          <m:t>𝟎</m:t>
                        </m:r>
                      </m:sub>
                    </m:sSub>
                  </m:oMath>
                </a14:m>
                <a:endParaRPr lang="en-US" sz="2200" b="1"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39219423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spTree>
    <p:extLst>
      <p:ext uri="{BB962C8B-B14F-4D97-AF65-F5344CB8AC3E}">
        <p14:creationId xmlns:p14="http://schemas.microsoft.com/office/powerpoint/2010/main" val="25856780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B26B4-8A4D-56A0-1AD9-DCFB9723324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03A223-B9BB-C6C7-D7D0-ECA22A33475D}"/>
              </a:ext>
            </a:extLst>
          </p:cNvPr>
          <p:cNvSpPr>
            <a:spLocks noGrp="1"/>
          </p:cNvSpPr>
          <p:nvPr>
            <p:ph type="ctrTitle"/>
          </p:nvPr>
        </p:nvSpPr>
        <p:spPr>
          <a:xfrm>
            <a:off x="1261872" y="3276600"/>
            <a:ext cx="10625328" cy="1298448"/>
          </a:xfrm>
        </p:spPr>
        <p:txBody>
          <a:bodyPr>
            <a:noAutofit/>
          </a:bodyPr>
          <a:lstStyle/>
          <a:p>
            <a:r>
              <a:rPr lang="en-US" sz="6000" dirty="0"/>
              <a:t>Currie, MacLeod, </a:t>
            </a:r>
            <a:r>
              <a:rPr lang="en-US" sz="6000" dirty="0" err="1"/>
              <a:t>Musen</a:t>
            </a:r>
            <a:r>
              <a:rPr lang="en-US" sz="6000" dirty="0"/>
              <a:t> (2025)</a:t>
            </a:r>
          </a:p>
        </p:txBody>
      </p:sp>
      <p:sp>
        <p:nvSpPr>
          <p:cNvPr id="7" name="Subtitle 4">
            <a:extLst>
              <a:ext uri="{FF2B5EF4-FFF2-40B4-BE49-F238E27FC236}">
                <a16:creationId xmlns:a16="http://schemas.microsoft.com/office/drawing/2014/main" id="{9CF68517-7C17-1AC8-2149-7770747AE3E3}"/>
              </a:ext>
            </a:extLst>
          </p:cNvPr>
          <p:cNvSpPr txBox="1">
            <a:spLocks/>
          </p:cNvSpPr>
          <p:nvPr/>
        </p:nvSpPr>
        <p:spPr>
          <a:xfrm>
            <a:off x="1235290" y="4814777"/>
            <a:ext cx="9966109"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“First do no harm? Doctor decision making and patient outcomes” </a:t>
            </a:r>
            <a:r>
              <a:rPr lang="en-US" i="1" dirty="0"/>
              <a:t>NBER Working Paper</a:t>
            </a:r>
            <a:endParaRPr lang="en-US" dirty="0"/>
          </a:p>
          <a:p>
            <a:endParaRPr lang="en-US" dirty="0"/>
          </a:p>
        </p:txBody>
      </p:sp>
    </p:spTree>
    <p:extLst>
      <p:ext uri="{BB962C8B-B14F-4D97-AF65-F5344CB8AC3E}">
        <p14:creationId xmlns:p14="http://schemas.microsoft.com/office/powerpoint/2010/main" val="9553860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A9A22-6912-2C8F-4DEB-B6D3784DB97E}"/>
            </a:ext>
          </a:extLst>
        </p:cNvPr>
        <p:cNvGrpSpPr/>
        <p:nvPr/>
      </p:nvGrpSpPr>
      <p:grpSpPr>
        <a:xfrm>
          <a:off x="0" y="0"/>
          <a:ext cx="0" cy="0"/>
          <a:chOff x="0" y="0"/>
          <a:chExt cx="0" cy="0"/>
        </a:xfrm>
      </p:grpSpPr>
      <p:sp>
        <p:nvSpPr>
          <p:cNvPr id="18434" name="Title 1">
            <a:extLst>
              <a:ext uri="{FF2B5EF4-FFF2-40B4-BE49-F238E27FC236}">
                <a16:creationId xmlns:a16="http://schemas.microsoft.com/office/drawing/2014/main" id="{339674C1-6FF8-220A-8C22-BD1BB91B1A6C}"/>
              </a:ext>
            </a:extLst>
          </p:cNvPr>
          <p:cNvSpPr>
            <a:spLocks noGrp="1"/>
          </p:cNvSpPr>
          <p:nvPr>
            <p:ph type="title" idx="4294967295"/>
          </p:nvPr>
        </p:nvSpPr>
        <p:spPr>
          <a:xfrm>
            <a:off x="304800" y="-12700"/>
            <a:ext cx="9906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Are monetary incentives all that matter?</a:t>
            </a:r>
          </a:p>
        </p:txBody>
      </p:sp>
      <p:sp>
        <p:nvSpPr>
          <p:cNvPr id="17411" name="Content Placeholder 2">
            <a:extLst>
              <a:ext uri="{FF2B5EF4-FFF2-40B4-BE49-F238E27FC236}">
                <a16:creationId xmlns:a16="http://schemas.microsoft.com/office/drawing/2014/main" id="{D18402BC-3F0E-0352-50FB-E3EDD0FB49E9}"/>
              </a:ext>
            </a:extLst>
          </p:cNvPr>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Can we generalize our models to think about more than just payment reform?</a:t>
            </a:r>
          </a:p>
          <a:p>
            <a:pPr>
              <a:spcBef>
                <a:spcPts val="0"/>
              </a:spcBef>
              <a:buFontTx/>
              <a:buChar char="-"/>
              <a:defRPr/>
            </a:pP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42878465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2DD4-C7CD-C206-5A7F-A112AA3B2404}"/>
            </a:ext>
          </a:extLst>
        </p:cNvPr>
        <p:cNvGrpSpPr/>
        <p:nvPr/>
      </p:nvGrpSpPr>
      <p:grpSpPr>
        <a:xfrm>
          <a:off x="0" y="0"/>
          <a:ext cx="0" cy="0"/>
          <a:chOff x="0" y="0"/>
          <a:chExt cx="0" cy="0"/>
        </a:xfrm>
      </p:grpSpPr>
      <p:sp>
        <p:nvSpPr>
          <p:cNvPr id="18434" name="Title 1">
            <a:extLst>
              <a:ext uri="{FF2B5EF4-FFF2-40B4-BE49-F238E27FC236}">
                <a16:creationId xmlns:a16="http://schemas.microsoft.com/office/drawing/2014/main" id="{D964C508-03A5-4AFA-4DF1-A8754DB33FF6}"/>
              </a:ext>
            </a:extLst>
          </p:cNvPr>
          <p:cNvSpPr>
            <a:spLocks noGrp="1"/>
          </p:cNvSpPr>
          <p:nvPr>
            <p:ph type="title" idx="4294967295"/>
          </p:nvPr>
        </p:nvSpPr>
        <p:spPr>
          <a:xfrm>
            <a:off x="304800" y="-12700"/>
            <a:ext cx="9906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Are monetary incentives all that matter?</a:t>
            </a:r>
          </a:p>
        </p:txBody>
      </p:sp>
      <p:sp>
        <p:nvSpPr>
          <p:cNvPr id="17411" name="Content Placeholder 2">
            <a:extLst>
              <a:ext uri="{FF2B5EF4-FFF2-40B4-BE49-F238E27FC236}">
                <a16:creationId xmlns:a16="http://schemas.microsoft.com/office/drawing/2014/main" id="{D17F330C-0DF4-5323-BEBB-8F8BC1B9DDBC}"/>
              </a:ext>
            </a:extLst>
          </p:cNvPr>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Can we generalize our models to think about more than just payment reform?</a:t>
            </a:r>
          </a:p>
          <a:p>
            <a:pPr>
              <a:spcBef>
                <a:spcPts val="0"/>
              </a:spcBef>
              <a:defRPr/>
            </a:pPr>
            <a:endParaRPr lang="en-CA" sz="2400" dirty="0">
              <a:solidFill>
                <a:schemeClr val="tx1"/>
              </a:solidFill>
              <a:cs typeface="Times New Roman" panose="02020603050405020304" pitchFamily="18" charset="0"/>
            </a:endParaRPr>
          </a:p>
          <a:p>
            <a:pPr marL="0" indent="0">
              <a:spcBef>
                <a:spcPts val="0"/>
              </a:spcBef>
              <a:buNone/>
              <a:defRPr/>
            </a:pPr>
            <a:r>
              <a:rPr lang="en-CA" sz="2400" dirty="0">
                <a:solidFill>
                  <a:schemeClr val="tx1"/>
                </a:solidFill>
                <a:cs typeface="Times New Roman" panose="02020603050405020304" pitchFamily="18" charset="0"/>
              </a:rPr>
              <a:t>What if:  </a:t>
            </a:r>
          </a:p>
          <a:p>
            <a:pPr>
              <a:spcBef>
                <a:spcPts val="0"/>
              </a:spcBef>
              <a:buFontTx/>
              <a:buChar char="-"/>
              <a:defRPr/>
            </a:pPr>
            <a:r>
              <a:rPr lang="en-CA" sz="2400" dirty="0">
                <a:solidFill>
                  <a:schemeClr val="tx1"/>
                </a:solidFill>
                <a:cs typeface="Times New Roman" panose="02020603050405020304" pitchFamily="18" charset="0"/>
              </a:rPr>
              <a:t>Doctors care about their patients</a:t>
            </a:r>
          </a:p>
          <a:p>
            <a:pPr>
              <a:spcBef>
                <a:spcPts val="0"/>
              </a:spcBef>
              <a:buFontTx/>
              <a:buChar char="-"/>
              <a:defRPr/>
            </a:pPr>
            <a:r>
              <a:rPr lang="en-CA" sz="2400" dirty="0">
                <a:cs typeface="Times New Roman" panose="02020603050405020304" pitchFamily="18" charset="0"/>
              </a:rPr>
              <a:t>But they have beliefs about appropriate care?</a:t>
            </a:r>
          </a:p>
          <a:p>
            <a:pPr>
              <a:spcBef>
                <a:spcPts val="0"/>
              </a:spcBef>
              <a:buFontTx/>
              <a:buChar char="-"/>
              <a:defRPr/>
            </a:pPr>
            <a:r>
              <a:rPr lang="en-CA" sz="2400" dirty="0">
                <a:solidFill>
                  <a:schemeClr val="tx1"/>
                </a:solidFill>
                <a:cs typeface="Times New Roman" panose="02020603050405020304" pitchFamily="18" charset="0"/>
              </a:rPr>
              <a:t>Are time constrained?</a:t>
            </a:r>
          </a:p>
          <a:p>
            <a:pPr>
              <a:spcBef>
                <a:spcPts val="0"/>
              </a:spcBef>
              <a:buFontTx/>
              <a:buChar char="-"/>
              <a:defRPr/>
            </a:pPr>
            <a:r>
              <a:rPr lang="en-CA" sz="2400" dirty="0">
                <a:cs typeface="Times New Roman" panose="02020603050405020304" pitchFamily="18" charset="0"/>
              </a:rPr>
              <a:t>Have profit motives? </a:t>
            </a:r>
          </a:p>
          <a:p>
            <a:pPr>
              <a:spcBef>
                <a:spcPts val="0"/>
              </a:spcBef>
              <a:buFontTx/>
              <a:buChar char="-"/>
              <a:defRPr/>
            </a:pPr>
            <a:r>
              <a:rPr lang="en-CA" sz="2400" dirty="0">
                <a:solidFill>
                  <a:schemeClr val="tx1"/>
                </a:solidFill>
                <a:cs typeface="Times New Roman" panose="02020603050405020304" pitchFamily="18" charset="0"/>
              </a:rPr>
              <a:t>Have variation across doctors in skill and incentives? </a:t>
            </a:r>
          </a:p>
          <a:p>
            <a:pPr>
              <a:spcBef>
                <a:spcPts val="0"/>
              </a:spcBef>
              <a:buFontTx/>
              <a:buChar char="-"/>
              <a:defRPr/>
            </a:pPr>
            <a:r>
              <a:rPr lang="en-CA" sz="2400" dirty="0">
                <a:cs typeface="Times New Roman" panose="02020603050405020304" pitchFamily="18" charset="0"/>
              </a:rPr>
              <a:t>Have concerns about maltreatment litigation? </a:t>
            </a:r>
          </a:p>
          <a:p>
            <a:pPr>
              <a:spcBef>
                <a:spcPts val="0"/>
              </a:spcBef>
              <a:buFontTx/>
              <a:buChar char="-"/>
              <a:defRPr/>
            </a:pPr>
            <a:r>
              <a:rPr lang="en-CA" sz="2400" dirty="0">
                <a:solidFill>
                  <a:schemeClr val="tx1"/>
                </a:solidFill>
                <a:cs typeface="Times New Roman" panose="02020603050405020304" pitchFamily="18" charset="0"/>
              </a:rPr>
              <a:t>And others? </a:t>
            </a:r>
          </a:p>
          <a:p>
            <a:pPr>
              <a:spcBef>
                <a:spcPts val="0"/>
              </a:spcBef>
              <a:buFontTx/>
              <a:buChar char="-"/>
              <a:defRPr/>
            </a:pP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13886082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987C607-9B18-29F2-6B98-3310A8A54FBF}"/>
              </a:ext>
            </a:extLst>
          </p:cNvPr>
          <p:cNvPicPr>
            <a:picLocks noChangeAspect="1"/>
          </p:cNvPicPr>
          <p:nvPr/>
        </p:nvPicPr>
        <p:blipFill>
          <a:blip r:embed="rId3"/>
          <a:stretch>
            <a:fillRect/>
          </a:stretch>
        </p:blipFill>
        <p:spPr>
          <a:xfrm>
            <a:off x="533400" y="28303"/>
            <a:ext cx="10286999" cy="6955972"/>
          </a:xfrm>
          <a:prstGeom prst="rect">
            <a:avLst/>
          </a:prstGeom>
        </p:spPr>
      </p:pic>
    </p:spTree>
    <p:extLst>
      <p:ext uri="{BB962C8B-B14F-4D97-AF65-F5344CB8AC3E}">
        <p14:creationId xmlns:p14="http://schemas.microsoft.com/office/powerpoint/2010/main" val="6505967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0AC0D-501D-BAC5-7844-314F7E22A6AF}"/>
              </a:ext>
            </a:extLst>
          </p:cNvPr>
          <p:cNvPicPr>
            <a:picLocks noChangeAspect="1"/>
          </p:cNvPicPr>
          <p:nvPr/>
        </p:nvPicPr>
        <p:blipFill>
          <a:blip r:embed="rId3"/>
          <a:stretch>
            <a:fillRect/>
          </a:stretch>
        </p:blipFill>
        <p:spPr>
          <a:xfrm>
            <a:off x="1371600" y="69119"/>
            <a:ext cx="8610600" cy="6660818"/>
          </a:xfrm>
          <a:prstGeom prst="rect">
            <a:avLst/>
          </a:prstGeom>
        </p:spPr>
      </p:pic>
    </p:spTree>
    <p:extLst>
      <p:ext uri="{BB962C8B-B14F-4D97-AF65-F5344CB8AC3E}">
        <p14:creationId xmlns:p14="http://schemas.microsoft.com/office/powerpoint/2010/main" val="26414909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9059637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Ma and </a:t>
            </a:r>
            <a:r>
              <a:rPr lang="en-US" dirty="0" err="1"/>
              <a:t>Mak</a:t>
            </a:r>
            <a:r>
              <a:rPr lang="en-US" dirty="0"/>
              <a:t> (2019)</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1" y="481477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“Incentives in healthcare payment systems.” </a:t>
            </a:r>
            <a:r>
              <a:rPr lang="en-US" i="1" dirty="0"/>
              <a:t>Oxford Research </a:t>
            </a:r>
            <a:r>
              <a:rPr lang="en-US" i="1" dirty="0" err="1"/>
              <a:t>Encylopedia</a:t>
            </a:r>
            <a:r>
              <a:rPr lang="en-US" i="1" dirty="0"/>
              <a:t> of Economics and Finance </a:t>
            </a:r>
            <a:endParaRPr lang="en-US" dirty="0"/>
          </a:p>
          <a:p>
            <a:endParaRPr lang="en-US" dirty="0"/>
          </a:p>
        </p:txBody>
      </p:sp>
    </p:spTree>
    <p:extLst>
      <p:ext uri="{BB962C8B-B14F-4D97-AF65-F5344CB8AC3E}">
        <p14:creationId xmlns:p14="http://schemas.microsoft.com/office/powerpoint/2010/main" val="13942446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Internalizing the Social Optimum</a:t>
            </a:r>
          </a:p>
        </p:txBody>
      </p:sp>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Do payment systems correctly lead physicians to </a:t>
            </a:r>
            <a:r>
              <a:rPr lang="en-CA" sz="2400" i="1" dirty="0">
                <a:solidFill>
                  <a:schemeClr val="tx1"/>
                </a:solidFill>
                <a:cs typeface="Times New Roman" panose="02020603050405020304" pitchFamily="18" charset="0"/>
              </a:rPr>
              <a:t>internalize </a:t>
            </a:r>
            <a:r>
              <a:rPr lang="en-CA" sz="2400" dirty="0">
                <a:solidFill>
                  <a:schemeClr val="tx1"/>
                </a:solidFill>
                <a:cs typeface="Times New Roman" panose="02020603050405020304" pitchFamily="18" charset="0"/>
              </a:rPr>
              <a:t>the social optima? </a:t>
            </a:r>
          </a:p>
          <a:p>
            <a:pPr>
              <a:spcBef>
                <a:spcPts val="0"/>
              </a:spcBef>
              <a:defRPr/>
            </a:pPr>
            <a:r>
              <a:rPr lang="en-CA" sz="2400" dirty="0">
                <a:cs typeface="Times New Roman" panose="02020603050405020304" pitchFamily="18" charset="0"/>
              </a:rPr>
              <a:t>Essentially, this is the fundamental problem of markets: do individual players act in a way that benefits the market? </a:t>
            </a:r>
          </a:p>
          <a:p>
            <a:pPr>
              <a:spcBef>
                <a:spcPts val="0"/>
              </a:spcBef>
              <a:defRPr/>
            </a:pPr>
            <a:r>
              <a:rPr lang="en-CA" sz="2400" dirty="0">
                <a:cs typeface="Times New Roman" panose="02020603050405020304" pitchFamily="18" charset="0"/>
              </a:rPr>
              <a:t>Ma and </a:t>
            </a:r>
            <a:r>
              <a:rPr lang="en-CA" sz="2400" dirty="0" err="1">
                <a:cs typeface="Times New Roman" panose="02020603050405020304" pitchFamily="18" charset="0"/>
              </a:rPr>
              <a:t>Mak</a:t>
            </a:r>
            <a:r>
              <a:rPr lang="en-CA" sz="2400" dirty="0">
                <a:cs typeface="Times New Roman" panose="02020603050405020304" pitchFamily="18" charset="0"/>
              </a:rPr>
              <a:t> call this the </a:t>
            </a:r>
            <a:r>
              <a:rPr lang="en-CA" sz="2400" b="1" u="sng" dirty="0">
                <a:cs typeface="Times New Roman" panose="02020603050405020304" pitchFamily="18" charset="0"/>
              </a:rPr>
              <a:t>internalization principle</a:t>
            </a:r>
            <a:endParaRPr lang="en-US" sz="2200" b="1" u="sng"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34380436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Internalizing the Social Optimum</a:t>
            </a:r>
          </a:p>
        </p:txBody>
      </p:sp>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Do payment systems correctly lead physicians to </a:t>
            </a:r>
            <a:r>
              <a:rPr lang="en-CA" sz="2400" i="1" dirty="0">
                <a:solidFill>
                  <a:schemeClr val="tx1"/>
                </a:solidFill>
                <a:cs typeface="Times New Roman" panose="02020603050405020304" pitchFamily="18" charset="0"/>
              </a:rPr>
              <a:t>internalize </a:t>
            </a:r>
            <a:r>
              <a:rPr lang="en-CA" sz="2400" dirty="0">
                <a:solidFill>
                  <a:schemeClr val="tx1"/>
                </a:solidFill>
                <a:cs typeface="Times New Roman" panose="02020603050405020304" pitchFamily="18" charset="0"/>
              </a:rPr>
              <a:t>the social optima? </a:t>
            </a:r>
          </a:p>
          <a:p>
            <a:pPr>
              <a:spcBef>
                <a:spcPts val="0"/>
              </a:spcBef>
              <a:defRPr/>
            </a:pPr>
            <a:r>
              <a:rPr lang="en-CA" sz="2400" dirty="0">
                <a:cs typeface="Times New Roman" panose="02020603050405020304" pitchFamily="18" charset="0"/>
              </a:rPr>
              <a:t>Essentially, this is the fundamental problem of markets: do individual players act in a way that benefits the market? </a:t>
            </a:r>
          </a:p>
          <a:p>
            <a:pPr>
              <a:spcBef>
                <a:spcPts val="0"/>
              </a:spcBef>
              <a:defRPr/>
            </a:pPr>
            <a:r>
              <a:rPr lang="en-CA" sz="2400" dirty="0">
                <a:cs typeface="Times New Roman" panose="02020603050405020304" pitchFamily="18" charset="0"/>
              </a:rPr>
              <a:t>Ma and </a:t>
            </a:r>
            <a:r>
              <a:rPr lang="en-CA" sz="2400" dirty="0" err="1">
                <a:cs typeface="Times New Roman" panose="02020603050405020304" pitchFamily="18" charset="0"/>
              </a:rPr>
              <a:t>Mak</a:t>
            </a:r>
            <a:r>
              <a:rPr lang="en-CA" sz="2400" dirty="0">
                <a:cs typeface="Times New Roman" panose="02020603050405020304" pitchFamily="18" charset="0"/>
              </a:rPr>
              <a:t> call this the </a:t>
            </a:r>
            <a:r>
              <a:rPr lang="en-CA" sz="2400" b="1" u="sng" dirty="0">
                <a:cs typeface="Times New Roman" panose="02020603050405020304" pitchFamily="18" charset="0"/>
              </a:rPr>
              <a:t>internalization principle</a:t>
            </a:r>
          </a:p>
          <a:p>
            <a:pPr>
              <a:spcBef>
                <a:spcPts val="0"/>
              </a:spcBef>
              <a:defRPr/>
            </a:pPr>
            <a:endParaRPr lang="en-CA" sz="2400" b="1" u="sng" dirty="0">
              <a:solidFill>
                <a:schemeClr val="tx1"/>
              </a:solidFill>
              <a:cs typeface="Times New Roman" panose="02020603050405020304" pitchFamily="18" charset="0"/>
            </a:endParaRPr>
          </a:p>
          <a:p>
            <a:pPr marL="0" indent="0">
              <a:spcBef>
                <a:spcPts val="0"/>
              </a:spcBef>
              <a:buNone/>
              <a:defRPr/>
            </a:pPr>
            <a:r>
              <a:rPr lang="en-CA" sz="2400" b="1" dirty="0">
                <a:cs typeface="Times New Roman" panose="02020603050405020304" pitchFamily="18" charset="0"/>
              </a:rPr>
              <a:t>Model primitives</a:t>
            </a:r>
          </a:p>
          <a:p>
            <a:pPr marL="457200" indent="-457200">
              <a:spcBef>
                <a:spcPts val="0"/>
              </a:spcBef>
              <a:buFont typeface="+mj-lt"/>
              <a:buAutoNum type="arabicPeriod"/>
              <a:defRPr/>
            </a:pPr>
            <a:r>
              <a:rPr lang="en-CA" sz="2400" b="1" dirty="0">
                <a:solidFill>
                  <a:schemeClr val="tx1"/>
                </a:solidFill>
                <a:cs typeface="Times New Roman" panose="02020603050405020304" pitchFamily="18" charset="0"/>
              </a:rPr>
              <a:t>Health provider</a:t>
            </a:r>
            <a:r>
              <a:rPr lang="en-CA" sz="2400" dirty="0">
                <a:solidFill>
                  <a:schemeClr val="tx1"/>
                </a:solidFill>
                <a:cs typeface="Times New Roman" panose="02020603050405020304" pitchFamily="18" charset="0"/>
              </a:rPr>
              <a:t>: chooses treatment, quality, cost-reduction efforts, coding, dumping, cream-skimming</a:t>
            </a:r>
          </a:p>
          <a:p>
            <a:pPr marL="457200" indent="-457200">
              <a:spcBef>
                <a:spcPts val="0"/>
              </a:spcBef>
              <a:buFont typeface="+mj-lt"/>
              <a:buAutoNum type="arabicPeriod"/>
              <a:defRPr/>
            </a:pPr>
            <a:r>
              <a:rPr lang="en-CA" sz="2400" b="1" dirty="0">
                <a:cs typeface="Times New Roman" panose="02020603050405020304" pitchFamily="18" charset="0"/>
              </a:rPr>
              <a:t>Insurer</a:t>
            </a:r>
            <a:r>
              <a:rPr lang="en-CA" sz="2400" dirty="0">
                <a:cs typeface="Times New Roman" panose="02020603050405020304" pitchFamily="18" charset="0"/>
              </a:rPr>
              <a:t>: chooses contract as (weighted average of) FFS or capitation</a:t>
            </a:r>
            <a:endParaRPr lang="en-US" sz="2200" b="1"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32090269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Model</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For </a:t>
                </a:r>
                <a:r>
                  <a:rPr lang="en-CA" sz="2400" dirty="0">
                    <a:cs typeface="Times New Roman" panose="02020603050405020304" pitchFamily="18" charset="0"/>
                  </a:rPr>
                  <a:t>quality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𝑞</m:t>
                    </m:r>
                  </m:oMath>
                </a14:m>
                <a:r>
                  <a:rPr lang="en-US" sz="2200" dirty="0">
                    <a:solidFill>
                      <a:schemeClr val="tx1"/>
                    </a:solidFill>
                    <a:cs typeface="Times New Roman" panose="02020603050405020304" pitchFamily="18" charset="0"/>
                  </a:rPr>
                  <a:t>, demand is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oMath>
                </a14:m>
                <a:r>
                  <a:rPr lang="en-US" sz="2200" dirty="0">
                    <a:solidFill>
                      <a:schemeClr val="tx1"/>
                    </a:solidFill>
                    <a:cs typeface="Times New Roman" panose="02020603050405020304" pitchFamily="18" charset="0"/>
                  </a:rPr>
                  <a:t> and </a:t>
                </a:r>
                <a:r>
                  <a:rPr lang="en-US" sz="2200" b="1" dirty="0">
                    <a:solidFill>
                      <a:schemeClr val="tx1"/>
                    </a:solidFill>
                    <a:cs typeface="Times New Roman" panose="02020603050405020304" pitchFamily="18" charset="0"/>
                  </a:rPr>
                  <a:t>social benefit</a:t>
                </a:r>
                <a:r>
                  <a:rPr lang="en-US" sz="2200" dirty="0">
                    <a:solidFill>
                      <a:schemeClr val="tx1"/>
                    </a:solidFill>
                    <a:cs typeface="Times New Roman" panose="02020603050405020304" pitchFamily="18" charset="0"/>
                  </a:rPr>
                  <a: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𝐵</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oMath>
                </a14:m>
                <a:endParaRPr lang="en-US" sz="2200" b="1" dirty="0">
                  <a:solidFill>
                    <a:schemeClr val="tx1"/>
                  </a:solidFill>
                  <a:cs typeface="Times New Roman" panose="02020603050405020304" pitchFamily="18" charset="0"/>
                </a:endParaRPr>
              </a:p>
              <a:p>
                <a:pPr>
                  <a:spcBef>
                    <a:spcPts val="0"/>
                  </a:spcBef>
                  <a:defRPr/>
                </a:pPr>
                <a:r>
                  <a:rPr lang="en-US" sz="2200" dirty="0">
                    <a:solidFill>
                      <a:schemeClr val="tx1"/>
                    </a:solidFill>
                    <a:cs typeface="Times New Roman" panose="02020603050405020304" pitchFamily="18" charset="0"/>
                  </a:rPr>
                  <a:t>Provider chooses a quality and a cost-reducing effort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𝑒</m:t>
                    </m:r>
                  </m:oMath>
                </a14:m>
                <a:r>
                  <a:rPr lang="en-US" sz="2200" dirty="0">
                    <a:solidFill>
                      <a:schemeClr val="tx1"/>
                    </a:solidFill>
                    <a:cs typeface="Times New Roman" panose="02020603050405020304" pitchFamily="18" charset="0"/>
                  </a:rPr>
                  <a:t>, leading to cost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𝐶</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r>
                      <a:rPr lang="en-CA" sz="2200" b="0" i="1" smtClean="0">
                        <a:solidFill>
                          <a:schemeClr val="tx1"/>
                        </a:solidFill>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(Public information): Provider’s cost of effort and quality is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𝐻</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𝑞</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41108511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82296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rmAutofit/>
          </a:bodyPr>
          <a:lstStyle/>
          <a:p>
            <a:r>
              <a:rPr lang="en-US" altLang="en-US" dirty="0">
                <a:cs typeface="Times New Roman" panose="02020603050405020304" pitchFamily="18" charset="0"/>
              </a:rPr>
              <a:t>Model</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For </a:t>
                </a:r>
                <a:r>
                  <a:rPr lang="en-CA" sz="2400" dirty="0">
                    <a:cs typeface="Times New Roman" panose="02020603050405020304" pitchFamily="18" charset="0"/>
                  </a:rPr>
                  <a:t>quality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𝑞</m:t>
                    </m:r>
                  </m:oMath>
                </a14:m>
                <a:r>
                  <a:rPr lang="en-US" sz="2200" dirty="0">
                    <a:solidFill>
                      <a:schemeClr val="tx1"/>
                    </a:solidFill>
                    <a:cs typeface="Times New Roman" panose="02020603050405020304" pitchFamily="18" charset="0"/>
                  </a:rPr>
                  <a:t>, demand is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oMath>
                </a14:m>
                <a:r>
                  <a:rPr lang="en-US" sz="2200" dirty="0">
                    <a:solidFill>
                      <a:schemeClr val="tx1"/>
                    </a:solidFill>
                    <a:cs typeface="Times New Roman" panose="02020603050405020304" pitchFamily="18" charset="0"/>
                  </a:rPr>
                  <a:t> and </a:t>
                </a:r>
                <a:r>
                  <a:rPr lang="en-US" sz="2200" b="1" dirty="0">
                    <a:solidFill>
                      <a:schemeClr val="tx1"/>
                    </a:solidFill>
                    <a:cs typeface="Times New Roman" panose="02020603050405020304" pitchFamily="18" charset="0"/>
                  </a:rPr>
                  <a:t>social benefit</a:t>
                </a:r>
                <a:r>
                  <a:rPr lang="en-US" sz="2200" dirty="0">
                    <a:solidFill>
                      <a:schemeClr val="tx1"/>
                    </a:solidFill>
                    <a:cs typeface="Times New Roman" panose="02020603050405020304" pitchFamily="18" charset="0"/>
                  </a:rPr>
                  <a: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𝐵</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oMath>
                </a14:m>
                <a:endParaRPr lang="en-US" sz="2200" b="1" dirty="0">
                  <a:solidFill>
                    <a:schemeClr val="tx1"/>
                  </a:solidFill>
                  <a:cs typeface="Times New Roman" panose="02020603050405020304" pitchFamily="18" charset="0"/>
                </a:endParaRPr>
              </a:p>
              <a:p>
                <a:pPr>
                  <a:spcBef>
                    <a:spcPts val="0"/>
                  </a:spcBef>
                  <a:defRPr/>
                </a:pPr>
                <a:r>
                  <a:rPr lang="en-US" sz="2200" dirty="0">
                    <a:solidFill>
                      <a:schemeClr val="tx1"/>
                    </a:solidFill>
                    <a:cs typeface="Times New Roman" panose="02020603050405020304" pitchFamily="18" charset="0"/>
                  </a:rPr>
                  <a:t>Provider chooses a quality and a cost-reducing effort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𝑒</m:t>
                    </m:r>
                  </m:oMath>
                </a14:m>
                <a:r>
                  <a:rPr lang="en-US" sz="2200" dirty="0">
                    <a:solidFill>
                      <a:schemeClr val="tx1"/>
                    </a:solidFill>
                    <a:cs typeface="Times New Roman" panose="02020603050405020304" pitchFamily="18" charset="0"/>
                  </a:rPr>
                  <a:t>, leading to cost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𝐶</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r>
                      <a:rPr lang="en-CA" sz="2200" b="0" i="1" smtClean="0">
                        <a:solidFill>
                          <a:schemeClr val="tx1"/>
                        </a:solidFill>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(Public information): Provider’s cost of effort and quality is </a:t>
                </a:r>
                <a14:m>
                  <m:oMath xmlns:m="http://schemas.openxmlformats.org/officeDocument/2006/math">
                    <m:r>
                      <a:rPr lang="en-CA" sz="2200" b="0" i="1" smtClean="0">
                        <a:latin typeface="Cambria Math" panose="02040503050406030204" pitchFamily="18" charset="0"/>
                        <a:cs typeface="Times New Roman" panose="02020603050405020304" pitchFamily="18" charset="0"/>
                      </a:rPr>
                      <m:t>𝐻</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𝑞</m:t>
                    </m:r>
                    <m:r>
                      <a:rPr lang="en-CA" sz="2200" b="0" i="1" smtClean="0">
                        <a:latin typeface="Cambria Math" panose="02040503050406030204" pitchFamily="18" charset="0"/>
                        <a:cs typeface="Times New Roman" panose="02020603050405020304" pitchFamily="18" charset="0"/>
                      </a:rPr>
                      <m:t>,</m:t>
                    </m:r>
                    <m:r>
                      <a:rPr lang="en-CA" sz="2200" b="0" i="1" smtClean="0">
                        <a:latin typeface="Cambria Math" panose="02040503050406030204" pitchFamily="18" charset="0"/>
                        <a:cs typeface="Times New Roman" panose="02020603050405020304" pitchFamily="18" charset="0"/>
                      </a:rPr>
                      <m:t>𝑒</m:t>
                    </m:r>
                    <m:r>
                      <a:rPr lang="en-CA" sz="2200" b="0" i="1" smtClean="0">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endParaRPr lang="en-US" sz="2200" dirty="0">
                  <a:cs typeface="Times New Roman" panose="02020603050405020304" pitchFamily="18" charset="0"/>
                </a:endParaRPr>
              </a:p>
              <a:p>
                <a:pPr marL="0" indent="0">
                  <a:spcBef>
                    <a:spcPts val="0"/>
                  </a:spcBef>
                  <a:buNone/>
                  <a:defRPr/>
                </a:pPr>
                <a:r>
                  <a:rPr lang="en-US" sz="2200" dirty="0">
                    <a:cs typeface="Times New Roman" panose="02020603050405020304" pitchFamily="18" charset="0"/>
                  </a:rPr>
                  <a:t>Suppose insurer utility = social welfare is given by</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𝐵</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𝐶</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𝐻</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r>
                        <a:rPr lang="en-CA" sz="2200" b="0" i="1" smtClean="0">
                          <a:solidFill>
                            <a:schemeClr val="tx1"/>
                          </a:solidFill>
                          <a:latin typeface="Cambria Math" panose="02040503050406030204" pitchFamily="18" charset="0"/>
                          <a:cs typeface="Times New Roman" panose="02020603050405020304" pitchFamily="18" charset="0"/>
                        </a:rPr>
                        <m:t>)</m:t>
                      </m:r>
                    </m:oMath>
                  </m:oMathPara>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What are the first order conditions?</a:t>
                </a:r>
              </a:p>
              <a:p>
                <a:pPr>
                  <a:spcBef>
                    <a:spcPts val="0"/>
                  </a:spcBef>
                  <a:defRPr/>
                </a:pPr>
                <a:r>
                  <a:rPr lang="en-US" sz="2200" dirty="0">
                    <a:solidFill>
                      <a:schemeClr val="tx1"/>
                    </a:solidFill>
                    <a:cs typeface="Times New Roman" panose="02020603050405020304" pitchFamily="18" charset="0"/>
                  </a:rPr>
                  <a:t>What are the comparative statics?</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765" t="-1246"/>
                </a:stretch>
              </a:blipFill>
            </p:spPr>
            <p:txBody>
              <a:bodyPr/>
              <a:lstStyle/>
              <a:p>
                <a:r>
                  <a:rPr lang="en-CA">
                    <a:noFill/>
                  </a:rPr>
                  <a:t> </a:t>
                </a:r>
              </a:p>
            </p:txBody>
          </p:sp>
        </mc:Fallback>
      </mc:AlternateContent>
    </p:spTree>
    <p:extLst>
      <p:ext uri="{BB962C8B-B14F-4D97-AF65-F5344CB8AC3E}">
        <p14:creationId xmlns:p14="http://schemas.microsoft.com/office/powerpoint/2010/main" val="34796159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Can prospective payment satisfy the internalization principle?</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Now suppose that providers receive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𝑇</m:t>
                    </m:r>
                  </m:oMath>
                </a14:m>
                <a:r>
                  <a:rPr lang="en-US" sz="2200" dirty="0">
                    <a:solidFill>
                      <a:schemeClr val="tx1"/>
                    </a:solidFill>
                    <a:cs typeface="Times New Roman" panose="02020603050405020304" pitchFamily="18" charset="0"/>
                  </a:rPr>
                  <a:t> lump-sum and per-unit prices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This </a:t>
                </a:r>
                <a:r>
                  <a:rPr lang="en-US" sz="2200" b="1" dirty="0">
                    <a:cs typeface="Times New Roman" panose="02020603050405020304" pitchFamily="18" charset="0"/>
                  </a:rPr>
                  <a:t>does not depend on </a:t>
                </a:r>
                <a14:m>
                  <m:oMath xmlns:m="http://schemas.openxmlformats.org/officeDocument/2006/math">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𝒒</m:t>
                    </m:r>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𝒆</m:t>
                    </m:r>
                    <m:r>
                      <a:rPr lang="en-CA" sz="2200" b="1" i="1" smtClean="0">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Now, provider profit is given by</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𝐶</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𝐻</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oMath>
                  </m:oMathPara>
                </a14:m>
                <a:endParaRPr lang="en-CA" sz="2200" b="0" dirty="0">
                  <a:solidFill>
                    <a:schemeClr val="tx1"/>
                  </a:solidFill>
                  <a:cs typeface="Times New Roman" panose="02020603050405020304" pitchFamily="18" charset="0"/>
                </a:endParaRPr>
              </a:p>
              <a:p>
                <a:pPr marL="0" indent="0">
                  <a:spcBef>
                    <a:spcPts val="0"/>
                  </a:spcBef>
                  <a:buNone/>
                  <a:defRPr/>
                </a:pPr>
                <a:endParaRPr lang="en-US" sz="2200" dirty="0">
                  <a:solidFill>
                    <a:schemeClr val="tx1"/>
                  </a:solidFill>
                  <a:cs typeface="Times New Roman" panose="02020603050405020304" pitchFamily="18" charset="0"/>
                </a:endParaRPr>
              </a:p>
              <a:p>
                <a:pPr marL="0" indent="0">
                  <a:spcBef>
                    <a:spcPts val="0"/>
                  </a:spcBef>
                  <a:buNone/>
                  <a:defRPr/>
                </a:pPr>
                <a:r>
                  <a:rPr lang="en-US" sz="2200" b="1" dirty="0">
                    <a:solidFill>
                      <a:schemeClr val="accent3">
                        <a:lumMod val="75000"/>
                      </a:schemeClr>
                    </a:solidFill>
                    <a:cs typeface="Times New Roman" panose="02020603050405020304" pitchFamily="18" charset="0"/>
                  </a:rPr>
                  <a:t>Key question</a:t>
                </a:r>
                <a:r>
                  <a:rPr lang="en-US" sz="2200" dirty="0">
                    <a:solidFill>
                      <a:schemeClr val="tx1"/>
                    </a:solidFill>
                    <a:cs typeface="Times New Roman" panose="02020603050405020304" pitchFamily="18" charset="0"/>
                  </a:rPr>
                  <a:t>: can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m:t>
                    </m:r>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be chosen to implement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𝑒</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765" t="-1246"/>
                </a:stretch>
              </a:blipFill>
            </p:spPr>
            <p:txBody>
              <a:bodyPr/>
              <a:lstStyle/>
              <a:p>
                <a:r>
                  <a:rPr lang="en-CA">
                    <a:noFill/>
                  </a:rPr>
                  <a:t> </a:t>
                </a:r>
              </a:p>
            </p:txBody>
          </p:sp>
        </mc:Fallback>
      </mc:AlternateContent>
    </p:spTree>
    <p:extLst>
      <p:ext uri="{BB962C8B-B14F-4D97-AF65-F5344CB8AC3E}">
        <p14:creationId xmlns:p14="http://schemas.microsoft.com/office/powerpoint/2010/main" val="12316350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Can prospective payment satisfy the internalization principle?</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Now suppose that providers receive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𝑇</m:t>
                    </m:r>
                  </m:oMath>
                </a14:m>
                <a:r>
                  <a:rPr lang="en-US" sz="2200" dirty="0">
                    <a:solidFill>
                      <a:schemeClr val="tx1"/>
                    </a:solidFill>
                    <a:cs typeface="Times New Roman" panose="02020603050405020304" pitchFamily="18" charset="0"/>
                  </a:rPr>
                  <a:t> lump-sum and per-unit prices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This </a:t>
                </a:r>
                <a:r>
                  <a:rPr lang="en-US" sz="2200" b="1" dirty="0">
                    <a:cs typeface="Times New Roman" panose="02020603050405020304" pitchFamily="18" charset="0"/>
                  </a:rPr>
                  <a:t>does not depend on </a:t>
                </a:r>
                <a14:m>
                  <m:oMath xmlns:m="http://schemas.openxmlformats.org/officeDocument/2006/math">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𝒒</m:t>
                    </m:r>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𝒆</m:t>
                    </m:r>
                    <m:r>
                      <a:rPr lang="en-CA" sz="2200" b="1" i="1" smtClean="0">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Now, provider profit is given by</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𝐶</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𝐻</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oMath>
                  </m:oMathPara>
                </a14:m>
                <a:endParaRPr lang="en-CA" sz="2200" b="0" dirty="0">
                  <a:solidFill>
                    <a:schemeClr val="tx1"/>
                  </a:solidFill>
                  <a:cs typeface="Times New Roman" panose="02020603050405020304" pitchFamily="18" charset="0"/>
                </a:endParaRPr>
              </a:p>
              <a:p>
                <a:pPr marL="0" indent="0">
                  <a:spcBef>
                    <a:spcPts val="0"/>
                  </a:spcBef>
                  <a:buNone/>
                  <a:defRPr/>
                </a:pPr>
                <a:endParaRPr lang="en-US" sz="2200" dirty="0">
                  <a:solidFill>
                    <a:schemeClr val="tx1"/>
                  </a:solidFill>
                  <a:cs typeface="Times New Roman" panose="02020603050405020304" pitchFamily="18" charset="0"/>
                </a:endParaRPr>
              </a:p>
              <a:p>
                <a:pPr marL="0" indent="0">
                  <a:spcBef>
                    <a:spcPts val="0"/>
                  </a:spcBef>
                  <a:buNone/>
                  <a:defRPr/>
                </a:pPr>
                <a:r>
                  <a:rPr lang="en-US" sz="2200" b="1" dirty="0">
                    <a:solidFill>
                      <a:schemeClr val="accent3">
                        <a:lumMod val="75000"/>
                      </a:schemeClr>
                    </a:solidFill>
                    <a:cs typeface="Times New Roman" panose="02020603050405020304" pitchFamily="18" charset="0"/>
                  </a:rPr>
                  <a:t>Key question</a:t>
                </a:r>
                <a:r>
                  <a:rPr lang="en-US" sz="2200" dirty="0">
                    <a:solidFill>
                      <a:schemeClr val="tx1"/>
                    </a:solidFill>
                    <a:cs typeface="Times New Roman" panose="02020603050405020304" pitchFamily="18" charset="0"/>
                  </a:rPr>
                  <a:t>: can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m:t>
                    </m:r>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be chosen to implement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𝑒</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a:t>
                </a:r>
                <a:r>
                  <a:rPr lang="en-US" sz="2200" b="1" dirty="0">
                    <a:solidFill>
                      <a:schemeClr val="accent3">
                        <a:lumMod val="75000"/>
                      </a:schemeClr>
                    </a:solidFill>
                    <a:cs typeface="Times New Roman" panose="02020603050405020304" pitchFamily="18" charset="0"/>
                  </a:rPr>
                  <a:t>Yes!</a:t>
                </a:r>
              </a:p>
              <a:p>
                <a:pPr>
                  <a:spcBef>
                    <a:spcPts val="0"/>
                  </a:spcBef>
                  <a:defRPr/>
                </a:pPr>
                <a:r>
                  <a:rPr lang="en-US" sz="2200" dirty="0">
                    <a:solidFill>
                      <a:schemeClr val="tx1"/>
                    </a:solidFill>
                    <a:cs typeface="Times New Roman" panose="02020603050405020304" pitchFamily="18" charset="0"/>
                  </a:rPr>
                  <a:t>Just need to choose </a:t>
                </a:r>
                <a14:m>
                  <m:oMath xmlns:m="http://schemas.openxmlformats.org/officeDocument/2006/math">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𝑝</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f>
                      <m:fPr>
                        <m:ctrlPr>
                          <a:rPr lang="en-CA" sz="2200" b="0" i="1" smtClean="0">
                            <a:solidFill>
                              <a:schemeClr val="tx1"/>
                            </a:solidFill>
                            <a:latin typeface="Cambria Math" panose="02040503050406030204" pitchFamily="18" charset="0"/>
                            <a:cs typeface="Times New Roman" panose="02020603050405020304" pitchFamily="18" charset="0"/>
                          </a:rPr>
                        </m:ctrlPr>
                      </m:fPr>
                      <m:num>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𝐵</m:t>
                            </m:r>
                          </m:e>
                          <m:sup>
                            <m:r>
                              <a:rPr lang="en-CA" sz="2200" b="0" i="1" smtClean="0">
                                <a:solidFill>
                                  <a:schemeClr val="tx1"/>
                                </a:solidFill>
                                <a:latin typeface="Cambria Math" panose="02040503050406030204" pitchFamily="18" charset="0"/>
                                <a:cs typeface="Times New Roman" panose="02020603050405020304" pitchFamily="18" charset="0"/>
                              </a:rPr>
                              <m:t>′</m:t>
                            </m:r>
                          </m:sup>
                        </m:sSup>
                        <m:d>
                          <m:dPr>
                            <m:ctrlPr>
                              <a:rPr lang="en-CA" sz="2200" b="0" i="1" smtClean="0">
                                <a:solidFill>
                                  <a:schemeClr val="tx1"/>
                                </a:solidFill>
                                <a:latin typeface="Cambria Math" panose="02040503050406030204" pitchFamily="18" charset="0"/>
                                <a:cs typeface="Times New Roman" panose="02020603050405020304" pitchFamily="18" charset="0"/>
                              </a:rPr>
                            </m:ctrlPr>
                          </m:dPr>
                          <m:e>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e>
                        </m:d>
                      </m:num>
                      <m:den>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𝐷</m:t>
                            </m:r>
                          </m:e>
                          <m:sup>
                            <m:r>
                              <a:rPr lang="en-CA" sz="2200" b="0" i="1" smtClean="0">
                                <a:solidFill>
                                  <a:schemeClr val="tx1"/>
                                </a:solidFill>
                                <a:latin typeface="Cambria Math" panose="02040503050406030204" pitchFamily="18" charset="0"/>
                                <a:cs typeface="Times New Roman" panose="02020603050405020304" pitchFamily="18" charset="0"/>
                              </a:rPr>
                              <m:t>′</m:t>
                            </m:r>
                          </m:sup>
                        </m:sSup>
                        <m:d>
                          <m:dPr>
                            <m:ctrlPr>
                              <a:rPr lang="en-CA" sz="2200" b="0" i="1" smtClean="0">
                                <a:solidFill>
                                  <a:schemeClr val="tx1"/>
                                </a:solidFill>
                                <a:latin typeface="Cambria Math" panose="02040503050406030204" pitchFamily="18" charset="0"/>
                                <a:cs typeface="Times New Roman" panose="02020603050405020304" pitchFamily="18" charset="0"/>
                              </a:rPr>
                            </m:ctrlPr>
                          </m:dPr>
                          <m:e>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e>
                        </m:d>
                      </m:den>
                    </m:f>
                  </m:oMath>
                </a14:m>
                <a:endParaRPr lang="en-CA" sz="2200" b="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The first best is implemented!</a:t>
                </a:r>
              </a:p>
              <a:p>
                <a:pPr>
                  <a:spcBef>
                    <a:spcPts val="0"/>
                  </a:spcBef>
                  <a:defRPr/>
                </a:pPr>
                <a:r>
                  <a:rPr lang="en-US" sz="2200" dirty="0">
                    <a:cs typeface="Times New Roman" panose="02020603050405020304" pitchFamily="18" charset="0"/>
                  </a:rPr>
                  <a:t>Intuition: </a:t>
                </a:r>
              </a:p>
              <a:p>
                <a:pPr lvl="1">
                  <a:spcBef>
                    <a:spcPts val="0"/>
                  </a:spcBef>
                  <a:defRPr/>
                </a:pPr>
                <a:r>
                  <a:rPr lang="en-US" sz="2000" dirty="0">
                    <a:solidFill>
                      <a:schemeClr val="tx1"/>
                    </a:solidFill>
                    <a:cs typeface="Times New Roman" panose="02020603050405020304" pitchFamily="18" charset="0"/>
                  </a:rPr>
                  <a:t>The provider fully internalizes costs, so they act as though they are the social planner</a:t>
                </a:r>
              </a:p>
              <a:p>
                <a:pPr lvl="1">
                  <a:spcBef>
                    <a:spcPts val="0"/>
                  </a:spcBef>
                  <a:defRPr/>
                </a:pPr>
                <a:r>
                  <a:rPr lang="en-US" sz="2000" dirty="0">
                    <a:solidFill>
                      <a:schemeClr val="tx1"/>
                    </a:solidFill>
                    <a:cs typeface="Times New Roman" panose="02020603050405020304" pitchFamily="18" charset="0"/>
                  </a:rPr>
                  <a:t>Provider also fully internalizes marginal quality cost based on choice of </a:t>
                </a:r>
                <a:r>
                  <a:rPr lang="en-US" sz="2000" i="1" dirty="0">
                    <a:solidFill>
                      <a:schemeClr val="tx1"/>
                    </a:solidFill>
                    <a:cs typeface="Times New Roman" panose="02020603050405020304" pitchFamily="18" charset="0"/>
                  </a:rPr>
                  <a:t>p</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765" t="-1246"/>
                </a:stretch>
              </a:blipFill>
            </p:spPr>
            <p:txBody>
              <a:bodyPr/>
              <a:lstStyle/>
              <a:p>
                <a:r>
                  <a:rPr lang="en-CA">
                    <a:noFill/>
                  </a:rPr>
                  <a:t> </a:t>
                </a:r>
              </a:p>
            </p:txBody>
          </p:sp>
        </mc:Fallback>
      </mc:AlternateContent>
    </p:spTree>
    <p:extLst>
      <p:ext uri="{BB962C8B-B14F-4D97-AF65-F5344CB8AC3E}">
        <p14:creationId xmlns:p14="http://schemas.microsoft.com/office/powerpoint/2010/main" val="22964137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Can prospective payment satisfy the internalization principle?</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CA" sz="2400" dirty="0">
                    <a:solidFill>
                      <a:schemeClr val="tx1"/>
                    </a:solidFill>
                    <a:cs typeface="Times New Roman" panose="02020603050405020304" pitchFamily="18" charset="0"/>
                  </a:rPr>
                  <a:t>Now suppose that providers receive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𝑇</m:t>
                    </m:r>
                  </m:oMath>
                </a14:m>
                <a:r>
                  <a:rPr lang="en-US" sz="2200" dirty="0">
                    <a:solidFill>
                      <a:schemeClr val="tx1"/>
                    </a:solidFill>
                    <a:cs typeface="Times New Roman" panose="02020603050405020304" pitchFamily="18" charset="0"/>
                  </a:rPr>
                  <a:t> lump-sum and per-unit prices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This </a:t>
                </a:r>
                <a:r>
                  <a:rPr lang="en-US" sz="2200" b="1" dirty="0">
                    <a:cs typeface="Times New Roman" panose="02020603050405020304" pitchFamily="18" charset="0"/>
                  </a:rPr>
                  <a:t>does not depend on </a:t>
                </a:r>
                <a14:m>
                  <m:oMath xmlns:m="http://schemas.openxmlformats.org/officeDocument/2006/math">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𝒒</m:t>
                    </m:r>
                    <m:r>
                      <a:rPr lang="en-CA" sz="2200" b="1" i="1" smtClean="0">
                        <a:latin typeface="Cambria Math" panose="02040503050406030204" pitchFamily="18" charset="0"/>
                        <a:cs typeface="Times New Roman" panose="02020603050405020304" pitchFamily="18" charset="0"/>
                      </a:rPr>
                      <m:t>,</m:t>
                    </m:r>
                    <m:r>
                      <a:rPr lang="en-CA" sz="2200" b="1" i="1" smtClean="0">
                        <a:latin typeface="Cambria Math" panose="02040503050406030204" pitchFamily="18" charset="0"/>
                        <a:cs typeface="Times New Roman" panose="02020603050405020304" pitchFamily="18" charset="0"/>
                      </a:rPr>
                      <m:t>𝒆</m:t>
                    </m:r>
                    <m:r>
                      <a:rPr lang="en-CA" sz="2200" b="1" i="1" smtClean="0">
                        <a:latin typeface="Cambria Math" panose="02040503050406030204" pitchFamily="18" charset="0"/>
                        <a:cs typeface="Times New Roman" panose="02020603050405020304" pitchFamily="18" charset="0"/>
                      </a:rPr>
                      <m:t>)</m:t>
                    </m:r>
                  </m:oMath>
                </a14:m>
                <a:endParaRPr lang="en-US" sz="220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Now, provider profit is given by</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𝐷</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e>
                      </m:d>
                      <m:r>
                        <a:rPr lang="en-CA" sz="2200" b="0" i="1" smtClean="0">
                          <a:solidFill>
                            <a:schemeClr val="tx1"/>
                          </a:solidFill>
                          <a:latin typeface="Cambria Math" panose="02040503050406030204" pitchFamily="18" charset="0"/>
                          <a:cs typeface="Times New Roman" panose="02020603050405020304" pitchFamily="18" charset="0"/>
                        </a:rPr>
                        <m:t>𝐶</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𝐻</m:t>
                      </m:r>
                      <m:d>
                        <m:dPr>
                          <m:ctrlPr>
                            <a:rPr lang="en-CA" sz="2200" b="0" i="1" smtClean="0">
                              <a:solidFill>
                                <a:schemeClr val="tx1"/>
                              </a:solidFill>
                              <a:latin typeface="Cambria Math" panose="02040503050406030204" pitchFamily="18" charset="0"/>
                              <a:cs typeface="Times New Roman" panose="02020603050405020304" pitchFamily="18" charset="0"/>
                            </a:rPr>
                          </m:ctrlPr>
                        </m:dPr>
                        <m:e>
                          <m:r>
                            <a:rPr lang="en-CA" sz="2200" b="0" i="1" smtClean="0">
                              <a:solidFill>
                                <a:schemeClr val="tx1"/>
                              </a:solidFill>
                              <a:latin typeface="Cambria Math" panose="02040503050406030204" pitchFamily="18" charset="0"/>
                              <a:cs typeface="Times New Roman" panose="02020603050405020304" pitchFamily="18" charset="0"/>
                            </a:rPr>
                            <m:t>𝑞</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𝑒</m:t>
                          </m:r>
                        </m:e>
                      </m:d>
                    </m:oMath>
                  </m:oMathPara>
                </a14:m>
                <a:endParaRPr lang="en-CA" sz="2200" b="0" dirty="0">
                  <a:solidFill>
                    <a:schemeClr val="tx1"/>
                  </a:solidFill>
                  <a:cs typeface="Times New Roman" panose="02020603050405020304" pitchFamily="18" charset="0"/>
                </a:endParaRPr>
              </a:p>
              <a:p>
                <a:pPr marL="0" indent="0">
                  <a:spcBef>
                    <a:spcPts val="0"/>
                  </a:spcBef>
                  <a:buNone/>
                  <a:defRPr/>
                </a:pPr>
                <a:endParaRPr lang="en-US" sz="2200" dirty="0">
                  <a:solidFill>
                    <a:schemeClr val="tx1"/>
                  </a:solidFill>
                  <a:cs typeface="Times New Roman" panose="02020603050405020304" pitchFamily="18" charset="0"/>
                </a:endParaRPr>
              </a:p>
              <a:p>
                <a:pPr marL="0" indent="0">
                  <a:spcBef>
                    <a:spcPts val="0"/>
                  </a:spcBef>
                  <a:buNone/>
                  <a:defRPr/>
                </a:pPr>
                <a:r>
                  <a:rPr lang="en-US" sz="2200" b="1" dirty="0">
                    <a:solidFill>
                      <a:schemeClr val="accent3">
                        <a:lumMod val="75000"/>
                      </a:schemeClr>
                    </a:solidFill>
                    <a:cs typeface="Times New Roman" panose="02020603050405020304" pitchFamily="18" charset="0"/>
                  </a:rPr>
                  <a:t>Key question</a:t>
                </a:r>
                <a:r>
                  <a:rPr lang="en-US" sz="2200" dirty="0">
                    <a:solidFill>
                      <a:schemeClr val="tx1"/>
                    </a:solidFill>
                    <a:cs typeface="Times New Roman" panose="02020603050405020304" pitchFamily="18" charset="0"/>
                  </a:rPr>
                  <a:t>: can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𝑇</m:t>
                    </m:r>
                    <m:r>
                      <a:rPr lang="en-CA" sz="2200" b="0" i="1" smtClean="0">
                        <a:solidFill>
                          <a:schemeClr val="tx1"/>
                        </a:solidFill>
                        <a:latin typeface="Cambria Math" panose="02040503050406030204" pitchFamily="18" charset="0"/>
                        <a:cs typeface="Times New Roman" panose="02020603050405020304" pitchFamily="18" charset="0"/>
                      </a:rPr>
                      <m:t>,</m:t>
                    </m:r>
                    <m:r>
                      <a:rPr lang="en-CA" sz="2200" b="0" i="1" smtClean="0">
                        <a:solidFill>
                          <a:schemeClr val="tx1"/>
                        </a:solidFill>
                        <a:latin typeface="Cambria Math" panose="02040503050406030204" pitchFamily="18" charset="0"/>
                        <a:cs typeface="Times New Roman" panose="02020603050405020304" pitchFamily="18" charset="0"/>
                      </a:rPr>
                      <m:t>𝑝</m:t>
                    </m:r>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be chosen to implement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𝑒</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oMath>
                </a14:m>
                <a:r>
                  <a:rPr lang="en-US" sz="2200" dirty="0">
                    <a:solidFill>
                      <a:schemeClr val="tx1"/>
                    </a:solidFill>
                    <a:cs typeface="Times New Roman" panose="02020603050405020304" pitchFamily="18" charset="0"/>
                  </a:rPr>
                  <a:t>? </a:t>
                </a:r>
                <a:r>
                  <a:rPr lang="en-US" sz="2200" b="1" dirty="0">
                    <a:solidFill>
                      <a:schemeClr val="accent3">
                        <a:lumMod val="75000"/>
                      </a:schemeClr>
                    </a:solidFill>
                    <a:cs typeface="Times New Roman" panose="02020603050405020304" pitchFamily="18" charset="0"/>
                  </a:rPr>
                  <a:t>Yes!</a:t>
                </a:r>
              </a:p>
              <a:p>
                <a:pPr>
                  <a:spcBef>
                    <a:spcPts val="0"/>
                  </a:spcBef>
                  <a:defRPr/>
                </a:pPr>
                <a:r>
                  <a:rPr lang="en-US" sz="2200" dirty="0">
                    <a:solidFill>
                      <a:schemeClr val="tx1"/>
                    </a:solidFill>
                    <a:cs typeface="Times New Roman" panose="02020603050405020304" pitchFamily="18" charset="0"/>
                  </a:rPr>
                  <a:t>Just need to choose </a:t>
                </a:r>
                <a14:m>
                  <m:oMath xmlns:m="http://schemas.openxmlformats.org/officeDocument/2006/math">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𝑝</m:t>
                        </m:r>
                      </m:e>
                      <m:sup>
                        <m:r>
                          <a:rPr lang="en-CA" sz="2200" b="0" i="1" smtClean="0">
                            <a:solidFill>
                              <a:schemeClr val="tx1"/>
                            </a:solidFill>
                            <a:latin typeface="Cambria Math" panose="02040503050406030204" pitchFamily="18" charset="0"/>
                            <a:cs typeface="Times New Roman" panose="02020603050405020304" pitchFamily="18" charset="0"/>
                          </a:rPr>
                          <m:t>∗</m:t>
                        </m:r>
                      </m:sup>
                    </m:sSup>
                    <m:r>
                      <a:rPr lang="en-CA" sz="2200" b="0" i="1" smtClean="0">
                        <a:solidFill>
                          <a:schemeClr val="tx1"/>
                        </a:solidFill>
                        <a:latin typeface="Cambria Math" panose="02040503050406030204" pitchFamily="18" charset="0"/>
                        <a:cs typeface="Times New Roman" panose="02020603050405020304" pitchFamily="18" charset="0"/>
                      </a:rPr>
                      <m:t>=</m:t>
                    </m:r>
                    <m:f>
                      <m:fPr>
                        <m:ctrlPr>
                          <a:rPr lang="en-CA" sz="2200" b="0" i="1" smtClean="0">
                            <a:solidFill>
                              <a:schemeClr val="tx1"/>
                            </a:solidFill>
                            <a:latin typeface="Cambria Math" panose="02040503050406030204" pitchFamily="18" charset="0"/>
                            <a:cs typeface="Times New Roman" panose="02020603050405020304" pitchFamily="18" charset="0"/>
                          </a:rPr>
                        </m:ctrlPr>
                      </m:fPr>
                      <m:num>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𝐵</m:t>
                            </m:r>
                          </m:e>
                          <m:sup>
                            <m:r>
                              <a:rPr lang="en-CA" sz="2200" b="0" i="1" smtClean="0">
                                <a:solidFill>
                                  <a:schemeClr val="tx1"/>
                                </a:solidFill>
                                <a:latin typeface="Cambria Math" panose="02040503050406030204" pitchFamily="18" charset="0"/>
                                <a:cs typeface="Times New Roman" panose="02020603050405020304" pitchFamily="18" charset="0"/>
                              </a:rPr>
                              <m:t>′</m:t>
                            </m:r>
                          </m:sup>
                        </m:sSup>
                        <m:d>
                          <m:dPr>
                            <m:ctrlPr>
                              <a:rPr lang="en-CA" sz="2200" b="0" i="1" smtClean="0">
                                <a:solidFill>
                                  <a:schemeClr val="tx1"/>
                                </a:solidFill>
                                <a:latin typeface="Cambria Math" panose="02040503050406030204" pitchFamily="18" charset="0"/>
                                <a:cs typeface="Times New Roman" panose="02020603050405020304" pitchFamily="18" charset="0"/>
                              </a:rPr>
                            </m:ctrlPr>
                          </m:dPr>
                          <m:e>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e>
                        </m:d>
                      </m:num>
                      <m:den>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𝐷</m:t>
                            </m:r>
                          </m:e>
                          <m:sup>
                            <m:r>
                              <a:rPr lang="en-CA" sz="2200" b="0" i="1" smtClean="0">
                                <a:solidFill>
                                  <a:schemeClr val="tx1"/>
                                </a:solidFill>
                                <a:latin typeface="Cambria Math" panose="02040503050406030204" pitchFamily="18" charset="0"/>
                                <a:cs typeface="Times New Roman" panose="02020603050405020304" pitchFamily="18" charset="0"/>
                              </a:rPr>
                              <m:t>′</m:t>
                            </m:r>
                          </m:sup>
                        </m:sSup>
                        <m:d>
                          <m:dPr>
                            <m:ctrlPr>
                              <a:rPr lang="en-CA" sz="2200" b="0" i="1" smtClean="0">
                                <a:solidFill>
                                  <a:schemeClr val="tx1"/>
                                </a:solidFill>
                                <a:latin typeface="Cambria Math" panose="02040503050406030204" pitchFamily="18" charset="0"/>
                                <a:cs typeface="Times New Roman" panose="02020603050405020304" pitchFamily="18" charset="0"/>
                              </a:rPr>
                            </m:ctrlPr>
                          </m:dPr>
                          <m:e>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a:rPr lang="en-CA" sz="2200" b="0" i="1" smtClean="0">
                                    <a:solidFill>
                                      <a:schemeClr val="tx1"/>
                                    </a:solidFill>
                                    <a:latin typeface="Cambria Math" panose="02040503050406030204" pitchFamily="18" charset="0"/>
                                    <a:cs typeface="Times New Roman" panose="02020603050405020304" pitchFamily="18" charset="0"/>
                                  </a:rPr>
                                  <m:t>𝑞</m:t>
                                </m:r>
                              </m:e>
                              <m:sup>
                                <m:r>
                                  <a:rPr lang="en-CA" sz="2200" b="0" i="1" smtClean="0">
                                    <a:solidFill>
                                      <a:schemeClr val="tx1"/>
                                    </a:solidFill>
                                    <a:latin typeface="Cambria Math" panose="02040503050406030204" pitchFamily="18" charset="0"/>
                                    <a:cs typeface="Times New Roman" panose="02020603050405020304" pitchFamily="18" charset="0"/>
                                  </a:rPr>
                                  <m:t>∗</m:t>
                                </m:r>
                              </m:sup>
                            </m:sSup>
                          </m:e>
                        </m:d>
                      </m:den>
                    </m:f>
                  </m:oMath>
                </a14:m>
                <a:endParaRPr lang="en-CA" sz="2200" b="0" dirty="0">
                  <a:solidFill>
                    <a:schemeClr val="tx1"/>
                  </a:solidFill>
                  <a:cs typeface="Times New Roman" panose="02020603050405020304" pitchFamily="18" charset="0"/>
                </a:endParaRPr>
              </a:p>
              <a:p>
                <a:pPr>
                  <a:spcBef>
                    <a:spcPts val="0"/>
                  </a:spcBef>
                  <a:defRPr/>
                </a:pPr>
                <a:r>
                  <a:rPr lang="en-US" sz="2200" dirty="0">
                    <a:cs typeface="Times New Roman" panose="02020603050405020304" pitchFamily="18" charset="0"/>
                  </a:rPr>
                  <a:t>The first best is implemented!</a:t>
                </a:r>
              </a:p>
              <a:p>
                <a:pPr>
                  <a:spcBef>
                    <a:spcPts val="0"/>
                  </a:spcBef>
                  <a:defRPr/>
                </a:pPr>
                <a:r>
                  <a:rPr lang="en-US" sz="2200" dirty="0">
                    <a:cs typeface="Times New Roman" panose="02020603050405020304" pitchFamily="18" charset="0"/>
                  </a:rPr>
                  <a:t>Intuition: </a:t>
                </a:r>
              </a:p>
              <a:p>
                <a:pPr lvl="1">
                  <a:spcBef>
                    <a:spcPts val="0"/>
                  </a:spcBef>
                  <a:defRPr/>
                </a:pPr>
                <a:r>
                  <a:rPr lang="en-US" sz="2000" dirty="0">
                    <a:solidFill>
                      <a:schemeClr val="tx1"/>
                    </a:solidFill>
                    <a:cs typeface="Times New Roman" panose="02020603050405020304" pitchFamily="18" charset="0"/>
                  </a:rPr>
                  <a:t>The provider fully internalizes costs, so they act as though they are the social planner</a:t>
                </a:r>
              </a:p>
              <a:p>
                <a:pPr lvl="1">
                  <a:spcBef>
                    <a:spcPts val="0"/>
                  </a:spcBef>
                  <a:defRPr/>
                </a:pPr>
                <a:r>
                  <a:rPr lang="en-US" sz="2000" dirty="0">
                    <a:solidFill>
                      <a:schemeClr val="tx1"/>
                    </a:solidFill>
                    <a:cs typeface="Times New Roman" panose="02020603050405020304" pitchFamily="18" charset="0"/>
                  </a:rPr>
                  <a:t>Provider also fully internalizes marginal quality cost based on choice of </a:t>
                </a:r>
                <a:r>
                  <a:rPr lang="en-US" sz="2000" i="1" dirty="0">
                    <a:solidFill>
                      <a:schemeClr val="tx1"/>
                    </a:solidFill>
                    <a:cs typeface="Times New Roman" panose="02020603050405020304" pitchFamily="18" charset="0"/>
                  </a:rPr>
                  <a:t>p</a:t>
                </a:r>
              </a:p>
              <a:p>
                <a:pPr>
                  <a:spcBef>
                    <a:spcPts val="0"/>
                  </a:spcBef>
                  <a:defRPr/>
                </a:pPr>
                <a:endParaRPr lang="en-US" sz="2200" i="1" dirty="0">
                  <a:cs typeface="Times New Roman" panose="02020603050405020304" pitchFamily="18" charset="0"/>
                </a:endParaRPr>
              </a:p>
              <a:p>
                <a:pPr marL="0" indent="0">
                  <a:spcBef>
                    <a:spcPts val="0"/>
                  </a:spcBef>
                  <a:buNone/>
                  <a:defRPr/>
                </a:pPr>
                <a:r>
                  <a:rPr lang="en-US" sz="2200" b="1" dirty="0">
                    <a:solidFill>
                      <a:schemeClr val="accent2">
                        <a:lumMod val="75000"/>
                      </a:schemeClr>
                    </a:solidFill>
                    <a:cs typeface="Times New Roman" panose="02020603050405020304" pitchFamily="18" charset="0"/>
                  </a:rPr>
                  <a:t>Next question: </a:t>
                </a:r>
                <a:r>
                  <a:rPr lang="en-US" sz="2200" dirty="0">
                    <a:solidFill>
                      <a:schemeClr val="tx1"/>
                    </a:solidFill>
                    <a:cs typeface="Times New Roman" panose="02020603050405020304" pitchFamily="18" charset="0"/>
                  </a:rPr>
                  <a:t>what about other provider choices?</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765" t="-1246"/>
                </a:stretch>
              </a:blipFill>
            </p:spPr>
            <p:txBody>
              <a:bodyPr/>
              <a:lstStyle/>
              <a:p>
                <a:r>
                  <a:rPr lang="en-CA">
                    <a:noFill/>
                  </a:rPr>
                  <a:t> </a:t>
                </a:r>
              </a:p>
            </p:txBody>
          </p:sp>
        </mc:Fallback>
      </mc:AlternateContent>
    </p:spTree>
    <p:extLst>
      <p:ext uri="{BB962C8B-B14F-4D97-AF65-F5344CB8AC3E}">
        <p14:creationId xmlns:p14="http://schemas.microsoft.com/office/powerpoint/2010/main" val="10933814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What if providers can pick who to treat?</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Now, suppose provider sees something about patient risk </a:t>
                </a:r>
                <a14:m>
                  <m:oMath xmlns:m="http://schemas.openxmlformats.org/officeDocument/2006/math">
                    <m:r>
                      <m:rPr>
                        <m:sty m:val="p"/>
                      </m:rPr>
                      <a:rPr lang="en-CA" sz="2400" b="0" i="0" smtClean="0">
                        <a:solidFill>
                          <a:schemeClr val="tx1"/>
                        </a:solidFill>
                        <a:latin typeface="Cambria Math" panose="02040503050406030204" pitchFamily="18" charset="0"/>
                        <a:cs typeface="Times New Roman" panose="02020603050405020304" pitchFamily="18" charset="0"/>
                      </a:rPr>
                      <m:t>F</m:t>
                    </m:r>
                    <m:r>
                      <a:rPr lang="en-CA" sz="2400" b="0" i="0"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)∼[0,1]</m:t>
                    </m:r>
                  </m:oMath>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Risk determines cost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𝑞</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r>
                      <a:rPr lang="en-CA" sz="2400" b="0" i="1" smtClean="0">
                        <a:latin typeface="Cambria Math" panose="02040503050406030204" pitchFamily="18" charset="0"/>
                        <a:cs typeface="Times New Roman" panose="02020603050405020304" pitchFamily="18" charset="0"/>
                      </a:rPr>
                      <m:t>. </m:t>
                    </m:r>
                  </m:oMath>
                </a14:m>
                <a:r>
                  <a:rPr lang="en-US" sz="2400" dirty="0">
                    <a:solidFill>
                      <a:schemeClr val="tx1"/>
                    </a:solidFill>
                    <a:cs typeface="Times New Roman" panose="02020603050405020304" pitchFamily="18" charset="0"/>
                  </a:rPr>
                  <a:t> If th</a:t>
                </a:r>
                <a:r>
                  <a:rPr lang="en-US" sz="2400" dirty="0">
                    <a:cs typeface="Times New Roman" panose="02020603050405020304" pitchFamily="18" charset="0"/>
                  </a:rPr>
                  <a:t>e provider treats everyone: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𝐶</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m:t>
                      </m:r>
                      <m:nary>
                        <m:naryPr>
                          <m:ctrlPr>
                            <a:rPr lang="en-CA" sz="2400" b="0" i="1" smtClean="0">
                              <a:solidFill>
                                <a:schemeClr val="tx1"/>
                              </a:solidFill>
                              <a:latin typeface="Cambria Math" panose="02040503050406030204" pitchFamily="18" charset="0"/>
                              <a:cs typeface="Times New Roman" panose="02020603050405020304" pitchFamily="18" charset="0"/>
                            </a:rPr>
                          </m:ctrlPr>
                        </m:naryPr>
                        <m:sub>
                          <m:r>
                            <a:rPr lang="en-CA" sz="2400" b="0" i="1" smtClean="0">
                              <a:solidFill>
                                <a:schemeClr val="tx1"/>
                              </a:solidFill>
                              <a:latin typeface="Cambria Math" panose="02040503050406030204" pitchFamily="18" charset="0"/>
                              <a:cs typeface="Times New Roman" panose="02020603050405020304" pitchFamily="18" charset="0"/>
                            </a:rPr>
                            <m:t>0</m:t>
                          </m:r>
                        </m:sub>
                        <m:sup>
                          <m:r>
                            <a:rPr lang="en-CA" sz="2400" b="0" i="1" smtClean="0">
                              <a:solidFill>
                                <a:schemeClr val="tx1"/>
                              </a:solidFill>
                              <a:latin typeface="Cambria Math" panose="02040503050406030204" pitchFamily="18" charset="0"/>
                              <a:cs typeface="Times New Roman" panose="02020603050405020304" pitchFamily="18" charset="0"/>
                            </a:rPr>
                            <m:t>1</m:t>
                          </m:r>
                        </m:sup>
                        <m:e>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𝑑𝐹</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e>
                      </m:nary>
                    </m:oMath>
                  </m:oMathPara>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Does the “first best” change?</a:t>
                </a:r>
                <a:endParaRPr lang="en-US" sz="240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13106714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Patient Selection</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Now, suppose provider sees something about patient risk </a:t>
                </a:r>
                <a14:m>
                  <m:oMath xmlns:m="http://schemas.openxmlformats.org/officeDocument/2006/math">
                    <m:r>
                      <m:rPr>
                        <m:sty m:val="p"/>
                      </m:rPr>
                      <a:rPr lang="en-CA" sz="2400" b="0" i="0" smtClean="0">
                        <a:solidFill>
                          <a:schemeClr val="tx1"/>
                        </a:solidFill>
                        <a:latin typeface="Cambria Math" panose="02040503050406030204" pitchFamily="18" charset="0"/>
                        <a:cs typeface="Times New Roman" panose="02020603050405020304" pitchFamily="18" charset="0"/>
                      </a:rPr>
                      <m:t>F</m:t>
                    </m:r>
                    <m:r>
                      <a:rPr lang="en-CA" sz="2400" b="0" i="0"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)∼[0,1]</m:t>
                    </m:r>
                  </m:oMath>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Risk determines cost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𝑞</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r>
                      <a:rPr lang="en-CA" sz="2400" b="0" i="1" smtClean="0">
                        <a:latin typeface="Cambria Math" panose="02040503050406030204" pitchFamily="18" charset="0"/>
                        <a:cs typeface="Times New Roman" panose="02020603050405020304" pitchFamily="18" charset="0"/>
                      </a:rPr>
                      <m:t>. </m:t>
                    </m:r>
                  </m:oMath>
                </a14:m>
                <a:r>
                  <a:rPr lang="en-US" sz="2400" dirty="0">
                    <a:solidFill>
                      <a:schemeClr val="tx1"/>
                    </a:solidFill>
                    <a:cs typeface="Times New Roman" panose="02020603050405020304" pitchFamily="18" charset="0"/>
                  </a:rPr>
                  <a:t> If th</a:t>
                </a:r>
                <a:r>
                  <a:rPr lang="en-US" sz="2400" dirty="0">
                    <a:cs typeface="Times New Roman" panose="02020603050405020304" pitchFamily="18" charset="0"/>
                  </a:rPr>
                  <a:t>e provider treats everyone: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𝐶</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m:t>
                      </m:r>
                      <m:nary>
                        <m:naryPr>
                          <m:ctrlPr>
                            <a:rPr lang="en-CA" sz="2400" b="0" i="1" smtClean="0">
                              <a:solidFill>
                                <a:schemeClr val="tx1"/>
                              </a:solidFill>
                              <a:latin typeface="Cambria Math" panose="02040503050406030204" pitchFamily="18" charset="0"/>
                              <a:cs typeface="Times New Roman" panose="02020603050405020304" pitchFamily="18" charset="0"/>
                            </a:rPr>
                          </m:ctrlPr>
                        </m:naryPr>
                        <m:sub>
                          <m:r>
                            <a:rPr lang="en-CA" sz="2400" b="0" i="1" smtClean="0">
                              <a:solidFill>
                                <a:schemeClr val="tx1"/>
                              </a:solidFill>
                              <a:latin typeface="Cambria Math" panose="02040503050406030204" pitchFamily="18" charset="0"/>
                              <a:cs typeface="Times New Roman" panose="02020603050405020304" pitchFamily="18" charset="0"/>
                            </a:rPr>
                            <m:t>0</m:t>
                          </m:r>
                        </m:sub>
                        <m:sup>
                          <m:r>
                            <a:rPr lang="en-CA" sz="2400" b="0" i="1" smtClean="0">
                              <a:solidFill>
                                <a:schemeClr val="tx1"/>
                              </a:solidFill>
                              <a:latin typeface="Cambria Math" panose="02040503050406030204" pitchFamily="18" charset="0"/>
                              <a:cs typeface="Times New Roman" panose="02020603050405020304" pitchFamily="18" charset="0"/>
                            </a:rPr>
                            <m:t>1</m:t>
                          </m:r>
                        </m:sup>
                        <m:e>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𝑑𝐹</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e>
                      </m:nary>
                    </m:oMath>
                  </m:oMathPara>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Do provider incentives change? </a:t>
                </a:r>
              </a:p>
              <a:p>
                <a:pPr lvl="1">
                  <a:spcBef>
                    <a:spcPts val="0"/>
                  </a:spcBef>
                  <a:defRPr/>
                </a:pPr>
                <a:r>
                  <a:rPr lang="en-US" sz="2200" dirty="0">
                    <a:solidFill>
                      <a:schemeClr val="tx1"/>
                    </a:solidFill>
                    <a:cs typeface="Times New Roman" panose="02020603050405020304" pitchFamily="18" charset="0"/>
                  </a:rPr>
                  <a:t>Providers may </a:t>
                </a:r>
                <a:r>
                  <a:rPr lang="en-US" sz="2200" b="1" dirty="0">
                    <a:solidFill>
                      <a:schemeClr val="tx1"/>
                    </a:solidFill>
                    <a:cs typeface="Times New Roman" panose="02020603050405020304" pitchFamily="18" charset="0"/>
                  </a:rPr>
                  <a:t>dump </a:t>
                </a:r>
                <a:r>
                  <a:rPr lang="en-US" sz="2200" dirty="0">
                    <a:solidFill>
                      <a:schemeClr val="tx1"/>
                    </a:solidFill>
                    <a:cs typeface="Times New Roman" panose="02020603050405020304" pitchFamily="18" charset="0"/>
                  </a:rPr>
                  <a:t>costly patients</a:t>
                </a:r>
              </a:p>
              <a:p>
                <a:pPr lvl="1">
                  <a:spcBef>
                    <a:spcPts val="0"/>
                  </a:spcBef>
                  <a:defRPr/>
                </a:pPr>
                <a:r>
                  <a:rPr lang="en-US" sz="2200" dirty="0">
                    <a:solidFill>
                      <a:schemeClr val="tx1"/>
                    </a:solidFill>
                    <a:cs typeface="Times New Roman" panose="02020603050405020304" pitchFamily="18" charset="0"/>
                  </a:rPr>
                  <a:t>If you give a provider a price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r>
                  <a:rPr lang="en-US" sz="2200" dirty="0">
                    <a:solidFill>
                      <a:schemeClr val="tx1"/>
                    </a:solidFill>
                    <a:cs typeface="Times New Roman" panose="02020603050405020304" pitchFamily="18" charset="0"/>
                  </a:rPr>
                  <a:t>, then there may be an </a:t>
                </a:r>
                <a14:m>
                  <m:oMath xmlns:m="http://schemas.openxmlformats.org/officeDocument/2006/math">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m:rPr>
                            <m:sty m:val="p"/>
                          </m:rPr>
                          <a:rPr lang="en-CA" sz="2200" b="0" i="0" smtClean="0">
                            <a:solidFill>
                              <a:schemeClr val="tx1"/>
                            </a:solidFill>
                            <a:latin typeface="Cambria Math" panose="02040503050406030204" pitchFamily="18" charset="0"/>
                            <a:cs typeface="Times New Roman" panose="02020603050405020304" pitchFamily="18" charset="0"/>
                          </a:rPr>
                          <m:t>x</m:t>
                        </m:r>
                      </m:e>
                      <m:sup>
                        <m:r>
                          <a:rPr lang="en-CA" sz="2200" b="0" i="1" smtClean="0">
                            <a:solidFill>
                              <a:schemeClr val="tx1"/>
                            </a:solidFill>
                            <a:latin typeface="Cambria Math" panose="02040503050406030204" pitchFamily="18" charset="0"/>
                            <a:cs typeface="Times New Roman" panose="02020603050405020304" pitchFamily="18" charset="0"/>
                          </a:rPr>
                          <m:t>−</m:t>
                        </m:r>
                      </m:sup>
                    </m:sSup>
                  </m:oMath>
                </a14:m>
                <a:r>
                  <a:rPr lang="en-US" sz="2200" dirty="0">
                    <a:solidFill>
                      <a:schemeClr val="tx1"/>
                    </a:solidFill>
                    <a:cs typeface="Times New Roman" panose="02020603050405020304" pitchFamily="18" charset="0"/>
                  </a:rPr>
                  <a:t> above which I don’t treat</a:t>
                </a:r>
              </a:p>
              <a:p>
                <a:pPr>
                  <a:spcBef>
                    <a:spcPts val="0"/>
                  </a:spcBef>
                  <a:defRPr/>
                </a:pPr>
                <a:r>
                  <a:rPr lang="en-US" sz="2400" dirty="0">
                    <a:cs typeface="Times New Roman" panose="02020603050405020304" pitchFamily="18" charset="0"/>
                  </a:rPr>
                  <a:t>Profit is now: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𝑇</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𝐷</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nary>
                        <m:naryPr>
                          <m:ctrlPr>
                            <a:rPr lang="en-CA" sz="2400" b="0" i="1" smtClean="0">
                              <a:solidFill>
                                <a:schemeClr val="tx1"/>
                              </a:solidFill>
                              <a:latin typeface="Cambria Math" panose="02040503050406030204" pitchFamily="18" charset="0"/>
                              <a:cs typeface="Times New Roman" panose="02020603050405020304" pitchFamily="18" charset="0"/>
                            </a:rPr>
                          </m:ctrlPr>
                        </m:naryPr>
                        <m:sub>
                          <m:r>
                            <a:rPr lang="en-CA" sz="2400" b="0" i="1" smtClean="0">
                              <a:solidFill>
                                <a:schemeClr val="tx1"/>
                              </a:solidFill>
                              <a:latin typeface="Cambria Math" panose="02040503050406030204" pitchFamily="18" charset="0"/>
                              <a:cs typeface="Times New Roman" panose="02020603050405020304" pitchFamily="18" charset="0"/>
                            </a:rPr>
                            <m:t>0</m:t>
                          </m:r>
                        </m:sub>
                        <m:sup>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𝑥</m:t>
                              </m:r>
                            </m:e>
                            <m:sup>
                              <m:r>
                                <a:rPr lang="en-CA" sz="2400" b="0" i="1" smtClean="0">
                                  <a:solidFill>
                                    <a:schemeClr val="tx1"/>
                                  </a:solidFill>
                                  <a:latin typeface="Cambria Math" panose="02040503050406030204" pitchFamily="18" charset="0"/>
                                  <a:cs typeface="Times New Roman" panose="02020603050405020304" pitchFamily="18" charset="0"/>
                                </a:rPr>
                                <m:t>−</m:t>
                              </m:r>
                            </m:sup>
                          </m:sSup>
                        </m:sup>
                        <m:e>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𝑝</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𝑑𝐹</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𝐻</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r>
                            <a:rPr lang="en-CA" sz="2400" b="0" i="1" smtClean="0">
                              <a:solidFill>
                                <a:schemeClr val="tx1"/>
                              </a:solidFill>
                              <a:latin typeface="Cambria Math" panose="02040503050406030204" pitchFamily="18" charset="0"/>
                              <a:cs typeface="Times New Roman" panose="02020603050405020304" pitchFamily="18" charset="0"/>
                            </a:rPr>
                            <m:t>)</m:t>
                          </m:r>
                        </m:e>
                      </m:nary>
                    </m:oMath>
                  </m:oMathPara>
                </a14:m>
                <a:endParaRPr lang="en-CA" sz="2400" b="0" dirty="0">
                  <a:solidFill>
                    <a:schemeClr val="tx1"/>
                  </a:solidFill>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37941607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Patient Selection</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rmAutofit/>
              </a:bodyPr>
              <a:lstStyle/>
              <a:p>
                <a:pPr>
                  <a:spcBef>
                    <a:spcPts val="0"/>
                  </a:spcBef>
                  <a:defRPr/>
                </a:pPr>
                <a:r>
                  <a:rPr lang="en-US" sz="2400" dirty="0">
                    <a:solidFill>
                      <a:schemeClr val="tx1"/>
                    </a:solidFill>
                    <a:cs typeface="Times New Roman" panose="02020603050405020304" pitchFamily="18" charset="0"/>
                  </a:rPr>
                  <a:t>Now, suppose provider sees something about patient risk </a:t>
                </a:r>
                <a14:m>
                  <m:oMath xmlns:m="http://schemas.openxmlformats.org/officeDocument/2006/math">
                    <m:r>
                      <m:rPr>
                        <m:sty m:val="p"/>
                      </m:rPr>
                      <a:rPr lang="en-CA" sz="2400" b="0" i="0" smtClean="0">
                        <a:solidFill>
                          <a:schemeClr val="tx1"/>
                        </a:solidFill>
                        <a:latin typeface="Cambria Math" panose="02040503050406030204" pitchFamily="18" charset="0"/>
                        <a:cs typeface="Times New Roman" panose="02020603050405020304" pitchFamily="18" charset="0"/>
                      </a:rPr>
                      <m:t>F</m:t>
                    </m:r>
                    <m:r>
                      <a:rPr lang="en-CA" sz="2400" b="0" i="0"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)∼[0,1]</m:t>
                    </m:r>
                  </m:oMath>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Risk determines cost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𝑞</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r>
                      <a:rPr lang="en-CA" sz="2400" b="0" i="1" smtClean="0">
                        <a:latin typeface="Cambria Math" panose="02040503050406030204" pitchFamily="18" charset="0"/>
                        <a:cs typeface="Times New Roman" panose="02020603050405020304" pitchFamily="18" charset="0"/>
                      </a:rPr>
                      <m:t>. </m:t>
                    </m:r>
                  </m:oMath>
                </a14:m>
                <a:r>
                  <a:rPr lang="en-US" sz="2400" dirty="0">
                    <a:solidFill>
                      <a:schemeClr val="tx1"/>
                    </a:solidFill>
                    <a:cs typeface="Times New Roman" panose="02020603050405020304" pitchFamily="18" charset="0"/>
                  </a:rPr>
                  <a:t> If th</a:t>
                </a:r>
                <a:r>
                  <a:rPr lang="en-US" sz="2400" dirty="0">
                    <a:cs typeface="Times New Roman" panose="02020603050405020304" pitchFamily="18" charset="0"/>
                  </a:rPr>
                  <a:t>e provider treats everyone: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𝐶</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m:t>
                      </m:r>
                      <m:nary>
                        <m:naryPr>
                          <m:ctrlPr>
                            <a:rPr lang="en-CA" sz="2400" b="0" i="1" smtClean="0">
                              <a:solidFill>
                                <a:schemeClr val="tx1"/>
                              </a:solidFill>
                              <a:latin typeface="Cambria Math" panose="02040503050406030204" pitchFamily="18" charset="0"/>
                              <a:cs typeface="Times New Roman" panose="02020603050405020304" pitchFamily="18" charset="0"/>
                            </a:rPr>
                          </m:ctrlPr>
                        </m:naryPr>
                        <m:sub>
                          <m:r>
                            <a:rPr lang="en-CA" sz="2400" b="0" i="1" smtClean="0">
                              <a:solidFill>
                                <a:schemeClr val="tx1"/>
                              </a:solidFill>
                              <a:latin typeface="Cambria Math" panose="02040503050406030204" pitchFamily="18" charset="0"/>
                              <a:cs typeface="Times New Roman" panose="02020603050405020304" pitchFamily="18" charset="0"/>
                            </a:rPr>
                            <m:t>0</m:t>
                          </m:r>
                        </m:sub>
                        <m:sup>
                          <m:r>
                            <a:rPr lang="en-CA" sz="2400" b="0" i="1" smtClean="0">
                              <a:solidFill>
                                <a:schemeClr val="tx1"/>
                              </a:solidFill>
                              <a:latin typeface="Cambria Math" panose="02040503050406030204" pitchFamily="18" charset="0"/>
                              <a:cs typeface="Times New Roman" panose="02020603050405020304" pitchFamily="18" charset="0"/>
                            </a:rPr>
                            <m:t>1</m:t>
                          </m:r>
                        </m:sup>
                        <m:e>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𝑑𝐹</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e>
                      </m:nary>
                    </m:oMath>
                  </m:oMathPara>
                </a14:m>
                <a:endParaRPr lang="en-US" sz="2400" dirty="0">
                  <a:solidFill>
                    <a:schemeClr val="tx1"/>
                  </a:solidFill>
                  <a:cs typeface="Times New Roman" panose="02020603050405020304" pitchFamily="18" charset="0"/>
                </a:endParaRPr>
              </a:p>
              <a:p>
                <a:pPr>
                  <a:spcBef>
                    <a:spcPts val="0"/>
                  </a:spcBef>
                  <a:defRPr/>
                </a:pPr>
                <a:r>
                  <a:rPr lang="en-US" sz="2400" dirty="0">
                    <a:cs typeface="Times New Roman" panose="02020603050405020304" pitchFamily="18" charset="0"/>
                  </a:rPr>
                  <a:t>Do provider incentives change? </a:t>
                </a:r>
              </a:p>
              <a:p>
                <a:pPr lvl="1">
                  <a:spcBef>
                    <a:spcPts val="0"/>
                  </a:spcBef>
                  <a:defRPr/>
                </a:pPr>
                <a:r>
                  <a:rPr lang="en-US" sz="2200" dirty="0">
                    <a:solidFill>
                      <a:schemeClr val="tx1"/>
                    </a:solidFill>
                    <a:cs typeface="Times New Roman" panose="02020603050405020304" pitchFamily="18" charset="0"/>
                  </a:rPr>
                  <a:t>Providers may </a:t>
                </a:r>
                <a:r>
                  <a:rPr lang="en-US" sz="2200" b="1" dirty="0">
                    <a:solidFill>
                      <a:schemeClr val="tx1"/>
                    </a:solidFill>
                    <a:cs typeface="Times New Roman" panose="02020603050405020304" pitchFamily="18" charset="0"/>
                  </a:rPr>
                  <a:t>dump </a:t>
                </a:r>
                <a:r>
                  <a:rPr lang="en-US" sz="2200" dirty="0">
                    <a:solidFill>
                      <a:schemeClr val="tx1"/>
                    </a:solidFill>
                    <a:cs typeface="Times New Roman" panose="02020603050405020304" pitchFamily="18" charset="0"/>
                  </a:rPr>
                  <a:t>costly patients</a:t>
                </a:r>
              </a:p>
              <a:p>
                <a:pPr lvl="1">
                  <a:spcBef>
                    <a:spcPts val="0"/>
                  </a:spcBef>
                  <a:defRPr/>
                </a:pPr>
                <a:r>
                  <a:rPr lang="en-US" sz="2200" dirty="0">
                    <a:solidFill>
                      <a:schemeClr val="tx1"/>
                    </a:solidFill>
                    <a:cs typeface="Times New Roman" panose="02020603050405020304" pitchFamily="18" charset="0"/>
                  </a:rPr>
                  <a:t>If you give a provider a price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r>
                  <a:rPr lang="en-US" sz="2200" dirty="0">
                    <a:solidFill>
                      <a:schemeClr val="tx1"/>
                    </a:solidFill>
                    <a:cs typeface="Times New Roman" panose="02020603050405020304" pitchFamily="18" charset="0"/>
                  </a:rPr>
                  <a:t>, then there may be an </a:t>
                </a:r>
                <a14:m>
                  <m:oMath xmlns:m="http://schemas.openxmlformats.org/officeDocument/2006/math">
                    <m:sSup>
                      <m:sSupPr>
                        <m:ctrlPr>
                          <a:rPr lang="en-CA" sz="2200" b="0" i="1" smtClean="0">
                            <a:solidFill>
                              <a:schemeClr val="tx1"/>
                            </a:solidFill>
                            <a:latin typeface="Cambria Math" panose="02040503050406030204" pitchFamily="18" charset="0"/>
                            <a:cs typeface="Times New Roman" panose="02020603050405020304" pitchFamily="18" charset="0"/>
                          </a:rPr>
                        </m:ctrlPr>
                      </m:sSupPr>
                      <m:e>
                        <m:r>
                          <m:rPr>
                            <m:sty m:val="p"/>
                          </m:rPr>
                          <a:rPr lang="en-CA" sz="2200" b="0" i="0" smtClean="0">
                            <a:solidFill>
                              <a:schemeClr val="tx1"/>
                            </a:solidFill>
                            <a:latin typeface="Cambria Math" panose="02040503050406030204" pitchFamily="18" charset="0"/>
                            <a:cs typeface="Times New Roman" panose="02020603050405020304" pitchFamily="18" charset="0"/>
                          </a:rPr>
                          <m:t>x</m:t>
                        </m:r>
                      </m:e>
                      <m:sup>
                        <m:r>
                          <a:rPr lang="en-CA" sz="2200" b="0" i="1" smtClean="0">
                            <a:solidFill>
                              <a:schemeClr val="tx1"/>
                            </a:solidFill>
                            <a:latin typeface="Cambria Math" panose="02040503050406030204" pitchFamily="18" charset="0"/>
                            <a:cs typeface="Times New Roman" panose="02020603050405020304" pitchFamily="18" charset="0"/>
                          </a:rPr>
                          <m:t>−</m:t>
                        </m:r>
                      </m:sup>
                    </m:sSup>
                  </m:oMath>
                </a14:m>
                <a:r>
                  <a:rPr lang="en-US" sz="2200" dirty="0">
                    <a:solidFill>
                      <a:schemeClr val="tx1"/>
                    </a:solidFill>
                    <a:cs typeface="Times New Roman" panose="02020603050405020304" pitchFamily="18" charset="0"/>
                  </a:rPr>
                  <a:t> above which I don’t treat</a:t>
                </a:r>
              </a:p>
              <a:p>
                <a:pPr>
                  <a:spcBef>
                    <a:spcPts val="0"/>
                  </a:spcBef>
                  <a:defRPr/>
                </a:pPr>
                <a:r>
                  <a:rPr lang="en-US" sz="2400" dirty="0">
                    <a:cs typeface="Times New Roman" panose="02020603050405020304" pitchFamily="18" charset="0"/>
                  </a:rPr>
                  <a:t>Profit is now: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𝑇</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𝐷</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𝑞</m:t>
                          </m:r>
                        </m:e>
                      </m:d>
                      <m:nary>
                        <m:naryPr>
                          <m:ctrlPr>
                            <a:rPr lang="en-CA" sz="2400" b="0" i="1" smtClean="0">
                              <a:solidFill>
                                <a:schemeClr val="tx1"/>
                              </a:solidFill>
                              <a:latin typeface="Cambria Math" panose="02040503050406030204" pitchFamily="18" charset="0"/>
                              <a:cs typeface="Times New Roman" panose="02020603050405020304" pitchFamily="18" charset="0"/>
                            </a:rPr>
                          </m:ctrlPr>
                        </m:naryPr>
                        <m:sub>
                          <m:r>
                            <a:rPr lang="en-CA" sz="2400" b="0" i="1" smtClean="0">
                              <a:solidFill>
                                <a:schemeClr val="tx1"/>
                              </a:solidFill>
                              <a:latin typeface="Cambria Math" panose="02040503050406030204" pitchFamily="18" charset="0"/>
                              <a:cs typeface="Times New Roman" panose="02020603050405020304" pitchFamily="18" charset="0"/>
                            </a:rPr>
                            <m:t>0</m:t>
                          </m:r>
                        </m:sub>
                        <m:sup>
                          <m:sSup>
                            <m:sSupPr>
                              <m:ctrlPr>
                                <a:rPr lang="en-CA" sz="2400" b="0" i="1" smtClean="0">
                                  <a:solidFill>
                                    <a:schemeClr val="tx1"/>
                                  </a:solidFill>
                                  <a:latin typeface="Cambria Math" panose="02040503050406030204" pitchFamily="18" charset="0"/>
                                  <a:cs typeface="Times New Roman" panose="02020603050405020304" pitchFamily="18" charset="0"/>
                                </a:rPr>
                              </m:ctrlPr>
                            </m:sSupPr>
                            <m:e>
                              <m:r>
                                <a:rPr lang="en-CA" sz="2400" b="0" i="1" smtClean="0">
                                  <a:solidFill>
                                    <a:schemeClr val="tx1"/>
                                  </a:solidFill>
                                  <a:latin typeface="Cambria Math" panose="02040503050406030204" pitchFamily="18" charset="0"/>
                                  <a:cs typeface="Times New Roman" panose="02020603050405020304" pitchFamily="18" charset="0"/>
                                </a:rPr>
                                <m:t>𝑥</m:t>
                              </m:r>
                            </m:e>
                            <m:sup>
                              <m:r>
                                <a:rPr lang="en-CA" sz="2400" b="0" i="1" smtClean="0">
                                  <a:solidFill>
                                    <a:schemeClr val="tx1"/>
                                  </a:solidFill>
                                  <a:latin typeface="Cambria Math" panose="02040503050406030204" pitchFamily="18" charset="0"/>
                                  <a:cs typeface="Times New Roman" panose="02020603050405020304" pitchFamily="18" charset="0"/>
                                </a:rPr>
                                <m:t>−</m:t>
                              </m:r>
                            </m:sup>
                          </m:sSup>
                        </m:sup>
                        <m:e>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𝑝</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r>
                            <a:rPr lang="en-CA" sz="2400" b="0" i="1" smtClean="0">
                              <a:solidFill>
                                <a:schemeClr val="tx1"/>
                              </a:solidFill>
                              <a:latin typeface="Cambria Math" panose="02040503050406030204" pitchFamily="18" charset="0"/>
                              <a:cs typeface="Times New Roman" panose="02020603050405020304" pitchFamily="18" charset="0"/>
                            </a:rPr>
                            <m:t>𝑑𝐹</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e>
                          </m:d>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𝐻</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r>
                            <a:rPr lang="en-CA" sz="2400" b="0" i="1" smtClean="0">
                              <a:solidFill>
                                <a:schemeClr val="tx1"/>
                              </a:solidFill>
                              <a:latin typeface="Cambria Math" panose="02040503050406030204" pitchFamily="18" charset="0"/>
                              <a:cs typeface="Times New Roman" panose="02020603050405020304" pitchFamily="18" charset="0"/>
                            </a:rPr>
                            <m:t>)</m:t>
                          </m:r>
                        </m:e>
                      </m:nary>
                    </m:oMath>
                  </m:oMathPara>
                </a14:m>
                <a:endParaRPr lang="en-CA" sz="2400" b="0" dirty="0">
                  <a:solidFill>
                    <a:schemeClr val="tx1"/>
                  </a:solidFill>
                  <a:cs typeface="Times New Roman" panose="02020603050405020304" pitchFamily="18" charset="0"/>
                </a:endParaRPr>
              </a:p>
              <a:p>
                <a:pPr lvl="1">
                  <a:spcBef>
                    <a:spcPts val="0"/>
                  </a:spcBef>
                  <a:defRPr/>
                </a:pPr>
                <a:r>
                  <a:rPr lang="en-US" sz="2200" dirty="0">
                    <a:solidFill>
                      <a:schemeClr val="tx1"/>
                    </a:solidFill>
                    <a:cs typeface="Times New Roman" panose="02020603050405020304" pitchFamily="18" charset="0"/>
                  </a:rPr>
                  <a:t>Prospective payment can’t get around this problem by just choosing </a:t>
                </a:r>
                <a14:m>
                  <m:oMath xmlns:m="http://schemas.openxmlformats.org/officeDocument/2006/math">
                    <m:r>
                      <a:rPr lang="en-CA" sz="2200" b="0" i="1" smtClean="0">
                        <a:solidFill>
                          <a:schemeClr val="tx1"/>
                        </a:solidFill>
                        <a:latin typeface="Cambria Math" panose="02040503050406030204" pitchFamily="18" charset="0"/>
                        <a:cs typeface="Times New Roman" panose="02020603050405020304" pitchFamily="18" charset="0"/>
                      </a:rPr>
                      <m:t>𝑝</m:t>
                    </m:r>
                  </m:oMath>
                </a14:m>
                <a:endParaRPr lang="en-US" sz="2200" dirty="0">
                  <a:solidFill>
                    <a:schemeClr val="tx1"/>
                  </a:solidFill>
                  <a:cs typeface="Times New Roman" panose="02020603050405020304" pitchFamily="18" charset="0"/>
                </a:endParaRPr>
              </a:p>
              <a:p>
                <a:pPr lvl="1">
                  <a:spcBef>
                    <a:spcPts val="0"/>
                  </a:spcBef>
                  <a:defRPr/>
                </a:pPr>
                <a:r>
                  <a:rPr lang="en-US" sz="2200" dirty="0">
                    <a:solidFill>
                      <a:schemeClr val="tx1"/>
                    </a:solidFill>
                    <a:cs typeface="Times New Roman" panose="02020603050405020304" pitchFamily="18" charset="0"/>
                  </a:rPr>
                  <a:t>Similar problem for </a:t>
                </a:r>
                <a:r>
                  <a:rPr lang="en-US" sz="2200" b="1" dirty="0">
                    <a:solidFill>
                      <a:schemeClr val="tx1"/>
                    </a:solidFill>
                    <a:cs typeface="Times New Roman" panose="02020603050405020304" pitchFamily="18" charset="0"/>
                  </a:rPr>
                  <a:t>cream-skimming </a:t>
                </a:r>
                <a:endParaRPr lang="en-US" sz="2200" dirty="0">
                  <a:solidFill>
                    <a:schemeClr val="tx1"/>
                  </a:solidFill>
                  <a:cs typeface="Times New Roman" panose="02020603050405020304" pitchFamily="18" charset="0"/>
                </a:endParaRPr>
              </a:p>
              <a:p>
                <a:pPr lvl="1">
                  <a:spcBef>
                    <a:spcPts val="0"/>
                  </a:spcBef>
                  <a:defRPr/>
                </a:pPr>
                <a:r>
                  <a:rPr lang="en-US" sz="2200" dirty="0">
                    <a:solidFill>
                      <a:schemeClr val="tx1"/>
                    </a:solidFill>
                    <a:cs typeface="Times New Roman" panose="02020603050405020304" pitchFamily="18" charset="0"/>
                  </a:rPr>
                  <a:t>Cost reimbursement fails as well (</a:t>
                </a:r>
                <a14:m>
                  <m:oMath xmlns:m="http://schemas.openxmlformats.org/officeDocument/2006/math">
                    <m:sSub>
                      <m:sSubPr>
                        <m:ctrlPr>
                          <a:rPr lang="en-CA" sz="2200" b="0" i="1" smtClean="0">
                            <a:solidFill>
                              <a:schemeClr val="tx1"/>
                            </a:solidFill>
                            <a:latin typeface="Cambria Math" panose="02040503050406030204" pitchFamily="18" charset="0"/>
                            <a:cs typeface="Times New Roman" panose="02020603050405020304" pitchFamily="18" charset="0"/>
                          </a:rPr>
                        </m:ctrlPr>
                      </m:sSubPr>
                      <m:e>
                        <m:r>
                          <a:rPr lang="en-CA" sz="2200" b="0" i="1" smtClean="0">
                            <a:solidFill>
                              <a:schemeClr val="tx1"/>
                            </a:solidFill>
                            <a:latin typeface="Cambria Math" panose="02040503050406030204" pitchFamily="18" charset="0"/>
                            <a:cs typeface="Times New Roman" panose="02020603050405020304" pitchFamily="18" charset="0"/>
                          </a:rPr>
                          <m:t>𝑒</m:t>
                        </m:r>
                      </m:e>
                      <m:sub>
                        <m:r>
                          <a:rPr lang="en-CA" sz="2200" b="0" i="1" smtClean="0">
                            <a:solidFill>
                              <a:schemeClr val="tx1"/>
                            </a:solidFill>
                            <a:latin typeface="Cambria Math" panose="02040503050406030204" pitchFamily="18" charset="0"/>
                            <a:cs typeface="Times New Roman" panose="02020603050405020304" pitchFamily="18" charset="0"/>
                          </a:rPr>
                          <m:t>𝑝𝑟𝑜𝑣𝑖𝑑𝑒𝑟</m:t>
                        </m:r>
                      </m:sub>
                    </m:sSub>
                    <m:r>
                      <a:rPr lang="en-CA" sz="2200" b="0" i="1" smtClean="0">
                        <a:solidFill>
                          <a:schemeClr val="tx1"/>
                        </a:solidFill>
                        <a:latin typeface="Cambria Math" panose="02040503050406030204" pitchFamily="18" charset="0"/>
                        <a:cs typeface="Times New Roman" panose="02020603050405020304" pitchFamily="18" charset="0"/>
                      </a:rPr>
                      <m:t>=0</m:t>
                    </m:r>
                  </m:oMath>
                </a14:m>
                <a:r>
                  <a:rPr lang="en-US" sz="2200" dirty="0">
                    <a:solidFill>
                      <a:schemeClr val="tx1"/>
                    </a:solidFill>
                    <a:cs typeface="Times New Roman" panose="02020603050405020304" pitchFamily="18" charset="0"/>
                  </a:rPr>
                  <a:t> always!)</a:t>
                </a:r>
              </a:p>
              <a:p>
                <a:pPr lvl="1">
                  <a:spcBef>
                    <a:spcPts val="0"/>
                  </a:spcBef>
                  <a:defRPr/>
                </a:pPr>
                <a:r>
                  <a:rPr lang="en-US" sz="2200" dirty="0">
                    <a:solidFill>
                      <a:schemeClr val="tx1"/>
                    </a:solidFill>
                    <a:cs typeface="Times New Roman" panose="02020603050405020304" pitchFamily="18" charset="0"/>
                  </a:rPr>
                  <a:t>But cost reimbursement doesn’t lead to any dumping/cream-skimming problems. </a:t>
                </a: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471" t="-1246"/>
                </a:stretch>
              </a:blipFill>
            </p:spPr>
            <p:txBody>
              <a:bodyPr/>
              <a:lstStyle/>
              <a:p>
                <a:r>
                  <a:rPr lang="en-CA">
                    <a:noFill/>
                  </a:rPr>
                  <a:t> </a:t>
                </a:r>
              </a:p>
            </p:txBody>
          </p:sp>
        </mc:Fallback>
      </mc:AlternateContent>
    </p:spTree>
    <p:extLst>
      <p:ext uri="{BB962C8B-B14F-4D97-AF65-F5344CB8AC3E}">
        <p14:creationId xmlns:p14="http://schemas.microsoft.com/office/powerpoint/2010/main" val="3873945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Patient Selection under Mixed Payment</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Autofit/>
              </a:bodyPr>
              <a:lstStyle/>
              <a:p>
                <a:pPr>
                  <a:spcBef>
                    <a:spcPts val="0"/>
                  </a:spcBef>
                  <a:defRPr/>
                </a:pPr>
                <a:r>
                  <a:rPr lang="en-CA" sz="2400" dirty="0">
                    <a:solidFill>
                      <a:schemeClr val="tx1"/>
                    </a:solidFill>
                    <a:cs typeface="Times New Roman" panose="02020603050405020304" pitchFamily="18" charset="0"/>
                  </a:rPr>
                  <a:t>Mixed payment systems do attenuate the problems</a:t>
                </a:r>
              </a:p>
              <a:p>
                <a:pPr>
                  <a:spcBef>
                    <a:spcPts val="0"/>
                  </a:spcBef>
                  <a:defRPr/>
                </a:pPr>
                <a:r>
                  <a:rPr lang="en-CA" sz="2400" dirty="0">
                    <a:cs typeface="Times New Roman" panose="02020603050405020304" pitchFamily="18" charset="0"/>
                  </a:rPr>
                  <a:t>But do not entirely eliminate them! </a:t>
                </a:r>
              </a:p>
              <a:p>
                <a:pPr>
                  <a:spcBef>
                    <a:spcPts val="0"/>
                  </a:spcBef>
                  <a:defRPr/>
                </a:pPr>
                <a:r>
                  <a:rPr lang="en-CA" sz="2400" dirty="0">
                    <a:solidFill>
                      <a:schemeClr val="tx1"/>
                    </a:solidFill>
                    <a:cs typeface="Times New Roman" panose="02020603050405020304" pitchFamily="18" charset="0"/>
                  </a:rPr>
                  <a:t>Consider a system with fixed-payment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𝑝</m:t>
                    </m:r>
                  </m:oMath>
                </a14:m>
                <a:r>
                  <a:rPr lang="en-US" sz="2400" dirty="0">
                    <a:solidFill>
                      <a:schemeClr val="tx1"/>
                    </a:solidFill>
                    <a:cs typeface="Times New Roman" panose="02020603050405020304" pitchFamily="18" charset="0"/>
                  </a:rPr>
                  <a:t> and cost share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𝑠</m:t>
                    </m:r>
                  </m:oMath>
                </a14:m>
                <a:r>
                  <a:rPr lang="en-US" sz="2400" dirty="0">
                    <a:solidFill>
                      <a:schemeClr val="tx1"/>
                    </a:solidFill>
                    <a:cs typeface="Times New Roman" panose="02020603050405020304" pitchFamily="18" charset="0"/>
                  </a:rPr>
                  <a:t> (provider gets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𝑠</m:t>
                    </m:r>
                  </m:oMath>
                </a14:m>
                <a:r>
                  <a:rPr lang="en-US" sz="2400" dirty="0">
                    <a:solidFill>
                      <a:schemeClr val="tx1"/>
                    </a:solidFill>
                    <a:cs typeface="Times New Roman" panose="02020603050405020304" pitchFamily="18" charset="0"/>
                  </a:rPr>
                  <a:t> of each service cost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oMath>
                </a14:m>
                <a:r>
                  <a:rPr lang="en-US" sz="2400" dirty="0">
                    <a:solidFill>
                      <a:schemeClr val="tx1"/>
                    </a:solidFill>
                    <a:cs typeface="Times New Roman" panose="02020603050405020304" pitchFamily="18" charset="0"/>
                  </a:rPr>
                  <a:t>)</a:t>
                </a:r>
              </a:p>
              <a:p>
                <a:pPr>
                  <a:spcBef>
                    <a:spcPts val="0"/>
                  </a:spcBef>
                  <a:defRPr/>
                </a:pPr>
                <a:endParaRPr lang="en-US" sz="500" dirty="0">
                  <a:cs typeface="Times New Roman" panose="02020603050405020304" pitchFamily="18" charset="0"/>
                </a:endParaRPr>
              </a:p>
              <a:p>
                <a:pPr marL="0" indent="0">
                  <a:spcBef>
                    <a:spcPts val="0"/>
                  </a:spcBef>
                  <a:buNone/>
                  <a:defRPr/>
                </a:pPr>
                <a:r>
                  <a:rPr lang="en-US" sz="2400" dirty="0">
                    <a:cs typeface="Times New Roman" panose="02020603050405020304" pitchFamily="18" charset="0"/>
                  </a:rPr>
                  <a:t>Now provider profit is: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𝑇</m:t>
                      </m:r>
                      <m:r>
                        <a:rPr lang="en-CA" sz="2400" b="0" i="1" smtClean="0">
                          <a:latin typeface="Cambria Math" panose="02040503050406030204" pitchFamily="18" charset="0"/>
                          <a:cs typeface="Times New Roman" panose="02020603050405020304" pitchFamily="18" charset="0"/>
                        </a:rPr>
                        <m:t>+</m:t>
                      </m:r>
                      <m:nary>
                        <m:naryPr>
                          <m:ctrlPr>
                            <a:rPr lang="en-CA" sz="2400" b="0" i="1" smtClean="0">
                              <a:latin typeface="Cambria Math" panose="02040503050406030204" pitchFamily="18" charset="0"/>
                              <a:cs typeface="Times New Roman" panose="02020603050405020304" pitchFamily="18" charset="0"/>
                            </a:rPr>
                          </m:ctrlPr>
                        </m:naryPr>
                        <m:sub>
                          <m:r>
                            <a:rPr lang="en-CA" sz="2400" b="0" i="1" smtClean="0">
                              <a:latin typeface="Cambria Math" panose="02040503050406030204" pitchFamily="18" charset="0"/>
                              <a:cs typeface="Times New Roman" panose="02020603050405020304" pitchFamily="18" charset="0"/>
                            </a:rPr>
                            <m:t>0</m:t>
                          </m:r>
                        </m:sub>
                        <m:sup>
                          <m:r>
                            <a:rPr lang="en-CA" sz="2400" b="0" i="1" smtClean="0">
                              <a:latin typeface="Cambria Math" panose="02040503050406030204" pitchFamily="18" charset="0"/>
                              <a:cs typeface="Times New Roman" panose="02020603050405020304" pitchFamily="18" charset="0"/>
                            </a:rPr>
                            <m:t>1</m:t>
                          </m:r>
                        </m:sup>
                        <m:e>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𝐷</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e>
                              </m:d>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𝐻</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e>
                          </m:d>
                          <m:r>
                            <a:rPr lang="en-CA" sz="2400" b="0" i="1" smtClean="0">
                              <a:latin typeface="Cambria Math" panose="02040503050406030204" pitchFamily="18" charset="0"/>
                              <a:cs typeface="Times New Roman" panose="02020603050405020304" pitchFamily="18" charset="0"/>
                            </a:rPr>
                            <m:t>𝑑𝐹</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e>
                      </m:nary>
                    </m:oMath>
                  </m:oMathPara>
                </a14:m>
                <a:endParaRPr lang="en-US" sz="2400" dirty="0">
                  <a:cs typeface="Times New Roman" panose="02020603050405020304" pitchFamily="18" charset="0"/>
                </a:endParaRPr>
              </a:p>
              <a:p>
                <a:pPr>
                  <a:spcBef>
                    <a:spcPts val="0"/>
                  </a:spcBef>
                  <a:defRPr/>
                </a:pPr>
                <a:r>
                  <a:rPr lang="en-US" sz="2400" dirty="0">
                    <a:cs typeface="Times New Roman" panose="02020603050405020304" pitchFamily="18" charset="0"/>
                  </a:rPr>
                  <a:t>Now policymakers have two levers for payment</a:t>
                </a:r>
              </a:p>
              <a:p>
                <a:pPr>
                  <a:spcBef>
                    <a:spcPts val="0"/>
                  </a:spcBef>
                  <a:defRPr/>
                </a:pPr>
                <a:r>
                  <a:rPr lang="en-US" sz="2400" dirty="0">
                    <a:cs typeface="Times New Roman" panose="02020603050405020304" pitchFamily="18" charset="0"/>
                  </a:rPr>
                  <a:t>Drives down the dumping region but might still exist (if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𝑠𝑐</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is really big)</a:t>
                </a:r>
              </a:p>
              <a:p>
                <a:pPr>
                  <a:spcBef>
                    <a:spcPts val="0"/>
                  </a:spcBef>
                  <a:defRPr/>
                </a:pPr>
                <a:endParaRPr lang="en-US" sz="500" dirty="0">
                  <a:cs typeface="Times New Roman" panose="02020603050405020304" pitchFamily="18" charset="0"/>
                </a:endParaRPr>
              </a:p>
              <a:p>
                <a:pPr>
                  <a:spcBef>
                    <a:spcPts val="0"/>
                  </a:spcBef>
                  <a:defRPr/>
                </a:pPr>
                <a:endParaRPr lang="en-US" sz="2400" dirty="0">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r="-1118"/>
                </a:stretch>
              </a:blipFill>
            </p:spPr>
            <p:txBody>
              <a:bodyPr/>
              <a:lstStyle/>
              <a:p>
                <a:r>
                  <a:rPr lang="en-CA">
                    <a:noFill/>
                  </a:rPr>
                  <a:t> </a:t>
                </a:r>
              </a:p>
            </p:txBody>
          </p:sp>
        </mc:Fallback>
      </mc:AlternateContent>
    </p:spTree>
    <p:extLst>
      <p:ext uri="{BB962C8B-B14F-4D97-AF65-F5344CB8AC3E}">
        <p14:creationId xmlns:p14="http://schemas.microsoft.com/office/powerpoint/2010/main" val="150873601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idx="4294967295"/>
          </p:nvPr>
        </p:nvSpPr>
        <p:spPr>
          <a:xfrm>
            <a:off x="304800" y="-12700"/>
            <a:ext cx="10668000" cy="927100"/>
          </a:xfrm>
          <a:noFill/>
          <a:ln w="9525"/>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noAutofit/>
          </a:bodyPr>
          <a:lstStyle/>
          <a:p>
            <a:r>
              <a:rPr lang="en-US" altLang="en-US" sz="3400" dirty="0">
                <a:cs typeface="Times New Roman" panose="02020603050405020304" pitchFamily="18" charset="0"/>
              </a:rPr>
              <a:t>Patient Selection under Mixed Payment</a:t>
            </a:r>
          </a:p>
        </p:txBody>
      </p:sp>
      <mc:AlternateContent xmlns:mc="http://schemas.openxmlformats.org/markup-compatibility/2006" xmlns:a14="http://schemas.microsoft.com/office/drawing/2010/main">
        <mc:Choice Requires="a14">
          <p:sp>
            <p:nvSpPr>
              <p:cNvPr id="17411" name="Content Placeholder 2"/>
              <p:cNvSpPr>
                <a:spLocks noGrp="1"/>
              </p:cNvSpPr>
              <p:nvPr>
                <p:ph idx="4294967295"/>
              </p:nvPr>
            </p:nvSpPr>
            <p:spPr>
              <a:xfrm>
                <a:off x="533400" y="914400"/>
                <a:ext cx="10363199" cy="5384800"/>
              </a:xfrm>
            </p:spPr>
            <p:txBody>
              <a:bodyPr>
                <a:noAutofit/>
              </a:bodyPr>
              <a:lstStyle/>
              <a:p>
                <a:pPr>
                  <a:spcBef>
                    <a:spcPts val="0"/>
                  </a:spcBef>
                  <a:defRPr/>
                </a:pPr>
                <a:r>
                  <a:rPr lang="en-CA" sz="2400" dirty="0">
                    <a:solidFill>
                      <a:schemeClr val="tx1"/>
                    </a:solidFill>
                    <a:cs typeface="Times New Roman" panose="02020603050405020304" pitchFamily="18" charset="0"/>
                  </a:rPr>
                  <a:t>Mixed payment systems do attenuate the problems</a:t>
                </a:r>
              </a:p>
              <a:p>
                <a:pPr>
                  <a:spcBef>
                    <a:spcPts val="0"/>
                  </a:spcBef>
                  <a:defRPr/>
                </a:pPr>
                <a:r>
                  <a:rPr lang="en-CA" sz="2400" dirty="0">
                    <a:cs typeface="Times New Roman" panose="02020603050405020304" pitchFamily="18" charset="0"/>
                  </a:rPr>
                  <a:t>But do not entirely eliminate them! </a:t>
                </a:r>
              </a:p>
              <a:p>
                <a:pPr>
                  <a:spcBef>
                    <a:spcPts val="0"/>
                  </a:spcBef>
                  <a:defRPr/>
                </a:pPr>
                <a:r>
                  <a:rPr lang="en-CA" sz="2400" dirty="0">
                    <a:solidFill>
                      <a:schemeClr val="tx1"/>
                    </a:solidFill>
                    <a:cs typeface="Times New Roman" panose="02020603050405020304" pitchFamily="18" charset="0"/>
                  </a:rPr>
                  <a:t>Consider a system with fixed-payment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𝑝</m:t>
                    </m:r>
                  </m:oMath>
                </a14:m>
                <a:r>
                  <a:rPr lang="en-US" sz="2400" dirty="0">
                    <a:solidFill>
                      <a:schemeClr val="tx1"/>
                    </a:solidFill>
                    <a:cs typeface="Times New Roman" panose="02020603050405020304" pitchFamily="18" charset="0"/>
                  </a:rPr>
                  <a:t> and cost share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𝑠</m:t>
                    </m:r>
                  </m:oMath>
                </a14:m>
                <a:r>
                  <a:rPr lang="en-US" sz="2400" dirty="0">
                    <a:solidFill>
                      <a:schemeClr val="tx1"/>
                    </a:solidFill>
                    <a:cs typeface="Times New Roman" panose="02020603050405020304" pitchFamily="18" charset="0"/>
                  </a:rPr>
                  <a:t> (provider gets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1−</m:t>
                    </m:r>
                    <m:r>
                      <a:rPr lang="en-CA" sz="2400" b="0" i="1" smtClean="0">
                        <a:solidFill>
                          <a:schemeClr val="tx1"/>
                        </a:solidFill>
                        <a:latin typeface="Cambria Math" panose="02040503050406030204" pitchFamily="18" charset="0"/>
                        <a:cs typeface="Times New Roman" panose="02020603050405020304" pitchFamily="18" charset="0"/>
                      </a:rPr>
                      <m:t>𝑠</m:t>
                    </m:r>
                  </m:oMath>
                </a14:m>
                <a:r>
                  <a:rPr lang="en-US" sz="2400" dirty="0">
                    <a:solidFill>
                      <a:schemeClr val="tx1"/>
                    </a:solidFill>
                    <a:cs typeface="Times New Roman" panose="02020603050405020304" pitchFamily="18" charset="0"/>
                  </a:rPr>
                  <a:t> of each service cost </a:t>
                </a:r>
                <a14:m>
                  <m:oMath xmlns:m="http://schemas.openxmlformats.org/officeDocument/2006/math">
                    <m:r>
                      <a:rPr lang="en-CA" sz="2400" b="0" i="1" smtClean="0">
                        <a:solidFill>
                          <a:schemeClr val="tx1"/>
                        </a:solidFill>
                        <a:latin typeface="Cambria Math" panose="02040503050406030204" pitchFamily="18" charset="0"/>
                        <a:cs typeface="Times New Roman" panose="02020603050405020304" pitchFamily="18" charset="0"/>
                      </a:rPr>
                      <m:t>𝑐</m:t>
                    </m:r>
                    <m:d>
                      <m:dPr>
                        <m:ctrlPr>
                          <a:rPr lang="en-CA" sz="2400" b="0" i="1" smtClean="0">
                            <a:solidFill>
                              <a:schemeClr val="tx1"/>
                            </a:solidFill>
                            <a:latin typeface="Cambria Math" panose="02040503050406030204" pitchFamily="18" charset="0"/>
                            <a:cs typeface="Times New Roman" panose="02020603050405020304" pitchFamily="18" charset="0"/>
                          </a:rPr>
                        </m:ctrlPr>
                      </m:dPr>
                      <m:e>
                        <m:r>
                          <a:rPr lang="en-CA" sz="2400" b="0" i="1" smtClean="0">
                            <a:solidFill>
                              <a:schemeClr val="tx1"/>
                            </a:solidFill>
                            <a:latin typeface="Cambria Math" panose="02040503050406030204" pitchFamily="18" charset="0"/>
                            <a:cs typeface="Times New Roman" panose="02020603050405020304" pitchFamily="18" charset="0"/>
                          </a:rPr>
                          <m:t>𝑥</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𝑞</m:t>
                        </m:r>
                        <m:r>
                          <a:rPr lang="en-CA" sz="2400" b="0" i="1" smtClean="0">
                            <a:solidFill>
                              <a:schemeClr val="tx1"/>
                            </a:solidFill>
                            <a:latin typeface="Cambria Math" panose="02040503050406030204" pitchFamily="18" charset="0"/>
                            <a:cs typeface="Times New Roman" panose="02020603050405020304" pitchFamily="18" charset="0"/>
                          </a:rPr>
                          <m:t>,</m:t>
                        </m:r>
                        <m:r>
                          <a:rPr lang="en-CA" sz="2400" b="0" i="1" smtClean="0">
                            <a:solidFill>
                              <a:schemeClr val="tx1"/>
                            </a:solidFill>
                            <a:latin typeface="Cambria Math" panose="02040503050406030204" pitchFamily="18" charset="0"/>
                            <a:cs typeface="Times New Roman" panose="02020603050405020304" pitchFamily="18" charset="0"/>
                          </a:rPr>
                          <m:t>𝑒</m:t>
                        </m:r>
                      </m:e>
                    </m:d>
                  </m:oMath>
                </a14:m>
                <a:r>
                  <a:rPr lang="en-US" sz="2400" dirty="0">
                    <a:solidFill>
                      <a:schemeClr val="tx1"/>
                    </a:solidFill>
                    <a:cs typeface="Times New Roman" panose="02020603050405020304" pitchFamily="18" charset="0"/>
                  </a:rPr>
                  <a:t>)</a:t>
                </a:r>
              </a:p>
              <a:p>
                <a:pPr>
                  <a:spcBef>
                    <a:spcPts val="0"/>
                  </a:spcBef>
                  <a:defRPr/>
                </a:pPr>
                <a:endParaRPr lang="en-US" sz="500" dirty="0">
                  <a:cs typeface="Times New Roman" panose="02020603050405020304" pitchFamily="18" charset="0"/>
                </a:endParaRPr>
              </a:p>
              <a:p>
                <a:pPr marL="0" indent="0">
                  <a:spcBef>
                    <a:spcPts val="0"/>
                  </a:spcBef>
                  <a:buNone/>
                  <a:defRPr/>
                </a:pPr>
                <a:r>
                  <a:rPr lang="en-US" sz="2400" dirty="0">
                    <a:cs typeface="Times New Roman" panose="02020603050405020304" pitchFamily="18" charset="0"/>
                  </a:rPr>
                  <a:t>Now provider profit is: </a:t>
                </a:r>
              </a:p>
              <a:p>
                <a:pPr marL="0" indent="0">
                  <a:spcBef>
                    <a:spcPts val="0"/>
                  </a:spcBef>
                  <a:buNone/>
                  <a:defRPr/>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𝑇</m:t>
                      </m:r>
                      <m:r>
                        <a:rPr lang="en-CA" sz="2400" b="0" i="1" smtClean="0">
                          <a:latin typeface="Cambria Math" panose="02040503050406030204" pitchFamily="18" charset="0"/>
                          <a:cs typeface="Times New Roman" panose="02020603050405020304" pitchFamily="18" charset="0"/>
                        </a:rPr>
                        <m:t>+</m:t>
                      </m:r>
                      <m:nary>
                        <m:naryPr>
                          <m:ctrlPr>
                            <a:rPr lang="en-CA" sz="2400" b="0" i="1" smtClean="0">
                              <a:latin typeface="Cambria Math" panose="02040503050406030204" pitchFamily="18" charset="0"/>
                              <a:cs typeface="Times New Roman" panose="02020603050405020304" pitchFamily="18" charset="0"/>
                            </a:rPr>
                          </m:ctrlPr>
                        </m:naryPr>
                        <m:sub>
                          <m:r>
                            <a:rPr lang="en-CA" sz="2400" b="0" i="1" smtClean="0">
                              <a:latin typeface="Cambria Math" panose="02040503050406030204" pitchFamily="18" charset="0"/>
                              <a:cs typeface="Times New Roman" panose="02020603050405020304" pitchFamily="18" charset="0"/>
                            </a:rPr>
                            <m:t>0</m:t>
                          </m:r>
                        </m:sub>
                        <m:sup>
                          <m:r>
                            <a:rPr lang="en-CA" sz="2400" b="0" i="1" smtClean="0">
                              <a:latin typeface="Cambria Math" panose="02040503050406030204" pitchFamily="18" charset="0"/>
                              <a:cs typeface="Times New Roman" panose="02020603050405020304" pitchFamily="18" charset="0"/>
                            </a:rPr>
                            <m:t>1</m:t>
                          </m:r>
                        </m:sup>
                        <m:e>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𝐷</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e>
                              </m:d>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𝑝</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𝑠𝑐</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𝐻</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𝑞</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𝑒</m:t>
                                  </m:r>
                                </m:e>
                              </m:d>
                            </m:e>
                          </m:d>
                          <m:r>
                            <a:rPr lang="en-CA" sz="2400" b="0" i="1" smtClean="0">
                              <a:latin typeface="Cambria Math" panose="02040503050406030204" pitchFamily="18" charset="0"/>
                              <a:cs typeface="Times New Roman" panose="02020603050405020304" pitchFamily="18" charset="0"/>
                            </a:rPr>
                            <m:t>𝑑𝐹</m:t>
                          </m:r>
                          <m:d>
                            <m:dPr>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𝑥</m:t>
                              </m:r>
                            </m:e>
                          </m:d>
                        </m:e>
                      </m:nary>
                    </m:oMath>
                  </m:oMathPara>
                </a14:m>
                <a:endParaRPr lang="en-US" sz="2400" dirty="0">
                  <a:cs typeface="Times New Roman" panose="02020603050405020304" pitchFamily="18" charset="0"/>
                </a:endParaRPr>
              </a:p>
              <a:p>
                <a:pPr>
                  <a:spcBef>
                    <a:spcPts val="0"/>
                  </a:spcBef>
                  <a:defRPr/>
                </a:pPr>
                <a:endParaRPr lang="en-US" sz="500" dirty="0">
                  <a:cs typeface="Times New Roman" panose="02020603050405020304" pitchFamily="18" charset="0"/>
                </a:endParaRPr>
              </a:p>
              <a:p>
                <a:pPr marL="0" indent="0">
                  <a:spcBef>
                    <a:spcPts val="0"/>
                  </a:spcBef>
                  <a:buNone/>
                  <a:defRPr/>
                </a:pPr>
                <a:r>
                  <a:rPr lang="en-US" sz="2400" b="1" dirty="0">
                    <a:solidFill>
                      <a:schemeClr val="accent2">
                        <a:lumMod val="75000"/>
                      </a:schemeClr>
                    </a:solidFill>
                    <a:cs typeface="Times New Roman" panose="02020603050405020304" pitchFamily="18" charset="0"/>
                  </a:rPr>
                  <a:t>Examples: </a:t>
                </a:r>
              </a:p>
              <a:p>
                <a:pPr>
                  <a:spcBef>
                    <a:spcPts val="0"/>
                  </a:spcBef>
                  <a:defRPr/>
                </a:pPr>
                <a:r>
                  <a:rPr lang="en-US" sz="2400" dirty="0">
                    <a:cs typeface="Times New Roman" panose="02020603050405020304" pitchFamily="18" charset="0"/>
                  </a:rPr>
                  <a:t>1999: Quebec introduced an optional mixed payment system (increase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𝑠</m:t>
                    </m:r>
                    <m:r>
                      <a:rPr lang="en-CA"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a:p>
                <a:pPr lvl="1">
                  <a:spcBef>
                    <a:spcPts val="0"/>
                  </a:spcBef>
                  <a:defRPr/>
                </a:pPr>
                <a:r>
                  <a:rPr lang="en-US" sz="2400" dirty="0">
                    <a:cs typeface="Times New Roman" panose="02020603050405020304" pitchFamily="18" charset="0"/>
                  </a:rPr>
                  <a:t>Dumont, Fortin, </a:t>
                </a:r>
                <a:r>
                  <a:rPr lang="en-US" sz="2400" dirty="0" err="1">
                    <a:cs typeface="Times New Roman" panose="02020603050405020304" pitchFamily="18" charset="0"/>
                  </a:rPr>
                  <a:t>Jacquemet</a:t>
                </a:r>
                <a:r>
                  <a:rPr lang="en-US" sz="2400" dirty="0">
                    <a:cs typeface="Times New Roman" panose="02020603050405020304" pitchFamily="18" charset="0"/>
                  </a:rPr>
                  <a:t>, and Shearer (2008): those who selected in reduced volume by 6.15% but raised average time spent per patient by 3.81%. </a:t>
                </a:r>
              </a:p>
              <a:p>
                <a:pPr>
                  <a:spcBef>
                    <a:spcPts val="0"/>
                  </a:spcBef>
                  <a:defRPr/>
                </a:pPr>
                <a:r>
                  <a:rPr lang="en-US" sz="2400" dirty="0" err="1">
                    <a:cs typeface="Times New Roman" panose="02020603050405020304" pitchFamily="18" charset="0"/>
                  </a:rPr>
                  <a:t>Brosig</a:t>
                </a:r>
                <a:r>
                  <a:rPr lang="en-US" sz="2400" dirty="0">
                    <a:cs typeface="Times New Roman" panose="02020603050405020304" pitchFamily="18" charset="0"/>
                  </a:rPr>
                  <a:t>-Koch, Hennig-Schmidt, </a:t>
                </a:r>
                <a:r>
                  <a:rPr lang="en-US" sz="2400" dirty="0" err="1">
                    <a:cs typeface="Times New Roman" panose="02020603050405020304" pitchFamily="18" charset="0"/>
                  </a:rPr>
                  <a:t>Kairies</a:t>
                </a:r>
                <a:r>
                  <a:rPr lang="en-US" sz="2400" dirty="0">
                    <a:cs typeface="Times New Roman" panose="02020603050405020304" pitchFamily="18" charset="0"/>
                  </a:rPr>
                  <a:t>-Schwarz, and </a:t>
                </a:r>
                <a:r>
                  <a:rPr lang="en-US" sz="2400" dirty="0" err="1">
                    <a:cs typeface="Times New Roman" panose="02020603050405020304" pitchFamily="18" charset="0"/>
                  </a:rPr>
                  <a:t>Wiesen</a:t>
                </a:r>
                <a:r>
                  <a:rPr lang="en-US" sz="2400" dirty="0">
                    <a:cs typeface="Times New Roman" panose="02020603050405020304" pitchFamily="18" charset="0"/>
                  </a:rPr>
                  <a:t> (2017): both medical and nonmedical students </a:t>
                </a:r>
                <a:r>
                  <a:rPr lang="en-US" sz="2400" u="sng" dirty="0">
                    <a:cs typeface="Times New Roman" panose="02020603050405020304" pitchFamily="18" charset="0"/>
                  </a:rPr>
                  <a:t>overprovide</a:t>
                </a:r>
                <a:r>
                  <a:rPr lang="en-US" sz="2400" dirty="0">
                    <a:cs typeface="Times New Roman" panose="02020603050405020304" pitchFamily="18" charset="0"/>
                  </a:rPr>
                  <a:t> under cost reimbursement, </a:t>
                </a:r>
                <a:r>
                  <a:rPr lang="en-US" sz="2400" u="sng" dirty="0">
                    <a:cs typeface="Times New Roman" panose="02020603050405020304" pitchFamily="18" charset="0"/>
                  </a:rPr>
                  <a:t>underprovide</a:t>
                </a:r>
                <a:r>
                  <a:rPr lang="en-US" sz="2400" dirty="0">
                    <a:cs typeface="Times New Roman" panose="02020603050405020304" pitchFamily="18" charset="0"/>
                  </a:rPr>
                  <a:t> under prospective payment, and </a:t>
                </a:r>
                <a:r>
                  <a:rPr lang="en-US" sz="2400" u="sng" dirty="0">
                    <a:cs typeface="Times New Roman" panose="02020603050405020304" pitchFamily="18" charset="0"/>
                  </a:rPr>
                  <a:t>deviate the least </a:t>
                </a:r>
                <a:r>
                  <a:rPr lang="en-US" sz="2400" dirty="0">
                    <a:cs typeface="Times New Roman" panose="02020603050405020304" pitchFamily="18" charset="0"/>
                  </a:rPr>
                  <a:t>under mixed payment.</a:t>
                </a:r>
              </a:p>
              <a:p>
                <a:pPr>
                  <a:spcBef>
                    <a:spcPts val="0"/>
                  </a:spcBef>
                  <a:defRPr/>
                </a:pPr>
                <a:endParaRPr lang="en-US" sz="2400" dirty="0">
                  <a:cs typeface="Times New Roman" panose="02020603050405020304" pitchFamily="18" charset="0"/>
                </a:endParaRPr>
              </a:p>
            </p:txBody>
          </p:sp>
        </mc:Choice>
        <mc:Fallback xmlns="">
          <p:sp>
            <p:nvSpPr>
              <p:cNvPr id="17411" name="Content Placeholder 2"/>
              <p:cNvSpPr>
                <a:spLocks noGrp="1" noRot="1" noChangeAspect="1" noMove="1" noResize="1" noEditPoints="1" noAdjustHandles="1" noChangeArrowheads="1" noChangeShapeType="1" noTextEdit="1"/>
              </p:cNvSpPr>
              <p:nvPr>
                <p:ph idx="4294967295"/>
              </p:nvPr>
            </p:nvSpPr>
            <p:spPr>
              <a:xfrm>
                <a:off x="533400" y="914400"/>
                <a:ext cx="10363199" cy="5384800"/>
              </a:xfrm>
              <a:blipFill>
                <a:blip r:embed="rId3"/>
                <a:stretch>
                  <a:fillRect l="-942" t="-1246" r="-1118" b="-9740"/>
                </a:stretch>
              </a:blipFill>
            </p:spPr>
            <p:txBody>
              <a:bodyPr/>
              <a:lstStyle/>
              <a:p>
                <a:r>
                  <a:rPr lang="en-CA">
                    <a:noFill/>
                  </a:rPr>
                  <a:t> </a:t>
                </a:r>
              </a:p>
            </p:txBody>
          </p:sp>
        </mc:Fallback>
      </mc:AlternateContent>
    </p:spTree>
    <p:extLst>
      <p:ext uri="{BB962C8B-B14F-4D97-AF65-F5344CB8AC3E}">
        <p14:creationId xmlns:p14="http://schemas.microsoft.com/office/powerpoint/2010/main" val="29369081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spTree>
    <p:extLst>
      <p:ext uri="{BB962C8B-B14F-4D97-AF65-F5344CB8AC3E}">
        <p14:creationId xmlns:p14="http://schemas.microsoft.com/office/powerpoint/2010/main" val="8793827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NR_EDIT_IMPORTPIC" val="D:\Documents\rbs\Jobs\2006-Jobs\06AV52DxCG\media\DxCG-backgroundNoTypeLarge-.jpg"/>
</p:tagLst>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2180</TotalTime>
  <Words>5589</Words>
  <Application>Microsoft Office PowerPoint</Application>
  <PresentationFormat>Widescreen</PresentationFormat>
  <Paragraphs>619</Paragraphs>
  <Slides>69</Slides>
  <Notes>65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69</vt:i4>
      </vt:variant>
    </vt:vector>
  </HeadingPairs>
  <TitlesOfParts>
    <vt:vector size="79" baseType="lpstr">
      <vt:lpstr>Arial</vt:lpstr>
      <vt:lpstr>Arial Black</vt:lpstr>
      <vt:lpstr>Calibri</vt:lpstr>
      <vt:lpstr>Cambria Math</vt:lpstr>
      <vt:lpstr>Century Schoolbook</vt:lpstr>
      <vt:lpstr>Deja Vu Serif</vt:lpstr>
      <vt:lpstr>Symbol</vt:lpstr>
      <vt:lpstr>Times New Roman</vt:lpstr>
      <vt:lpstr>Wingdings 2</vt:lpstr>
      <vt:lpstr>View</vt:lpstr>
      <vt:lpstr>Advanced Health Economics</vt:lpstr>
      <vt:lpstr>Last time: Adverse Selection</vt:lpstr>
      <vt:lpstr>Case Study: Adverse Selection</vt:lpstr>
      <vt:lpstr>Last time: Adverse Selection</vt:lpstr>
      <vt:lpstr>Why study physicians?</vt:lpstr>
      <vt:lpstr>Why study physicians?</vt:lpstr>
      <vt:lpstr>PowerPoint Presentation</vt:lpstr>
      <vt:lpstr>Physicians are paid a lot</vt:lpstr>
      <vt:lpstr>Physician wages reflect long periods of training…</vt:lpstr>
      <vt:lpstr>…and large barriers to entry</vt:lpstr>
      <vt:lpstr># of Canadian physicians lags other OECD countries</vt:lpstr>
      <vt:lpstr>Brief Overview of Payment Models</vt:lpstr>
      <vt:lpstr>Brief Overview of Payment Models</vt:lpstr>
      <vt:lpstr>Brief Overview of Payment Models</vt:lpstr>
      <vt:lpstr>“There are many mechanisms for paying physicians, some are good, and some are bad.   The three worst are fee-for-service, capitation and salary. ”</vt:lpstr>
      <vt:lpstr>Do physicians even respond to payment incentives?  </vt:lpstr>
      <vt:lpstr>Do physicians even respond to payment incentives?  </vt:lpstr>
      <vt:lpstr>What about healthcare institutions?</vt:lpstr>
      <vt:lpstr>What about healthcare institutions?</vt:lpstr>
      <vt:lpstr>Can we solve things through payment reform? </vt:lpstr>
      <vt:lpstr>Can we solve things through payment reform? </vt:lpstr>
      <vt:lpstr>Ellis and McGuire (1986; 1990)</vt:lpstr>
      <vt:lpstr>Conventional conceptualization of provider payment</vt:lpstr>
      <vt:lpstr>Sample primary care procedures and payments</vt:lpstr>
      <vt:lpstr>PowerPoint Presentation</vt:lpstr>
      <vt:lpstr>Ellis and McGuire (1986) model of provider payment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Mini Referee Report</vt:lpstr>
      <vt:lpstr>Weaknesses of EM (1986) result</vt:lpstr>
      <vt:lpstr>Ellis &amp; McGuire (1990)</vt:lpstr>
      <vt:lpstr>Ellis &amp; McGuire (1990)</vt:lpstr>
      <vt:lpstr>Ellis &amp; McGuire (1990)</vt:lpstr>
      <vt:lpstr>Roth-Nash Bargaining Model</vt:lpstr>
      <vt:lpstr>Roth-Nash Bargaining Model</vt:lpstr>
      <vt:lpstr>Bargaining for Health Care </vt:lpstr>
      <vt:lpstr>Bargaining for Health Care </vt:lpstr>
      <vt:lpstr>Social Optimum</vt:lpstr>
      <vt:lpstr>Mini Referee Report</vt:lpstr>
      <vt:lpstr>Currie, MacLeod, Musen (2025)</vt:lpstr>
      <vt:lpstr>Are monetary incentives all that matter?</vt:lpstr>
      <vt:lpstr>Are monetary incentives all that matter?</vt:lpstr>
      <vt:lpstr>PowerPoint Presentation</vt:lpstr>
      <vt:lpstr>PowerPoint Presentation</vt:lpstr>
      <vt:lpstr>Presentations</vt:lpstr>
      <vt:lpstr>Ma and Mak (2019)</vt:lpstr>
      <vt:lpstr>Internalizing the Social Optimum</vt:lpstr>
      <vt:lpstr>Internalizing the Social Optimum</vt:lpstr>
      <vt:lpstr>Model</vt:lpstr>
      <vt:lpstr>Model</vt:lpstr>
      <vt:lpstr>Can prospective payment satisfy the internalization principle?</vt:lpstr>
      <vt:lpstr>Can prospective payment satisfy the internalization principle?</vt:lpstr>
      <vt:lpstr>Can prospective payment satisfy the internalization principle?</vt:lpstr>
      <vt:lpstr>What if providers can pick who to treat?</vt:lpstr>
      <vt:lpstr>Patient Selection</vt:lpstr>
      <vt:lpstr>Patient Selection</vt:lpstr>
      <vt:lpstr>Patient Selection under Mixed Payment</vt:lpstr>
      <vt:lpstr>Patient Selection under Mixed Payment</vt:lpstr>
      <vt:lpstr>Mini Referee Report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150</cp:revision>
  <dcterms:created xsi:type="dcterms:W3CDTF">2011-01-10T00:42:42Z</dcterms:created>
  <dcterms:modified xsi:type="dcterms:W3CDTF">2026-02-02T18:45:05Z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